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5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9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 (M)</c:v>
                </c:pt>
              </c:strCache>
            </c:strRef>
          </c:tx>
          <c:spPr>
            <a:ln w="25400" cap="flat">
              <a:solidFill>
                <a:srgbClr val="534AB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34AB7"/>
              </a:solidFill>
              <a:ln w="9525" cap="flat">
                <a:solidFill>
                  <a:srgbClr val="534AB7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J23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  <c:pt idx="12">
                  <c:v>J24</c:v>
                </c:pt>
                <c:pt idx="13">
                  <c:v>F</c:v>
                </c:pt>
                <c:pt idx="14">
                  <c:v>M</c:v>
                </c:pt>
                <c:pt idx="15">
                  <c:v>A</c:v>
                </c:pt>
                <c:pt idx="16">
                  <c:v>M</c:v>
                </c:pt>
                <c:pt idx="17">
                  <c:v>J</c:v>
                </c:pt>
                <c:pt idx="18">
                  <c:v>J</c:v>
                </c:pt>
                <c:pt idx="19">
                  <c:v>A</c:v>
                </c:pt>
                <c:pt idx="20">
                  <c:v>S</c:v>
                </c:pt>
                <c:pt idx="21">
                  <c:v>O</c:v>
                </c:pt>
                <c:pt idx="22">
                  <c:v>N</c:v>
                </c:pt>
                <c:pt idx="23">
                  <c:v>D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1.8</c:v>
                </c:pt>
                <c:pt idx="1">
                  <c:v>1.6</c:v>
                </c:pt>
                <c:pt idx="2">
                  <c:v>1.9</c:v>
                </c:pt>
                <c:pt idx="3">
                  <c:v>2.1</c:v>
                </c:pt>
                <c:pt idx="4">
                  <c:v>2.2999999999999998</c:v>
                </c:pt>
                <c:pt idx="5">
                  <c:v>2</c:v>
                </c:pt>
                <c:pt idx="6">
                  <c:v>1.4</c:v>
                </c:pt>
                <c:pt idx="7">
                  <c:v>1.2</c:v>
                </c:pt>
                <c:pt idx="8">
                  <c:v>2.4</c:v>
                </c:pt>
                <c:pt idx="9">
                  <c:v>2.6</c:v>
                </c:pt>
                <c:pt idx="10">
                  <c:v>2.8</c:v>
                </c:pt>
                <c:pt idx="11">
                  <c:v>3</c:v>
                </c:pt>
                <c:pt idx="12">
                  <c:v>2.6</c:v>
                </c:pt>
                <c:pt idx="13">
                  <c:v>2.4</c:v>
                </c:pt>
                <c:pt idx="14">
                  <c:v>2.7</c:v>
                </c:pt>
                <c:pt idx="15">
                  <c:v>2.9</c:v>
                </c:pt>
                <c:pt idx="16">
                  <c:v>3.1</c:v>
                </c:pt>
                <c:pt idx="17">
                  <c:v>2.8</c:v>
                </c:pt>
                <c:pt idx="18">
                  <c:v>1.8</c:v>
                </c:pt>
                <c:pt idx="19">
                  <c:v>1.6</c:v>
                </c:pt>
                <c:pt idx="20">
                  <c:v>3</c:v>
                </c:pt>
                <c:pt idx="21">
                  <c:v>3.2</c:v>
                </c:pt>
                <c:pt idx="22">
                  <c:v>3.4</c:v>
                </c:pt>
                <c:pt idx="23">
                  <c:v>3.6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34D-4F1F-8D92-D1C1F7770B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Clicks (M)</c:v>
                </c:pt>
              </c:strCache>
            </c:strRef>
          </c:tx>
          <c:spPr>
            <a:ln w="25400" cap="flat">
              <a:solidFill>
                <a:srgbClr val="0EA5E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J23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  <c:pt idx="12">
                  <c:v>J24</c:v>
                </c:pt>
                <c:pt idx="13">
                  <c:v>F</c:v>
                </c:pt>
                <c:pt idx="14">
                  <c:v>M</c:v>
                </c:pt>
                <c:pt idx="15">
                  <c:v>A</c:v>
                </c:pt>
                <c:pt idx="16">
                  <c:v>M</c:v>
                </c:pt>
                <c:pt idx="17">
                  <c:v>J</c:v>
                </c:pt>
                <c:pt idx="18">
                  <c:v>J</c:v>
                </c:pt>
                <c:pt idx="19">
                  <c:v>A</c:v>
                </c:pt>
                <c:pt idx="20">
                  <c:v>S</c:v>
                </c:pt>
                <c:pt idx="21">
                  <c:v>O</c:v>
                </c:pt>
                <c:pt idx="22">
                  <c:v>N</c:v>
                </c:pt>
                <c:pt idx="23">
                  <c:v>D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1.6</c:v>
                </c:pt>
                <c:pt idx="1">
                  <c:v>1.5</c:v>
                </c:pt>
                <c:pt idx="2">
                  <c:v>1.7</c:v>
                </c:pt>
                <c:pt idx="3">
                  <c:v>1.9</c:v>
                </c:pt>
                <c:pt idx="4">
                  <c:v>2.1</c:v>
                </c:pt>
                <c:pt idx="5">
                  <c:v>1.8</c:v>
                </c:pt>
                <c:pt idx="6">
                  <c:v>1.3</c:v>
                </c:pt>
                <c:pt idx="7">
                  <c:v>1.2</c:v>
                </c:pt>
                <c:pt idx="8">
                  <c:v>2.2999999999999998</c:v>
                </c:pt>
                <c:pt idx="9">
                  <c:v>2.4</c:v>
                </c:pt>
                <c:pt idx="10">
                  <c:v>2.7</c:v>
                </c:pt>
                <c:pt idx="11">
                  <c:v>2.8</c:v>
                </c:pt>
                <c:pt idx="12">
                  <c:v>2.4</c:v>
                </c:pt>
                <c:pt idx="13">
                  <c:v>2.2999999999999998</c:v>
                </c:pt>
                <c:pt idx="14">
                  <c:v>2.5</c:v>
                </c:pt>
                <c:pt idx="15">
                  <c:v>2.7</c:v>
                </c:pt>
                <c:pt idx="16">
                  <c:v>2.9</c:v>
                </c:pt>
                <c:pt idx="17">
                  <c:v>2.6</c:v>
                </c:pt>
                <c:pt idx="18">
                  <c:v>1.7</c:v>
                </c:pt>
                <c:pt idx="19">
                  <c:v>1.6</c:v>
                </c:pt>
                <c:pt idx="20">
                  <c:v>2.8</c:v>
                </c:pt>
                <c:pt idx="21">
                  <c:v>3</c:v>
                </c:pt>
                <c:pt idx="22">
                  <c:v>3.2</c:v>
                </c:pt>
                <c:pt idx="23">
                  <c:v>3.3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34D-4F1F-8D92-D1C1F7770B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3D3D4E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CPC (€)</c:v>
                </c:pt>
              </c:strCache>
            </c:strRef>
          </c:tx>
          <c:spPr>
            <a:ln w="25400" cap="flat">
              <a:solidFill>
                <a:srgbClr val="EF9F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9F27"/>
              </a:solidFill>
              <a:ln w="9525" cap="flat">
                <a:solidFill>
                  <a:srgbClr val="EF9F27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J23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  <c:pt idx="12">
                  <c:v>J24</c:v>
                </c:pt>
                <c:pt idx="13">
                  <c:v>F</c:v>
                </c:pt>
                <c:pt idx="14">
                  <c:v>M</c:v>
                </c:pt>
                <c:pt idx="15">
                  <c:v>A</c:v>
                </c:pt>
                <c:pt idx="16">
                  <c:v>M</c:v>
                </c:pt>
                <c:pt idx="17">
                  <c:v>J</c:v>
                </c:pt>
                <c:pt idx="18">
                  <c:v>J</c:v>
                </c:pt>
                <c:pt idx="19">
                  <c:v>A</c:v>
                </c:pt>
                <c:pt idx="20">
                  <c:v>S</c:v>
                </c:pt>
                <c:pt idx="21">
                  <c:v>O</c:v>
                </c:pt>
                <c:pt idx="22">
                  <c:v>N</c:v>
                </c:pt>
                <c:pt idx="23">
                  <c:v>D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0.38</c:v>
                </c:pt>
                <c:pt idx="1">
                  <c:v>0.4</c:v>
                </c:pt>
                <c:pt idx="2">
                  <c:v>0.41</c:v>
                </c:pt>
                <c:pt idx="3">
                  <c:v>0.42</c:v>
                </c:pt>
                <c:pt idx="4">
                  <c:v>0.43</c:v>
                </c:pt>
                <c:pt idx="5">
                  <c:v>0.42</c:v>
                </c:pt>
                <c:pt idx="6">
                  <c:v>0.45</c:v>
                </c:pt>
                <c:pt idx="7">
                  <c:v>0.48</c:v>
                </c:pt>
                <c:pt idx="8">
                  <c:v>0.44</c:v>
                </c:pt>
                <c:pt idx="9">
                  <c:v>0.42</c:v>
                </c:pt>
                <c:pt idx="10">
                  <c:v>0.48</c:v>
                </c:pt>
                <c:pt idx="11">
                  <c:v>0.52</c:v>
                </c:pt>
                <c:pt idx="12">
                  <c:v>0.4</c:v>
                </c:pt>
                <c:pt idx="13">
                  <c:v>0.42</c:v>
                </c:pt>
                <c:pt idx="14">
                  <c:v>0.43</c:v>
                </c:pt>
                <c:pt idx="15">
                  <c:v>0.44</c:v>
                </c:pt>
                <c:pt idx="16">
                  <c:v>0.45</c:v>
                </c:pt>
                <c:pt idx="17">
                  <c:v>0.44</c:v>
                </c:pt>
                <c:pt idx="18">
                  <c:v>0.48</c:v>
                </c:pt>
                <c:pt idx="19">
                  <c:v>0.52</c:v>
                </c:pt>
                <c:pt idx="20">
                  <c:v>0.46</c:v>
                </c:pt>
                <c:pt idx="21">
                  <c:v>0.44</c:v>
                </c:pt>
                <c:pt idx="22">
                  <c:v>0.5</c:v>
                </c:pt>
                <c:pt idx="23">
                  <c:v>0.56000000000000005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852-4480-A69E-C9443E01A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(K€)</c:v>
                </c:pt>
              </c:strCache>
            </c:strRef>
          </c:tx>
          <c:spPr>
            <a:solidFill>
              <a:srgbClr val="E24B4A">
                <a:alpha val="30000"/>
              </a:srgbClr>
            </a:solidFill>
            <a:effectLst/>
          </c:spPr>
          <c:cat>
            <c:strRef>
              <c:f>Sheet1!$A$2:$A$25</c:f>
              <c:strCache>
                <c:ptCount val="24"/>
                <c:pt idx="0">
                  <c:v>J23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  <c:pt idx="12">
                  <c:v>J24</c:v>
                </c:pt>
                <c:pt idx="13">
                  <c:v>F</c:v>
                </c:pt>
                <c:pt idx="14">
                  <c:v>M</c:v>
                </c:pt>
                <c:pt idx="15">
                  <c:v>A</c:v>
                </c:pt>
                <c:pt idx="16">
                  <c:v>M</c:v>
                </c:pt>
                <c:pt idx="17">
                  <c:v>J</c:v>
                </c:pt>
                <c:pt idx="18">
                  <c:v>J</c:v>
                </c:pt>
                <c:pt idx="19">
                  <c:v>A</c:v>
                </c:pt>
                <c:pt idx="20">
                  <c:v>S</c:v>
                </c:pt>
                <c:pt idx="21">
                  <c:v>O</c:v>
                </c:pt>
                <c:pt idx="22">
                  <c:v>N</c:v>
                </c:pt>
                <c:pt idx="23">
                  <c:v>D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</c:v>
                </c:pt>
                <c:pt idx="1">
                  <c:v>18</c:v>
                </c:pt>
                <c:pt idx="2">
                  <c:v>21</c:v>
                </c:pt>
                <c:pt idx="3">
                  <c:v>24</c:v>
                </c:pt>
                <c:pt idx="4">
                  <c:v>26</c:v>
                </c:pt>
                <c:pt idx="5">
                  <c:v>23</c:v>
                </c:pt>
                <c:pt idx="6">
                  <c:v>18</c:v>
                </c:pt>
                <c:pt idx="7">
                  <c:v>17</c:v>
                </c:pt>
                <c:pt idx="8">
                  <c:v>30</c:v>
                </c:pt>
                <c:pt idx="9">
                  <c:v>30</c:v>
                </c:pt>
                <c:pt idx="10">
                  <c:v>38</c:v>
                </c:pt>
                <c:pt idx="11">
                  <c:v>44</c:v>
                </c:pt>
                <c:pt idx="12">
                  <c:v>29</c:v>
                </c:pt>
                <c:pt idx="13">
                  <c:v>28</c:v>
                </c:pt>
                <c:pt idx="14">
                  <c:v>33</c:v>
                </c:pt>
                <c:pt idx="15">
                  <c:v>36</c:v>
                </c:pt>
                <c:pt idx="16">
                  <c:v>40</c:v>
                </c:pt>
                <c:pt idx="17">
                  <c:v>34</c:v>
                </c:pt>
                <c:pt idx="18">
                  <c:v>25</c:v>
                </c:pt>
                <c:pt idx="19">
                  <c:v>25</c:v>
                </c:pt>
                <c:pt idx="20">
                  <c:v>39</c:v>
                </c:pt>
                <c:pt idx="21">
                  <c:v>40</c:v>
                </c:pt>
                <c:pt idx="22">
                  <c:v>48</c:v>
                </c:pt>
                <c:pt idx="23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CE-407C-885D-D1B0EAB1C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Conversions (K)</c:v>
                </c:pt>
              </c:strCache>
            </c:strRef>
          </c:tx>
          <c:spPr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J23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  <c:pt idx="12">
                  <c:v>J24</c:v>
                </c:pt>
                <c:pt idx="13">
                  <c:v>F</c:v>
                </c:pt>
                <c:pt idx="14">
                  <c:v>M</c:v>
                </c:pt>
                <c:pt idx="15">
                  <c:v>A</c:v>
                </c:pt>
                <c:pt idx="16">
                  <c:v>M</c:v>
                </c:pt>
                <c:pt idx="17">
                  <c:v>J</c:v>
                </c:pt>
                <c:pt idx="18">
                  <c:v>J</c:v>
                </c:pt>
                <c:pt idx="19">
                  <c:v>A</c:v>
                </c:pt>
                <c:pt idx="20">
                  <c:v>S</c:v>
                </c:pt>
                <c:pt idx="21">
                  <c:v>O</c:v>
                </c:pt>
                <c:pt idx="22">
                  <c:v>N</c:v>
                </c:pt>
                <c:pt idx="23">
                  <c:v>D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2.2999999999999998</c:v>
                </c:pt>
                <c:pt idx="1">
                  <c:v>2.1</c:v>
                </c:pt>
                <c:pt idx="2">
                  <c:v>2.5</c:v>
                </c:pt>
                <c:pt idx="3">
                  <c:v>2.8</c:v>
                </c:pt>
                <c:pt idx="4">
                  <c:v>3</c:v>
                </c:pt>
                <c:pt idx="5">
                  <c:v>2.7</c:v>
                </c:pt>
                <c:pt idx="6">
                  <c:v>2</c:v>
                </c:pt>
                <c:pt idx="7">
                  <c:v>1.8</c:v>
                </c:pt>
                <c:pt idx="8">
                  <c:v>3.2</c:v>
                </c:pt>
                <c:pt idx="9">
                  <c:v>3.5</c:v>
                </c:pt>
                <c:pt idx="10">
                  <c:v>3.8</c:v>
                </c:pt>
                <c:pt idx="11">
                  <c:v>4</c:v>
                </c:pt>
                <c:pt idx="12">
                  <c:v>3.4</c:v>
                </c:pt>
                <c:pt idx="13">
                  <c:v>3.2</c:v>
                </c:pt>
                <c:pt idx="14">
                  <c:v>3.6</c:v>
                </c:pt>
                <c:pt idx="15">
                  <c:v>3.9</c:v>
                </c:pt>
                <c:pt idx="16">
                  <c:v>4.0999999999999996</c:v>
                </c:pt>
                <c:pt idx="17">
                  <c:v>3.7</c:v>
                </c:pt>
                <c:pt idx="18">
                  <c:v>2.6</c:v>
                </c:pt>
                <c:pt idx="19">
                  <c:v>2.4</c:v>
                </c:pt>
                <c:pt idx="20">
                  <c:v>4</c:v>
                </c:pt>
                <c:pt idx="21">
                  <c:v>4.3</c:v>
                </c:pt>
                <c:pt idx="22">
                  <c:v>4.5999999999999996</c:v>
                </c:pt>
                <c:pt idx="23">
                  <c:v>4.8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0A6-451C-A364-7B2EB1C06C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.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Shopping-Fashion</c:v>
                </c:pt>
                <c:pt idx="1">
                  <c:v>PerfMax-AllProducts</c:v>
                </c:pt>
                <c:pt idx="2">
                  <c:v>Brand-Hotels-CI</c:v>
                </c:pt>
                <c:pt idx="3">
                  <c:v>Brand-Search-CI</c:v>
                </c:pt>
                <c:pt idx="4">
                  <c:v>Brand-Search-Bank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7.9</c:v>
                </c:pt>
                <c:pt idx="1">
                  <c:v>8.6999999999999993</c:v>
                </c:pt>
                <c:pt idx="2">
                  <c:v>10.3</c:v>
                </c:pt>
                <c:pt idx="3">
                  <c:v>11.8</c:v>
                </c:pt>
                <c:pt idx="4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E4-4A6D-9CF3-A4F644E293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3D4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.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Search-MedicalEquip</c:v>
                </c:pt>
                <c:pt idx="1">
                  <c:v>Display-LookAlike</c:v>
                </c:pt>
                <c:pt idx="2">
                  <c:v>Display-Awareness</c:v>
                </c:pt>
                <c:pt idx="3">
                  <c:v>Video-YouTubeAwareness</c:v>
                </c:pt>
                <c:pt idx="4">
                  <c:v>Display-HealthcareB2B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1.6</c:v>
                </c:pt>
                <c:pt idx="2">
                  <c:v>1.4</c:v>
                </c:pt>
                <c:pt idx="3">
                  <c:v>1.1000000000000001</c:v>
                </c:pt>
                <c:pt idx="4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C6-4138-8046-ABA36D1ADA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3D4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34A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AB-4D10-BE38-A3A7EB921349}"/>
              </c:ext>
            </c:extLst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AB-4D10-BE38-A3A7EB921349}"/>
              </c:ext>
            </c:extLst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AB-4D10-BE38-A3A7EB921349}"/>
              </c:ext>
            </c:extLst>
          </c:dPt>
          <c:dPt>
            <c:idx val="3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7AB-4D10-BE38-A3A7EB921349}"/>
              </c:ext>
            </c:extLst>
          </c:dPt>
          <c:dPt>
            <c:idx val="4"/>
            <c:bubble3D val="0"/>
            <c:spPr>
              <a:solidFill>
                <a:srgbClr val="9333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7AB-4D10-BE38-A3A7EB921349}"/>
              </c:ext>
            </c:extLst>
          </c:dPt>
          <c:dPt>
            <c:idx val="5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7AB-4D10-BE38-A3A7EB92134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AB-4D10-BE38-A3A7EB92134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AB-4D10-BE38-A3A7EB92134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7AB-4D10-BE38-A3A7EB92134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7AB-4D10-BE38-A3A7EB92134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7AB-4D10-BE38-A3A7EB92134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7AB-4D10-BE38-A3A7EB92134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Purchase</c:v>
                </c:pt>
                <c:pt idx="1">
                  <c:v>Lead</c:v>
                </c:pt>
                <c:pt idx="2">
                  <c:v>Signup</c:v>
                </c:pt>
                <c:pt idx="3">
                  <c:v>Demo Request</c:v>
                </c:pt>
                <c:pt idx="4">
                  <c:v>Form Submit</c:v>
                </c:pt>
                <c:pt idx="5">
                  <c:v>Phone Call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7AB-4D10-BE38-A3A7EB9213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3D3D4E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 / Conv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Purchase</c:v>
                </c:pt>
                <c:pt idx="1">
                  <c:v>Lead</c:v>
                </c:pt>
                <c:pt idx="2">
                  <c:v>Signup</c:v>
                </c:pt>
                <c:pt idx="3">
                  <c:v>Demo</c:v>
                </c:pt>
                <c:pt idx="4">
                  <c:v>Form</c:v>
                </c:pt>
                <c:pt idx="5">
                  <c:v>Call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8</c:v>
                </c:pt>
                <c:pt idx="3">
                  <c:v>25</c:v>
                </c:pt>
                <c:pt idx="4">
                  <c:v>15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CC-4A7C-856F-E85B3937E9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Purchase</c:v>
                </c:pt>
                <c:pt idx="1">
                  <c:v>Lead</c:v>
                </c:pt>
                <c:pt idx="2">
                  <c:v>Signup</c:v>
                </c:pt>
                <c:pt idx="3">
                  <c:v>Demo</c:v>
                </c:pt>
                <c:pt idx="4">
                  <c:v>Form</c:v>
                </c:pt>
                <c:pt idx="5">
                  <c:v>Call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2100</c:v>
                </c:pt>
                <c:pt idx="1">
                  <c:v>850</c:v>
                </c:pt>
                <c:pt idx="2">
                  <c:v>320</c:v>
                </c:pt>
                <c:pt idx="3">
                  <c:v>240</c:v>
                </c:pt>
                <c:pt idx="4">
                  <c:v>140</c:v>
                </c:pt>
                <c:pt idx="5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7A-40DA-877A-288AE65F76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CVR %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3.6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8B-498C-8AC7-4EBE38D72E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K€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Côte d'Ivoire</c:v>
                </c:pt>
                <c:pt idx="1">
                  <c:v>Sénégal</c:v>
                </c:pt>
                <c:pt idx="2">
                  <c:v>Cameroun</c:v>
                </c:pt>
                <c:pt idx="3">
                  <c:v>Burkina Faso</c:v>
                </c:pt>
                <c:pt idx="4">
                  <c:v>Mali</c:v>
                </c:pt>
                <c:pt idx="5">
                  <c:v>Ghana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250</c:v>
                </c:pt>
                <c:pt idx="1">
                  <c:v>125</c:v>
                </c:pt>
                <c:pt idx="2">
                  <c:v>94</c:v>
                </c:pt>
                <c:pt idx="3">
                  <c:v>62</c:v>
                </c:pt>
                <c:pt idx="4">
                  <c:v>50</c:v>
                </c:pt>
                <c:pt idx="5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7-4019-B592-78FB1A3FD3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112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4E-4D68-85ED-4050A0686C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Performance Max</c:v>
                </c:pt>
              </c:strCache>
            </c:strRef>
          </c:tx>
          <c:spPr>
            <a:solidFill>
              <a:srgbClr val="9333E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4E-4D68-85ED-4050A0686C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Shopping</c:v>
                </c:pt>
              </c:strCache>
            </c:strRef>
          </c:tx>
          <c:spPr>
            <a:solidFill>
              <a:srgbClr val="34A853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65</c:v>
                </c:pt>
                <c:pt idx="1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4E-4D68-85ED-4050A0686C4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Display</c:v>
                </c:pt>
              </c:strCache>
            </c:strRef>
          </c:tx>
          <c:spPr>
            <a:solidFill>
              <a:srgbClr val="FBBC04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25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4E-4D68-85ED-4050A0686C4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Video</c:v>
                </c:pt>
              </c:strCache>
            </c:strRef>
          </c:tx>
          <c:spPr>
            <a:solidFill>
              <a:srgbClr val="EA433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4E-4D68-85ED-4050A0686C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4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D3D4E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196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chart" Target="../charts/chart4.xml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chart" Target="../charts/chart12.xml"/><Relationship Id="rId4" Type="http://schemas.openxmlformats.org/officeDocument/2006/relationships/image" Target="../media/image13.png"/><Relationship Id="rId9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0" y="201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Jan 2024 — 31 Dec 2024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" y="1170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globale des 5 comptes · Performance 24 mois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9164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0292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56,02M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02920" y="2212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+3.4%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231136"/>
            <a:ext cx="109728" cy="10972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670048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208" y="169164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127248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807208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1,49M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2807208" y="2212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-11.4%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976" y="2231136"/>
            <a:ext cx="109728" cy="109728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974336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496" y="169164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31536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111496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59,7K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5111496" y="2212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-39.0%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264" y="2231136"/>
            <a:ext cx="109728" cy="109728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278624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784" y="1691640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735824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7415784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2.66%</a:t>
            </a:r>
            <a:endParaRPr lang="en-US" sz="1800" dirty="0"/>
          </a:p>
        </p:txBody>
      </p:sp>
      <p:sp>
        <p:nvSpPr>
          <p:cNvPr id="39" name="Text 29"/>
          <p:cNvSpPr/>
          <p:nvPr/>
        </p:nvSpPr>
        <p:spPr>
          <a:xfrm>
            <a:off x="7415784" y="2212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-14.3%</a:t>
            </a:r>
            <a:endParaRPr lang="en-US" sz="9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2231136"/>
            <a:ext cx="109728" cy="109728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9582912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0072" y="1691640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040112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CPC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9720072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0,42 €</a:t>
            </a:r>
            <a:endParaRPr lang="en-US" sz="1800" dirty="0"/>
          </a:p>
        </p:txBody>
      </p:sp>
      <p:sp>
        <p:nvSpPr>
          <p:cNvPr id="45" name="Text 33"/>
          <p:cNvSpPr/>
          <p:nvPr/>
        </p:nvSpPr>
        <p:spPr>
          <a:xfrm>
            <a:off x="9720072" y="2212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-0.9%</a:t>
            </a:r>
            <a:endParaRPr lang="en-US" sz="9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231136"/>
            <a:ext cx="109728" cy="109728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365760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2670048"/>
            <a:ext cx="256032" cy="25603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822960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amount</a:t>
            </a:r>
            <a:endParaRPr lang="en-US" sz="900" dirty="0"/>
          </a:p>
        </p:txBody>
      </p:sp>
      <p:sp>
        <p:nvSpPr>
          <p:cNvPr id="50" name="Text 36"/>
          <p:cNvSpPr/>
          <p:nvPr/>
        </p:nvSpPr>
        <p:spPr>
          <a:xfrm>
            <a:off x="502920" y="2916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625,8K€</a:t>
            </a:r>
            <a:endParaRPr lang="en-US" sz="1800" dirty="0"/>
          </a:p>
        </p:txBody>
      </p:sp>
      <p:sp>
        <p:nvSpPr>
          <p:cNvPr id="51" name="Text 37"/>
          <p:cNvSpPr/>
          <p:nvPr/>
        </p:nvSpPr>
        <p:spPr>
          <a:xfrm>
            <a:off x="502920" y="3191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-12.3%</a:t>
            </a:r>
            <a:endParaRPr lang="en-US" sz="9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209544"/>
            <a:ext cx="109728" cy="109728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2670048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7208" y="2670048"/>
            <a:ext cx="256032" cy="256032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3127248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CPM</a:t>
            </a:r>
            <a:endParaRPr lang="en-US" sz="900" dirty="0"/>
          </a:p>
        </p:txBody>
      </p:sp>
      <p:sp>
        <p:nvSpPr>
          <p:cNvPr id="56" name="Text 40"/>
          <p:cNvSpPr/>
          <p:nvPr/>
        </p:nvSpPr>
        <p:spPr>
          <a:xfrm>
            <a:off x="2807208" y="2916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11,17 €</a:t>
            </a:r>
            <a:endParaRPr lang="en-US" sz="1800" dirty="0"/>
          </a:p>
        </p:txBody>
      </p:sp>
      <p:sp>
        <p:nvSpPr>
          <p:cNvPr id="57" name="Text 41"/>
          <p:cNvSpPr/>
          <p:nvPr/>
        </p:nvSpPr>
        <p:spPr>
          <a:xfrm>
            <a:off x="2807208" y="3191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-15.2%</a:t>
            </a:r>
            <a:endParaRPr lang="en-US" sz="900" dirty="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976" y="3209544"/>
            <a:ext cx="109728" cy="109728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4974336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1496" y="2670048"/>
            <a:ext cx="256032" cy="256032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5431536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/ Conv</a:t>
            </a:r>
            <a:endParaRPr lang="en-US" sz="900" dirty="0"/>
          </a:p>
        </p:txBody>
      </p:sp>
      <p:sp>
        <p:nvSpPr>
          <p:cNvPr id="62" name="Text 44"/>
          <p:cNvSpPr/>
          <p:nvPr/>
        </p:nvSpPr>
        <p:spPr>
          <a:xfrm>
            <a:off x="5111496" y="2916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10,48 €</a:t>
            </a:r>
            <a:endParaRPr lang="en-US" sz="1800" dirty="0"/>
          </a:p>
        </p:txBody>
      </p:sp>
      <p:sp>
        <p:nvSpPr>
          <p:cNvPr id="63" name="Text 45"/>
          <p:cNvSpPr/>
          <p:nvPr/>
        </p:nvSpPr>
        <p:spPr>
          <a:xfrm>
            <a:off x="5111496" y="3191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+43.9%</a:t>
            </a:r>
            <a:endParaRPr lang="en-US" sz="900" dirty="0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264" y="3209544"/>
            <a:ext cx="109728" cy="109728"/>
          </a:xfrm>
          <a:prstGeom prst="rect">
            <a:avLst/>
          </a:prstGeom>
        </p:spPr>
      </p:pic>
      <p:sp>
        <p:nvSpPr>
          <p:cNvPr id="65" name="Shape 46"/>
          <p:cNvSpPr/>
          <p:nvPr/>
        </p:nvSpPr>
        <p:spPr>
          <a:xfrm>
            <a:off x="7278624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784" y="2670048"/>
            <a:ext cx="256032" cy="256032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7735824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68" name="Text 48"/>
          <p:cNvSpPr/>
          <p:nvPr/>
        </p:nvSpPr>
        <p:spPr>
          <a:xfrm>
            <a:off x="7415784" y="2916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4.01%</a:t>
            </a:r>
            <a:endParaRPr lang="en-US" sz="1800" dirty="0"/>
          </a:p>
        </p:txBody>
      </p:sp>
      <p:sp>
        <p:nvSpPr>
          <p:cNvPr id="69" name="Text 49"/>
          <p:cNvSpPr/>
          <p:nvPr/>
        </p:nvSpPr>
        <p:spPr>
          <a:xfrm>
            <a:off x="7415784" y="3191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-31.2%</a:t>
            </a:r>
            <a:endParaRPr lang="en-US" sz="900" dirty="0"/>
          </a:p>
        </p:txBody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3209544"/>
            <a:ext cx="109728" cy="109728"/>
          </a:xfrm>
          <a:prstGeom prst="rect">
            <a:avLst/>
          </a:prstGeom>
        </p:spPr>
      </p:pic>
      <p:sp>
        <p:nvSpPr>
          <p:cNvPr id="71" name="Shape 50"/>
          <p:cNvSpPr/>
          <p:nvPr/>
        </p:nvSpPr>
        <p:spPr>
          <a:xfrm>
            <a:off x="9582912" y="253288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0072" y="2670048"/>
            <a:ext cx="256032" cy="256032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10040112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Conv. value</a:t>
            </a:r>
            <a:endParaRPr lang="en-US" sz="900" dirty="0"/>
          </a:p>
        </p:txBody>
      </p:sp>
      <p:sp>
        <p:nvSpPr>
          <p:cNvPr id="74" name="Text 52"/>
          <p:cNvSpPr/>
          <p:nvPr/>
        </p:nvSpPr>
        <p:spPr>
          <a:xfrm>
            <a:off x="9720072" y="2916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3,73M€</a:t>
            </a:r>
            <a:endParaRPr lang="en-US" sz="1800" dirty="0"/>
          </a:p>
        </p:txBody>
      </p:sp>
      <p:sp>
        <p:nvSpPr>
          <p:cNvPr id="75" name="Text 53"/>
          <p:cNvSpPr/>
          <p:nvPr/>
        </p:nvSpPr>
        <p:spPr>
          <a:xfrm>
            <a:off x="9720072" y="3191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-59.9%</a:t>
            </a:r>
            <a:endParaRPr lang="en-US" sz="900" dirty="0"/>
          </a:p>
        </p:txBody>
      </p:sp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3209544"/>
            <a:ext cx="109728" cy="109728"/>
          </a:xfrm>
          <a:prstGeom prst="rect">
            <a:avLst/>
          </a:prstGeom>
        </p:spPr>
      </p:pic>
      <p:sp>
        <p:nvSpPr>
          <p:cNvPr id="77" name="Shape 54"/>
          <p:cNvSpPr/>
          <p:nvPr/>
        </p:nvSpPr>
        <p:spPr>
          <a:xfrm>
            <a:off x="365760" y="3566160"/>
            <a:ext cx="552297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8" name="Text 55"/>
          <p:cNvSpPr/>
          <p:nvPr/>
        </p:nvSpPr>
        <p:spPr>
          <a:xfrm>
            <a:off x="502920" y="3630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 vs Clicks (en millions)</a:t>
            </a:r>
            <a:endParaRPr lang="en-US" sz="1100" dirty="0"/>
          </a:p>
        </p:txBody>
      </p:sp>
      <p:graphicFrame>
        <p:nvGraphicFramePr>
          <p:cNvPr id="79" name="Chart 0"/>
          <p:cNvGraphicFramePr/>
          <p:nvPr/>
        </p:nvGraphicFramePr>
        <p:xfrm>
          <a:off x="457200" y="3840480"/>
          <a:ext cx="5340096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80" name="Shape 56"/>
          <p:cNvSpPr/>
          <p:nvPr/>
        </p:nvSpPr>
        <p:spPr>
          <a:xfrm>
            <a:off x="5998464" y="3566160"/>
            <a:ext cx="552297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1" name="Text 57"/>
          <p:cNvSpPr/>
          <p:nvPr/>
        </p:nvSpPr>
        <p:spPr>
          <a:xfrm>
            <a:off x="6135624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CPC evolution (€)</a:t>
            </a:r>
            <a:endParaRPr lang="en-US" sz="1100" dirty="0"/>
          </a:p>
        </p:txBody>
      </p:sp>
      <p:graphicFrame>
        <p:nvGraphicFramePr>
          <p:cNvPr id="82" name="Chart 1"/>
          <p:cNvGraphicFramePr/>
          <p:nvPr/>
        </p:nvGraphicFramePr>
        <p:xfrm>
          <a:off x="6089904" y="3840480"/>
          <a:ext cx="5340096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83" name="Shape 58"/>
          <p:cNvSpPr/>
          <p:nvPr/>
        </p:nvSpPr>
        <p:spPr>
          <a:xfrm>
            <a:off x="365760" y="5212080"/>
            <a:ext cx="552297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4" name="Text 59"/>
          <p:cNvSpPr/>
          <p:nvPr/>
        </p:nvSpPr>
        <p:spPr>
          <a:xfrm>
            <a:off x="502920" y="5276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amount by Date (K€)</a:t>
            </a:r>
            <a:endParaRPr lang="en-US" sz="1100" dirty="0"/>
          </a:p>
        </p:txBody>
      </p:sp>
      <p:graphicFrame>
        <p:nvGraphicFramePr>
          <p:cNvPr id="85" name="Chart 2"/>
          <p:cNvGraphicFramePr/>
          <p:nvPr/>
        </p:nvGraphicFramePr>
        <p:xfrm>
          <a:off x="457200" y="5486400"/>
          <a:ext cx="5340096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86" name="Shape 60"/>
          <p:cNvSpPr/>
          <p:nvPr/>
        </p:nvSpPr>
        <p:spPr>
          <a:xfrm>
            <a:off x="5998464" y="5212080"/>
            <a:ext cx="552297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7" name="Text 61"/>
          <p:cNvSpPr/>
          <p:nvPr/>
        </p:nvSpPr>
        <p:spPr>
          <a:xfrm>
            <a:off x="6135624" y="52760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 mensuelles (K)</a:t>
            </a:r>
            <a:endParaRPr lang="en-US" sz="1100" dirty="0"/>
          </a:p>
        </p:txBody>
      </p:sp>
      <p:graphicFrame>
        <p:nvGraphicFramePr>
          <p:cNvPr id="88" name="Chart 3"/>
          <p:cNvGraphicFramePr/>
          <p:nvPr>
            <p:extLst>
              <p:ext uri="{D42A27DB-BD31-4B8C-83A1-F6EECF244321}">
                <p14:modId xmlns:p14="http://schemas.microsoft.com/office/powerpoint/2010/main" val="955165173"/>
              </p:ext>
            </p:extLst>
          </p:nvPr>
        </p:nvGraphicFramePr>
        <p:xfrm>
          <a:off x="6089904" y="5486400"/>
          <a:ext cx="5340096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89" name="Text 62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GoogleAdsPulse  ·  Page 1 — Overview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0" y="201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Jan 2024 — 31 Dec 2024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" y="1170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campagnes actives · Performance par ROAS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155448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1627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Top 5 campaigns by ROAS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2598848993"/>
              </p:ext>
            </p:extLst>
          </p:nvPr>
        </p:nvGraphicFramePr>
        <p:xfrm>
          <a:off x="457200" y="1874520"/>
          <a:ext cx="53492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6007608" y="155448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44768" y="1627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Bottom 5 campaigns by ROAS</a:t>
            </a:r>
            <a:endParaRPr lang="en-US" sz="11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099048" y="1874520"/>
          <a:ext cx="53492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Shape 18"/>
          <p:cNvSpPr/>
          <p:nvPr/>
        </p:nvSpPr>
        <p:spPr>
          <a:xfrm>
            <a:off x="365760" y="3566160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02920" y="3639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Toutes les campagnes — Classement et verdict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9966960" cy="22860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Campaign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Spend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Clicks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Conv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CTR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Cost/Conv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ROAS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Verdict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Qrt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Brand-Search-Bank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4.7%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8,75 €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14,2×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Brand-Search-CI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92K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4.1K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8,54 €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11,8×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Brand-Hotels-CI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54K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2.6K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4.8%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8,46 €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10,3×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PerfMax-AllProducts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 Max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82K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145K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5.9K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2.6%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13,90 €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8,7×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Shopping-Fashion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92K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3.5%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15,68 €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7,9×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Search-CompetitorTerms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2.1K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3.1%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21,43 €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5,4×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PerfMax-Bookings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 Max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102K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3.5K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2.9%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20,57 €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4,8×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Shopping-Electronics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21,25 €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4,1×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⚠️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Display-HealthcareB2B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Display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45,00 €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0,8×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Text 20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GoogleAdsPulse  ·  Page 2 — Campaigns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0" y="201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Jan 2024 — 31 Dec 2024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" y="1170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372 mots-clés · Performance et rétention dans le temps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15544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55648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88720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Score moyen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88720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6,8 / 10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188720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287 actifs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06240" y="15544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755648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9200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 à pauser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029200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26" name="Text 21"/>
          <p:cNvSpPr/>
          <p:nvPr/>
        </p:nvSpPr>
        <p:spPr>
          <a:xfrm>
            <a:off x="5029200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QS ≤ 3 + spend &gt; 100€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8046720" y="155448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755648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0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CTR keyword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869680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7,8%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8869680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bank CI (Exact)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65760" y="2606040"/>
            <a:ext cx="11430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502920" y="26974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🔥 Cohort Retention — Keywords par mois du 1er clic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02920" y="29718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Lignes = cohorte d'apparition · Colonnes = mois relatif · Valeur = % de keywords encore actifs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43000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M0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1947672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752344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3557016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361688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166360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5971032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775704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M7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7580376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M8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8385048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M9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9189720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M10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9994392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M11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10799064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M12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457200" y="35204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2024-01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1143000" y="3520440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0" name="Text 44"/>
          <p:cNvSpPr/>
          <p:nvPr/>
        </p:nvSpPr>
        <p:spPr>
          <a:xfrm>
            <a:off x="1143000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51" name="Shape 45"/>
          <p:cNvSpPr/>
          <p:nvPr/>
        </p:nvSpPr>
        <p:spPr>
          <a:xfrm>
            <a:off x="1947672" y="3520440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52" name="Text 46"/>
          <p:cNvSpPr/>
          <p:nvPr/>
        </p:nvSpPr>
        <p:spPr>
          <a:xfrm>
            <a:off x="1947672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700" dirty="0"/>
          </a:p>
        </p:txBody>
      </p:sp>
      <p:sp>
        <p:nvSpPr>
          <p:cNvPr id="53" name="Shape 47"/>
          <p:cNvSpPr/>
          <p:nvPr/>
        </p:nvSpPr>
        <p:spPr>
          <a:xfrm>
            <a:off x="2752344" y="3520440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54" name="Text 48"/>
          <p:cNvSpPr/>
          <p:nvPr/>
        </p:nvSpPr>
        <p:spPr>
          <a:xfrm>
            <a:off x="2752344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3557016" y="3520440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56" name="Text 50"/>
          <p:cNvSpPr/>
          <p:nvPr/>
        </p:nvSpPr>
        <p:spPr>
          <a:xfrm>
            <a:off x="3557016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700" dirty="0"/>
          </a:p>
        </p:txBody>
      </p:sp>
      <p:sp>
        <p:nvSpPr>
          <p:cNvPr id="57" name="Shape 51"/>
          <p:cNvSpPr/>
          <p:nvPr/>
        </p:nvSpPr>
        <p:spPr>
          <a:xfrm>
            <a:off x="4361688" y="3520440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58" name="Text 52"/>
          <p:cNvSpPr/>
          <p:nvPr/>
        </p:nvSpPr>
        <p:spPr>
          <a:xfrm>
            <a:off x="4361688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5166360" y="3520440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60" name="Text 54"/>
          <p:cNvSpPr/>
          <p:nvPr/>
        </p:nvSpPr>
        <p:spPr>
          <a:xfrm>
            <a:off x="5166360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700" dirty="0"/>
          </a:p>
        </p:txBody>
      </p:sp>
      <p:sp>
        <p:nvSpPr>
          <p:cNvPr id="61" name="Shape 55"/>
          <p:cNvSpPr/>
          <p:nvPr/>
        </p:nvSpPr>
        <p:spPr>
          <a:xfrm>
            <a:off x="5971032" y="3520440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62" name="Text 56"/>
          <p:cNvSpPr/>
          <p:nvPr/>
        </p:nvSpPr>
        <p:spPr>
          <a:xfrm>
            <a:off x="5971032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700" dirty="0"/>
          </a:p>
        </p:txBody>
      </p:sp>
      <p:sp>
        <p:nvSpPr>
          <p:cNvPr id="63" name="Shape 57"/>
          <p:cNvSpPr/>
          <p:nvPr/>
        </p:nvSpPr>
        <p:spPr>
          <a:xfrm>
            <a:off x="6775704" y="3520440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64" name="Text 58"/>
          <p:cNvSpPr/>
          <p:nvPr/>
        </p:nvSpPr>
        <p:spPr>
          <a:xfrm>
            <a:off x="6775704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700" dirty="0"/>
          </a:p>
        </p:txBody>
      </p:sp>
      <p:sp>
        <p:nvSpPr>
          <p:cNvPr id="65" name="Shape 59"/>
          <p:cNvSpPr/>
          <p:nvPr/>
        </p:nvSpPr>
        <p:spPr>
          <a:xfrm>
            <a:off x="7580376" y="3520440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66" name="Text 60"/>
          <p:cNvSpPr/>
          <p:nvPr/>
        </p:nvSpPr>
        <p:spPr>
          <a:xfrm>
            <a:off x="7580376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700" dirty="0"/>
          </a:p>
        </p:txBody>
      </p:sp>
      <p:sp>
        <p:nvSpPr>
          <p:cNvPr id="67" name="Shape 61"/>
          <p:cNvSpPr/>
          <p:nvPr/>
        </p:nvSpPr>
        <p:spPr>
          <a:xfrm>
            <a:off x="8385048" y="3520440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68" name="Text 62"/>
          <p:cNvSpPr/>
          <p:nvPr/>
        </p:nvSpPr>
        <p:spPr>
          <a:xfrm>
            <a:off x="8385048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700" dirty="0"/>
          </a:p>
        </p:txBody>
      </p:sp>
      <p:sp>
        <p:nvSpPr>
          <p:cNvPr id="69" name="Shape 63"/>
          <p:cNvSpPr/>
          <p:nvPr/>
        </p:nvSpPr>
        <p:spPr>
          <a:xfrm>
            <a:off x="9189720" y="3520440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70" name="Text 64"/>
          <p:cNvSpPr/>
          <p:nvPr/>
        </p:nvSpPr>
        <p:spPr>
          <a:xfrm>
            <a:off x="9189720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700" dirty="0"/>
          </a:p>
        </p:txBody>
      </p:sp>
      <p:sp>
        <p:nvSpPr>
          <p:cNvPr id="71" name="Shape 65"/>
          <p:cNvSpPr/>
          <p:nvPr/>
        </p:nvSpPr>
        <p:spPr>
          <a:xfrm>
            <a:off x="9994392" y="3520440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72" name="Text 66"/>
          <p:cNvSpPr/>
          <p:nvPr/>
        </p:nvSpPr>
        <p:spPr>
          <a:xfrm>
            <a:off x="9994392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700" dirty="0"/>
          </a:p>
        </p:txBody>
      </p:sp>
      <p:sp>
        <p:nvSpPr>
          <p:cNvPr id="73" name="Shape 67"/>
          <p:cNvSpPr/>
          <p:nvPr/>
        </p:nvSpPr>
        <p:spPr>
          <a:xfrm>
            <a:off x="10799064" y="3520440"/>
            <a:ext cx="786384" cy="146304"/>
          </a:xfrm>
          <a:prstGeom prst="rect">
            <a:avLst/>
          </a:prstGeom>
          <a:solidFill>
            <a:srgbClr val="F5A0A0"/>
          </a:solidFill>
          <a:ln/>
        </p:spPr>
      </p:sp>
      <p:sp>
        <p:nvSpPr>
          <p:cNvPr id="74" name="Text 68"/>
          <p:cNvSpPr/>
          <p:nvPr/>
        </p:nvSpPr>
        <p:spPr>
          <a:xfrm>
            <a:off x="10799064" y="35204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700" dirty="0"/>
          </a:p>
        </p:txBody>
      </p:sp>
      <p:sp>
        <p:nvSpPr>
          <p:cNvPr id="75" name="Text 69"/>
          <p:cNvSpPr/>
          <p:nvPr/>
        </p:nvSpPr>
        <p:spPr>
          <a:xfrm>
            <a:off x="457200" y="36850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2024-02</a:t>
            </a:r>
            <a:endParaRPr lang="en-US" sz="800" dirty="0"/>
          </a:p>
        </p:txBody>
      </p:sp>
      <p:sp>
        <p:nvSpPr>
          <p:cNvPr id="76" name="Shape 70"/>
          <p:cNvSpPr/>
          <p:nvPr/>
        </p:nvSpPr>
        <p:spPr>
          <a:xfrm>
            <a:off x="1143000" y="3685032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7" name="Text 71"/>
          <p:cNvSpPr/>
          <p:nvPr/>
        </p:nvSpPr>
        <p:spPr>
          <a:xfrm>
            <a:off x="1143000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78" name="Shape 72"/>
          <p:cNvSpPr/>
          <p:nvPr/>
        </p:nvSpPr>
        <p:spPr>
          <a:xfrm>
            <a:off x="1947672" y="3685032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79" name="Text 73"/>
          <p:cNvSpPr/>
          <p:nvPr/>
        </p:nvSpPr>
        <p:spPr>
          <a:xfrm>
            <a:off x="1947672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700" dirty="0"/>
          </a:p>
        </p:txBody>
      </p:sp>
      <p:sp>
        <p:nvSpPr>
          <p:cNvPr id="80" name="Shape 74"/>
          <p:cNvSpPr/>
          <p:nvPr/>
        </p:nvSpPr>
        <p:spPr>
          <a:xfrm>
            <a:off x="2752344" y="3685032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81" name="Text 75"/>
          <p:cNvSpPr/>
          <p:nvPr/>
        </p:nvSpPr>
        <p:spPr>
          <a:xfrm>
            <a:off x="2752344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700" dirty="0"/>
          </a:p>
        </p:txBody>
      </p:sp>
      <p:sp>
        <p:nvSpPr>
          <p:cNvPr id="82" name="Shape 76"/>
          <p:cNvSpPr/>
          <p:nvPr/>
        </p:nvSpPr>
        <p:spPr>
          <a:xfrm>
            <a:off x="3557016" y="3685032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83" name="Text 77"/>
          <p:cNvSpPr/>
          <p:nvPr/>
        </p:nvSpPr>
        <p:spPr>
          <a:xfrm>
            <a:off x="3557016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700" dirty="0"/>
          </a:p>
        </p:txBody>
      </p:sp>
      <p:sp>
        <p:nvSpPr>
          <p:cNvPr id="84" name="Shape 78"/>
          <p:cNvSpPr/>
          <p:nvPr/>
        </p:nvSpPr>
        <p:spPr>
          <a:xfrm>
            <a:off x="4361688" y="3685032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85" name="Text 79"/>
          <p:cNvSpPr/>
          <p:nvPr/>
        </p:nvSpPr>
        <p:spPr>
          <a:xfrm>
            <a:off x="4361688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700" dirty="0"/>
          </a:p>
        </p:txBody>
      </p:sp>
      <p:sp>
        <p:nvSpPr>
          <p:cNvPr id="86" name="Shape 80"/>
          <p:cNvSpPr/>
          <p:nvPr/>
        </p:nvSpPr>
        <p:spPr>
          <a:xfrm>
            <a:off x="5166360" y="3685032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87" name="Text 81"/>
          <p:cNvSpPr/>
          <p:nvPr/>
        </p:nvSpPr>
        <p:spPr>
          <a:xfrm>
            <a:off x="5166360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700" dirty="0"/>
          </a:p>
        </p:txBody>
      </p:sp>
      <p:sp>
        <p:nvSpPr>
          <p:cNvPr id="88" name="Shape 82"/>
          <p:cNvSpPr/>
          <p:nvPr/>
        </p:nvSpPr>
        <p:spPr>
          <a:xfrm>
            <a:off x="5971032" y="3685032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89" name="Text 83"/>
          <p:cNvSpPr/>
          <p:nvPr/>
        </p:nvSpPr>
        <p:spPr>
          <a:xfrm>
            <a:off x="5971032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700" dirty="0"/>
          </a:p>
        </p:txBody>
      </p:sp>
      <p:sp>
        <p:nvSpPr>
          <p:cNvPr id="90" name="Shape 84"/>
          <p:cNvSpPr/>
          <p:nvPr/>
        </p:nvSpPr>
        <p:spPr>
          <a:xfrm>
            <a:off x="6775704" y="3685032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91" name="Text 85"/>
          <p:cNvSpPr/>
          <p:nvPr/>
        </p:nvSpPr>
        <p:spPr>
          <a:xfrm>
            <a:off x="6775704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700" dirty="0"/>
          </a:p>
        </p:txBody>
      </p:sp>
      <p:sp>
        <p:nvSpPr>
          <p:cNvPr id="92" name="Shape 86"/>
          <p:cNvSpPr/>
          <p:nvPr/>
        </p:nvSpPr>
        <p:spPr>
          <a:xfrm>
            <a:off x="7580376" y="3685032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93" name="Text 87"/>
          <p:cNvSpPr/>
          <p:nvPr/>
        </p:nvSpPr>
        <p:spPr>
          <a:xfrm>
            <a:off x="7580376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700" dirty="0"/>
          </a:p>
        </p:txBody>
      </p:sp>
      <p:sp>
        <p:nvSpPr>
          <p:cNvPr id="94" name="Shape 88"/>
          <p:cNvSpPr/>
          <p:nvPr/>
        </p:nvSpPr>
        <p:spPr>
          <a:xfrm>
            <a:off x="8385048" y="3685032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95" name="Text 89"/>
          <p:cNvSpPr/>
          <p:nvPr/>
        </p:nvSpPr>
        <p:spPr>
          <a:xfrm>
            <a:off x="8385048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700" dirty="0"/>
          </a:p>
        </p:txBody>
      </p:sp>
      <p:sp>
        <p:nvSpPr>
          <p:cNvPr id="96" name="Shape 90"/>
          <p:cNvSpPr/>
          <p:nvPr/>
        </p:nvSpPr>
        <p:spPr>
          <a:xfrm>
            <a:off x="9189720" y="3685032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97" name="Text 91"/>
          <p:cNvSpPr/>
          <p:nvPr/>
        </p:nvSpPr>
        <p:spPr>
          <a:xfrm>
            <a:off x="9189720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700" dirty="0"/>
          </a:p>
        </p:txBody>
      </p:sp>
      <p:sp>
        <p:nvSpPr>
          <p:cNvPr id="98" name="Shape 92"/>
          <p:cNvSpPr/>
          <p:nvPr/>
        </p:nvSpPr>
        <p:spPr>
          <a:xfrm>
            <a:off x="9994392" y="3685032"/>
            <a:ext cx="786384" cy="146304"/>
          </a:xfrm>
          <a:prstGeom prst="rect">
            <a:avLst/>
          </a:prstGeom>
          <a:solidFill>
            <a:srgbClr val="F5A0A0"/>
          </a:solidFill>
          <a:ln/>
        </p:spPr>
      </p:sp>
      <p:sp>
        <p:nvSpPr>
          <p:cNvPr id="99" name="Text 93"/>
          <p:cNvSpPr/>
          <p:nvPr/>
        </p:nvSpPr>
        <p:spPr>
          <a:xfrm>
            <a:off x="9994392" y="36850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700" dirty="0"/>
          </a:p>
        </p:txBody>
      </p:sp>
      <p:sp>
        <p:nvSpPr>
          <p:cNvPr id="100" name="Text 94"/>
          <p:cNvSpPr/>
          <p:nvPr/>
        </p:nvSpPr>
        <p:spPr>
          <a:xfrm>
            <a:off x="457200" y="38496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</a:t>
            </a:r>
            <a:endParaRPr lang="en-US" sz="800" dirty="0"/>
          </a:p>
        </p:txBody>
      </p:sp>
      <p:sp>
        <p:nvSpPr>
          <p:cNvPr id="101" name="Shape 95"/>
          <p:cNvSpPr/>
          <p:nvPr/>
        </p:nvSpPr>
        <p:spPr>
          <a:xfrm>
            <a:off x="1143000" y="3849624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2" name="Text 96"/>
          <p:cNvSpPr/>
          <p:nvPr/>
        </p:nvSpPr>
        <p:spPr>
          <a:xfrm>
            <a:off x="1143000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103" name="Shape 97"/>
          <p:cNvSpPr/>
          <p:nvPr/>
        </p:nvSpPr>
        <p:spPr>
          <a:xfrm>
            <a:off x="1947672" y="3849624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104" name="Text 98"/>
          <p:cNvSpPr/>
          <p:nvPr/>
        </p:nvSpPr>
        <p:spPr>
          <a:xfrm>
            <a:off x="1947672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700" dirty="0"/>
          </a:p>
        </p:txBody>
      </p:sp>
      <p:sp>
        <p:nvSpPr>
          <p:cNvPr id="105" name="Shape 99"/>
          <p:cNvSpPr/>
          <p:nvPr/>
        </p:nvSpPr>
        <p:spPr>
          <a:xfrm>
            <a:off x="2752344" y="3849624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106" name="Text 100"/>
          <p:cNvSpPr/>
          <p:nvPr/>
        </p:nvSpPr>
        <p:spPr>
          <a:xfrm>
            <a:off x="2752344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700" dirty="0"/>
          </a:p>
        </p:txBody>
      </p:sp>
      <p:sp>
        <p:nvSpPr>
          <p:cNvPr id="107" name="Shape 101"/>
          <p:cNvSpPr/>
          <p:nvPr/>
        </p:nvSpPr>
        <p:spPr>
          <a:xfrm>
            <a:off x="3557016" y="3849624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108" name="Text 102"/>
          <p:cNvSpPr/>
          <p:nvPr/>
        </p:nvSpPr>
        <p:spPr>
          <a:xfrm>
            <a:off x="3557016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700" dirty="0"/>
          </a:p>
        </p:txBody>
      </p:sp>
      <p:sp>
        <p:nvSpPr>
          <p:cNvPr id="109" name="Shape 103"/>
          <p:cNvSpPr/>
          <p:nvPr/>
        </p:nvSpPr>
        <p:spPr>
          <a:xfrm>
            <a:off x="4361688" y="3849624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10" name="Text 104"/>
          <p:cNvSpPr/>
          <p:nvPr/>
        </p:nvSpPr>
        <p:spPr>
          <a:xfrm>
            <a:off x="4361688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700" dirty="0"/>
          </a:p>
        </p:txBody>
      </p:sp>
      <p:sp>
        <p:nvSpPr>
          <p:cNvPr id="111" name="Shape 105"/>
          <p:cNvSpPr/>
          <p:nvPr/>
        </p:nvSpPr>
        <p:spPr>
          <a:xfrm>
            <a:off x="5166360" y="3849624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12" name="Text 106"/>
          <p:cNvSpPr/>
          <p:nvPr/>
        </p:nvSpPr>
        <p:spPr>
          <a:xfrm>
            <a:off x="5166360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700" dirty="0"/>
          </a:p>
        </p:txBody>
      </p:sp>
      <p:sp>
        <p:nvSpPr>
          <p:cNvPr id="113" name="Shape 107"/>
          <p:cNvSpPr/>
          <p:nvPr/>
        </p:nvSpPr>
        <p:spPr>
          <a:xfrm>
            <a:off x="5971032" y="3849624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14" name="Text 108"/>
          <p:cNvSpPr/>
          <p:nvPr/>
        </p:nvSpPr>
        <p:spPr>
          <a:xfrm>
            <a:off x="5971032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700" dirty="0"/>
          </a:p>
        </p:txBody>
      </p:sp>
      <p:sp>
        <p:nvSpPr>
          <p:cNvPr id="115" name="Shape 109"/>
          <p:cNvSpPr/>
          <p:nvPr/>
        </p:nvSpPr>
        <p:spPr>
          <a:xfrm>
            <a:off x="6775704" y="3849624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16" name="Text 110"/>
          <p:cNvSpPr/>
          <p:nvPr/>
        </p:nvSpPr>
        <p:spPr>
          <a:xfrm>
            <a:off x="6775704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700" dirty="0"/>
          </a:p>
        </p:txBody>
      </p:sp>
      <p:sp>
        <p:nvSpPr>
          <p:cNvPr id="117" name="Shape 111"/>
          <p:cNvSpPr/>
          <p:nvPr/>
        </p:nvSpPr>
        <p:spPr>
          <a:xfrm>
            <a:off x="7580376" y="3849624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18" name="Text 112"/>
          <p:cNvSpPr/>
          <p:nvPr/>
        </p:nvSpPr>
        <p:spPr>
          <a:xfrm>
            <a:off x="7580376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700" dirty="0"/>
          </a:p>
        </p:txBody>
      </p:sp>
      <p:sp>
        <p:nvSpPr>
          <p:cNvPr id="119" name="Shape 113"/>
          <p:cNvSpPr/>
          <p:nvPr/>
        </p:nvSpPr>
        <p:spPr>
          <a:xfrm>
            <a:off x="8385048" y="3849624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20" name="Text 114"/>
          <p:cNvSpPr/>
          <p:nvPr/>
        </p:nvSpPr>
        <p:spPr>
          <a:xfrm>
            <a:off x="8385048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700" dirty="0"/>
          </a:p>
        </p:txBody>
      </p:sp>
      <p:sp>
        <p:nvSpPr>
          <p:cNvPr id="121" name="Shape 115"/>
          <p:cNvSpPr/>
          <p:nvPr/>
        </p:nvSpPr>
        <p:spPr>
          <a:xfrm>
            <a:off x="9189720" y="3849624"/>
            <a:ext cx="786384" cy="146304"/>
          </a:xfrm>
          <a:prstGeom prst="rect">
            <a:avLst/>
          </a:prstGeom>
          <a:solidFill>
            <a:srgbClr val="F5A0A0"/>
          </a:solidFill>
          <a:ln/>
        </p:spPr>
      </p:sp>
      <p:sp>
        <p:nvSpPr>
          <p:cNvPr id="122" name="Text 116"/>
          <p:cNvSpPr/>
          <p:nvPr/>
        </p:nvSpPr>
        <p:spPr>
          <a:xfrm>
            <a:off x="9189720" y="384962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700" dirty="0"/>
          </a:p>
        </p:txBody>
      </p:sp>
      <p:sp>
        <p:nvSpPr>
          <p:cNvPr id="123" name="Text 117"/>
          <p:cNvSpPr/>
          <p:nvPr/>
        </p:nvSpPr>
        <p:spPr>
          <a:xfrm>
            <a:off x="457200" y="40142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2024-04</a:t>
            </a:r>
            <a:endParaRPr lang="en-US" sz="800" dirty="0"/>
          </a:p>
        </p:txBody>
      </p:sp>
      <p:sp>
        <p:nvSpPr>
          <p:cNvPr id="124" name="Shape 118"/>
          <p:cNvSpPr/>
          <p:nvPr/>
        </p:nvSpPr>
        <p:spPr>
          <a:xfrm>
            <a:off x="1143000" y="4014216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5" name="Text 119"/>
          <p:cNvSpPr/>
          <p:nvPr/>
        </p:nvSpPr>
        <p:spPr>
          <a:xfrm>
            <a:off x="1143000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126" name="Shape 120"/>
          <p:cNvSpPr/>
          <p:nvPr/>
        </p:nvSpPr>
        <p:spPr>
          <a:xfrm>
            <a:off x="1947672" y="4014216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127" name="Text 121"/>
          <p:cNvSpPr/>
          <p:nvPr/>
        </p:nvSpPr>
        <p:spPr>
          <a:xfrm>
            <a:off x="1947672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</a:t>
            </a:r>
            <a:endParaRPr lang="en-US" sz="700" dirty="0"/>
          </a:p>
        </p:txBody>
      </p:sp>
      <p:sp>
        <p:nvSpPr>
          <p:cNvPr id="128" name="Shape 122"/>
          <p:cNvSpPr/>
          <p:nvPr/>
        </p:nvSpPr>
        <p:spPr>
          <a:xfrm>
            <a:off x="2752344" y="4014216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129" name="Text 123"/>
          <p:cNvSpPr/>
          <p:nvPr/>
        </p:nvSpPr>
        <p:spPr>
          <a:xfrm>
            <a:off x="2752344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700" dirty="0"/>
          </a:p>
        </p:txBody>
      </p:sp>
      <p:sp>
        <p:nvSpPr>
          <p:cNvPr id="130" name="Shape 124"/>
          <p:cNvSpPr/>
          <p:nvPr/>
        </p:nvSpPr>
        <p:spPr>
          <a:xfrm>
            <a:off x="3557016" y="4014216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131" name="Text 125"/>
          <p:cNvSpPr/>
          <p:nvPr/>
        </p:nvSpPr>
        <p:spPr>
          <a:xfrm>
            <a:off x="3557016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700" dirty="0"/>
          </a:p>
        </p:txBody>
      </p:sp>
      <p:sp>
        <p:nvSpPr>
          <p:cNvPr id="132" name="Shape 126"/>
          <p:cNvSpPr/>
          <p:nvPr/>
        </p:nvSpPr>
        <p:spPr>
          <a:xfrm>
            <a:off x="4361688" y="4014216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33" name="Text 127"/>
          <p:cNvSpPr/>
          <p:nvPr/>
        </p:nvSpPr>
        <p:spPr>
          <a:xfrm>
            <a:off x="4361688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700" dirty="0"/>
          </a:p>
        </p:txBody>
      </p:sp>
      <p:sp>
        <p:nvSpPr>
          <p:cNvPr id="134" name="Shape 128"/>
          <p:cNvSpPr/>
          <p:nvPr/>
        </p:nvSpPr>
        <p:spPr>
          <a:xfrm>
            <a:off x="5166360" y="4014216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35" name="Text 129"/>
          <p:cNvSpPr/>
          <p:nvPr/>
        </p:nvSpPr>
        <p:spPr>
          <a:xfrm>
            <a:off x="5166360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700" dirty="0"/>
          </a:p>
        </p:txBody>
      </p:sp>
      <p:sp>
        <p:nvSpPr>
          <p:cNvPr id="136" name="Shape 130"/>
          <p:cNvSpPr/>
          <p:nvPr/>
        </p:nvSpPr>
        <p:spPr>
          <a:xfrm>
            <a:off x="5971032" y="4014216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37" name="Text 131"/>
          <p:cNvSpPr/>
          <p:nvPr/>
        </p:nvSpPr>
        <p:spPr>
          <a:xfrm>
            <a:off x="5971032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700" dirty="0"/>
          </a:p>
        </p:txBody>
      </p:sp>
      <p:sp>
        <p:nvSpPr>
          <p:cNvPr id="138" name="Shape 132"/>
          <p:cNvSpPr/>
          <p:nvPr/>
        </p:nvSpPr>
        <p:spPr>
          <a:xfrm>
            <a:off x="6775704" y="4014216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39" name="Text 133"/>
          <p:cNvSpPr/>
          <p:nvPr/>
        </p:nvSpPr>
        <p:spPr>
          <a:xfrm>
            <a:off x="6775704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700" dirty="0"/>
          </a:p>
        </p:txBody>
      </p:sp>
      <p:sp>
        <p:nvSpPr>
          <p:cNvPr id="140" name="Shape 134"/>
          <p:cNvSpPr/>
          <p:nvPr/>
        </p:nvSpPr>
        <p:spPr>
          <a:xfrm>
            <a:off x="7580376" y="4014216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41" name="Text 135"/>
          <p:cNvSpPr/>
          <p:nvPr/>
        </p:nvSpPr>
        <p:spPr>
          <a:xfrm>
            <a:off x="7580376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700" dirty="0"/>
          </a:p>
        </p:txBody>
      </p:sp>
      <p:sp>
        <p:nvSpPr>
          <p:cNvPr id="142" name="Shape 136"/>
          <p:cNvSpPr/>
          <p:nvPr/>
        </p:nvSpPr>
        <p:spPr>
          <a:xfrm>
            <a:off x="8385048" y="4014216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43" name="Text 137"/>
          <p:cNvSpPr/>
          <p:nvPr/>
        </p:nvSpPr>
        <p:spPr>
          <a:xfrm>
            <a:off x="8385048" y="401421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700" dirty="0"/>
          </a:p>
        </p:txBody>
      </p:sp>
      <p:sp>
        <p:nvSpPr>
          <p:cNvPr id="144" name="Text 138"/>
          <p:cNvSpPr/>
          <p:nvPr/>
        </p:nvSpPr>
        <p:spPr>
          <a:xfrm>
            <a:off x="457200" y="4178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2024-05</a:t>
            </a:r>
            <a:endParaRPr lang="en-US" sz="800" dirty="0"/>
          </a:p>
        </p:txBody>
      </p:sp>
      <p:sp>
        <p:nvSpPr>
          <p:cNvPr id="145" name="Shape 139"/>
          <p:cNvSpPr/>
          <p:nvPr/>
        </p:nvSpPr>
        <p:spPr>
          <a:xfrm>
            <a:off x="1143000" y="4178808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46" name="Text 140"/>
          <p:cNvSpPr/>
          <p:nvPr/>
        </p:nvSpPr>
        <p:spPr>
          <a:xfrm>
            <a:off x="1143000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147" name="Shape 141"/>
          <p:cNvSpPr/>
          <p:nvPr/>
        </p:nvSpPr>
        <p:spPr>
          <a:xfrm>
            <a:off x="1947672" y="4178808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148" name="Text 142"/>
          <p:cNvSpPr/>
          <p:nvPr/>
        </p:nvSpPr>
        <p:spPr>
          <a:xfrm>
            <a:off x="1947672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700" dirty="0"/>
          </a:p>
        </p:txBody>
      </p:sp>
      <p:sp>
        <p:nvSpPr>
          <p:cNvPr id="149" name="Shape 143"/>
          <p:cNvSpPr/>
          <p:nvPr/>
        </p:nvSpPr>
        <p:spPr>
          <a:xfrm>
            <a:off x="2752344" y="4178808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150" name="Text 144"/>
          <p:cNvSpPr/>
          <p:nvPr/>
        </p:nvSpPr>
        <p:spPr>
          <a:xfrm>
            <a:off x="2752344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700" dirty="0"/>
          </a:p>
        </p:txBody>
      </p:sp>
      <p:sp>
        <p:nvSpPr>
          <p:cNvPr id="151" name="Shape 145"/>
          <p:cNvSpPr/>
          <p:nvPr/>
        </p:nvSpPr>
        <p:spPr>
          <a:xfrm>
            <a:off x="3557016" y="4178808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52" name="Text 146"/>
          <p:cNvSpPr/>
          <p:nvPr/>
        </p:nvSpPr>
        <p:spPr>
          <a:xfrm>
            <a:off x="3557016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700" dirty="0"/>
          </a:p>
        </p:txBody>
      </p:sp>
      <p:sp>
        <p:nvSpPr>
          <p:cNvPr id="153" name="Shape 147"/>
          <p:cNvSpPr/>
          <p:nvPr/>
        </p:nvSpPr>
        <p:spPr>
          <a:xfrm>
            <a:off x="4361688" y="4178808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54" name="Text 148"/>
          <p:cNvSpPr/>
          <p:nvPr/>
        </p:nvSpPr>
        <p:spPr>
          <a:xfrm>
            <a:off x="4361688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700" dirty="0"/>
          </a:p>
        </p:txBody>
      </p:sp>
      <p:sp>
        <p:nvSpPr>
          <p:cNvPr id="155" name="Shape 149"/>
          <p:cNvSpPr/>
          <p:nvPr/>
        </p:nvSpPr>
        <p:spPr>
          <a:xfrm>
            <a:off x="5166360" y="4178808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56" name="Text 150"/>
          <p:cNvSpPr/>
          <p:nvPr/>
        </p:nvSpPr>
        <p:spPr>
          <a:xfrm>
            <a:off x="5166360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700" dirty="0"/>
          </a:p>
        </p:txBody>
      </p:sp>
      <p:sp>
        <p:nvSpPr>
          <p:cNvPr id="157" name="Shape 151"/>
          <p:cNvSpPr/>
          <p:nvPr/>
        </p:nvSpPr>
        <p:spPr>
          <a:xfrm>
            <a:off x="5971032" y="4178808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58" name="Text 152"/>
          <p:cNvSpPr/>
          <p:nvPr/>
        </p:nvSpPr>
        <p:spPr>
          <a:xfrm>
            <a:off x="5971032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700" dirty="0"/>
          </a:p>
        </p:txBody>
      </p:sp>
      <p:sp>
        <p:nvSpPr>
          <p:cNvPr id="159" name="Shape 153"/>
          <p:cNvSpPr/>
          <p:nvPr/>
        </p:nvSpPr>
        <p:spPr>
          <a:xfrm>
            <a:off x="6775704" y="4178808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60" name="Text 154"/>
          <p:cNvSpPr/>
          <p:nvPr/>
        </p:nvSpPr>
        <p:spPr>
          <a:xfrm>
            <a:off x="6775704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700" dirty="0"/>
          </a:p>
        </p:txBody>
      </p:sp>
      <p:sp>
        <p:nvSpPr>
          <p:cNvPr id="161" name="Shape 155"/>
          <p:cNvSpPr/>
          <p:nvPr/>
        </p:nvSpPr>
        <p:spPr>
          <a:xfrm>
            <a:off x="7580376" y="4178808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62" name="Text 156"/>
          <p:cNvSpPr/>
          <p:nvPr/>
        </p:nvSpPr>
        <p:spPr>
          <a:xfrm>
            <a:off x="7580376" y="4178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700" dirty="0"/>
          </a:p>
        </p:txBody>
      </p:sp>
      <p:sp>
        <p:nvSpPr>
          <p:cNvPr id="163" name="Text 157"/>
          <p:cNvSpPr/>
          <p:nvPr/>
        </p:nvSpPr>
        <p:spPr>
          <a:xfrm>
            <a:off x="457200" y="4343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2024-06</a:t>
            </a:r>
            <a:endParaRPr lang="en-US" sz="800" dirty="0"/>
          </a:p>
        </p:txBody>
      </p:sp>
      <p:sp>
        <p:nvSpPr>
          <p:cNvPr id="164" name="Shape 158"/>
          <p:cNvSpPr/>
          <p:nvPr/>
        </p:nvSpPr>
        <p:spPr>
          <a:xfrm>
            <a:off x="1143000" y="4343400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5" name="Text 159"/>
          <p:cNvSpPr/>
          <p:nvPr/>
        </p:nvSpPr>
        <p:spPr>
          <a:xfrm>
            <a:off x="1143000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166" name="Shape 160"/>
          <p:cNvSpPr/>
          <p:nvPr/>
        </p:nvSpPr>
        <p:spPr>
          <a:xfrm>
            <a:off x="1947672" y="4343400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167" name="Text 161"/>
          <p:cNvSpPr/>
          <p:nvPr/>
        </p:nvSpPr>
        <p:spPr>
          <a:xfrm>
            <a:off x="1947672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700" dirty="0"/>
          </a:p>
        </p:txBody>
      </p:sp>
      <p:sp>
        <p:nvSpPr>
          <p:cNvPr id="168" name="Shape 162"/>
          <p:cNvSpPr/>
          <p:nvPr/>
        </p:nvSpPr>
        <p:spPr>
          <a:xfrm>
            <a:off x="2752344" y="4343400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169" name="Text 163"/>
          <p:cNvSpPr/>
          <p:nvPr/>
        </p:nvSpPr>
        <p:spPr>
          <a:xfrm>
            <a:off x="2752344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700" dirty="0"/>
          </a:p>
        </p:txBody>
      </p:sp>
      <p:sp>
        <p:nvSpPr>
          <p:cNvPr id="170" name="Shape 164"/>
          <p:cNvSpPr/>
          <p:nvPr/>
        </p:nvSpPr>
        <p:spPr>
          <a:xfrm>
            <a:off x="3557016" y="4343400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71" name="Text 165"/>
          <p:cNvSpPr/>
          <p:nvPr/>
        </p:nvSpPr>
        <p:spPr>
          <a:xfrm>
            <a:off x="3557016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700" dirty="0"/>
          </a:p>
        </p:txBody>
      </p:sp>
      <p:sp>
        <p:nvSpPr>
          <p:cNvPr id="172" name="Shape 166"/>
          <p:cNvSpPr/>
          <p:nvPr/>
        </p:nvSpPr>
        <p:spPr>
          <a:xfrm>
            <a:off x="4361688" y="4343400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73" name="Text 167"/>
          <p:cNvSpPr/>
          <p:nvPr/>
        </p:nvSpPr>
        <p:spPr>
          <a:xfrm>
            <a:off x="4361688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700" dirty="0"/>
          </a:p>
        </p:txBody>
      </p:sp>
      <p:sp>
        <p:nvSpPr>
          <p:cNvPr id="174" name="Shape 168"/>
          <p:cNvSpPr/>
          <p:nvPr/>
        </p:nvSpPr>
        <p:spPr>
          <a:xfrm>
            <a:off x="5166360" y="4343400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75" name="Text 169"/>
          <p:cNvSpPr/>
          <p:nvPr/>
        </p:nvSpPr>
        <p:spPr>
          <a:xfrm>
            <a:off x="5166360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700" dirty="0"/>
          </a:p>
        </p:txBody>
      </p:sp>
      <p:sp>
        <p:nvSpPr>
          <p:cNvPr id="176" name="Shape 170"/>
          <p:cNvSpPr/>
          <p:nvPr/>
        </p:nvSpPr>
        <p:spPr>
          <a:xfrm>
            <a:off x="5971032" y="4343400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77" name="Text 171"/>
          <p:cNvSpPr/>
          <p:nvPr/>
        </p:nvSpPr>
        <p:spPr>
          <a:xfrm>
            <a:off x="5971032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700" dirty="0"/>
          </a:p>
        </p:txBody>
      </p:sp>
      <p:sp>
        <p:nvSpPr>
          <p:cNvPr id="178" name="Shape 172"/>
          <p:cNvSpPr/>
          <p:nvPr/>
        </p:nvSpPr>
        <p:spPr>
          <a:xfrm>
            <a:off x="6775704" y="4343400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79" name="Text 173"/>
          <p:cNvSpPr/>
          <p:nvPr/>
        </p:nvSpPr>
        <p:spPr>
          <a:xfrm>
            <a:off x="6775704" y="43434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700" dirty="0"/>
          </a:p>
        </p:txBody>
      </p:sp>
      <p:sp>
        <p:nvSpPr>
          <p:cNvPr id="180" name="Text 174"/>
          <p:cNvSpPr/>
          <p:nvPr/>
        </p:nvSpPr>
        <p:spPr>
          <a:xfrm>
            <a:off x="457200" y="450799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2024-07</a:t>
            </a:r>
            <a:endParaRPr lang="en-US" sz="800" dirty="0"/>
          </a:p>
        </p:txBody>
      </p:sp>
      <p:sp>
        <p:nvSpPr>
          <p:cNvPr id="181" name="Shape 175"/>
          <p:cNvSpPr/>
          <p:nvPr/>
        </p:nvSpPr>
        <p:spPr>
          <a:xfrm>
            <a:off x="1143000" y="4507992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82" name="Text 176"/>
          <p:cNvSpPr/>
          <p:nvPr/>
        </p:nvSpPr>
        <p:spPr>
          <a:xfrm>
            <a:off x="1143000" y="45079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183" name="Shape 177"/>
          <p:cNvSpPr/>
          <p:nvPr/>
        </p:nvSpPr>
        <p:spPr>
          <a:xfrm>
            <a:off x="1947672" y="4507992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184" name="Text 178"/>
          <p:cNvSpPr/>
          <p:nvPr/>
        </p:nvSpPr>
        <p:spPr>
          <a:xfrm>
            <a:off x="1947672" y="45079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700" dirty="0"/>
          </a:p>
        </p:txBody>
      </p:sp>
      <p:sp>
        <p:nvSpPr>
          <p:cNvPr id="185" name="Shape 179"/>
          <p:cNvSpPr/>
          <p:nvPr/>
        </p:nvSpPr>
        <p:spPr>
          <a:xfrm>
            <a:off x="2752344" y="4507992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186" name="Text 180"/>
          <p:cNvSpPr/>
          <p:nvPr/>
        </p:nvSpPr>
        <p:spPr>
          <a:xfrm>
            <a:off x="2752344" y="45079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700" dirty="0"/>
          </a:p>
        </p:txBody>
      </p:sp>
      <p:sp>
        <p:nvSpPr>
          <p:cNvPr id="187" name="Shape 181"/>
          <p:cNvSpPr/>
          <p:nvPr/>
        </p:nvSpPr>
        <p:spPr>
          <a:xfrm>
            <a:off x="3557016" y="4507992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88" name="Text 182"/>
          <p:cNvSpPr/>
          <p:nvPr/>
        </p:nvSpPr>
        <p:spPr>
          <a:xfrm>
            <a:off x="3557016" y="45079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700" dirty="0"/>
          </a:p>
        </p:txBody>
      </p:sp>
      <p:sp>
        <p:nvSpPr>
          <p:cNvPr id="189" name="Shape 183"/>
          <p:cNvSpPr/>
          <p:nvPr/>
        </p:nvSpPr>
        <p:spPr>
          <a:xfrm>
            <a:off x="4361688" y="4507992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190" name="Text 184"/>
          <p:cNvSpPr/>
          <p:nvPr/>
        </p:nvSpPr>
        <p:spPr>
          <a:xfrm>
            <a:off x="4361688" y="45079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700" dirty="0"/>
          </a:p>
        </p:txBody>
      </p:sp>
      <p:sp>
        <p:nvSpPr>
          <p:cNvPr id="191" name="Shape 185"/>
          <p:cNvSpPr/>
          <p:nvPr/>
        </p:nvSpPr>
        <p:spPr>
          <a:xfrm>
            <a:off x="5166360" y="4507992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92" name="Text 186"/>
          <p:cNvSpPr/>
          <p:nvPr/>
        </p:nvSpPr>
        <p:spPr>
          <a:xfrm>
            <a:off x="5166360" y="45079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700" dirty="0"/>
          </a:p>
        </p:txBody>
      </p:sp>
      <p:sp>
        <p:nvSpPr>
          <p:cNvPr id="193" name="Shape 187"/>
          <p:cNvSpPr/>
          <p:nvPr/>
        </p:nvSpPr>
        <p:spPr>
          <a:xfrm>
            <a:off x="5971032" y="4507992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94" name="Text 188"/>
          <p:cNvSpPr/>
          <p:nvPr/>
        </p:nvSpPr>
        <p:spPr>
          <a:xfrm>
            <a:off x="5971032" y="45079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700" dirty="0"/>
          </a:p>
        </p:txBody>
      </p:sp>
      <p:sp>
        <p:nvSpPr>
          <p:cNvPr id="195" name="Text 189"/>
          <p:cNvSpPr/>
          <p:nvPr/>
        </p:nvSpPr>
        <p:spPr>
          <a:xfrm>
            <a:off x="457200" y="4672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2024-08</a:t>
            </a:r>
            <a:endParaRPr lang="en-US" sz="800" dirty="0"/>
          </a:p>
        </p:txBody>
      </p:sp>
      <p:sp>
        <p:nvSpPr>
          <p:cNvPr id="196" name="Shape 190"/>
          <p:cNvSpPr/>
          <p:nvPr/>
        </p:nvSpPr>
        <p:spPr>
          <a:xfrm>
            <a:off x="1143000" y="4672584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7" name="Text 191"/>
          <p:cNvSpPr/>
          <p:nvPr/>
        </p:nvSpPr>
        <p:spPr>
          <a:xfrm>
            <a:off x="1143000" y="46725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198" name="Shape 192"/>
          <p:cNvSpPr/>
          <p:nvPr/>
        </p:nvSpPr>
        <p:spPr>
          <a:xfrm>
            <a:off x="1947672" y="4672584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199" name="Text 193"/>
          <p:cNvSpPr/>
          <p:nvPr/>
        </p:nvSpPr>
        <p:spPr>
          <a:xfrm>
            <a:off x="1947672" y="46725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endParaRPr lang="en-US" sz="700" dirty="0"/>
          </a:p>
        </p:txBody>
      </p:sp>
      <p:sp>
        <p:nvSpPr>
          <p:cNvPr id="200" name="Shape 194"/>
          <p:cNvSpPr/>
          <p:nvPr/>
        </p:nvSpPr>
        <p:spPr>
          <a:xfrm>
            <a:off x="2752344" y="4672584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201" name="Text 195"/>
          <p:cNvSpPr/>
          <p:nvPr/>
        </p:nvSpPr>
        <p:spPr>
          <a:xfrm>
            <a:off x="2752344" y="46725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700" dirty="0"/>
          </a:p>
        </p:txBody>
      </p:sp>
      <p:sp>
        <p:nvSpPr>
          <p:cNvPr id="202" name="Shape 196"/>
          <p:cNvSpPr/>
          <p:nvPr/>
        </p:nvSpPr>
        <p:spPr>
          <a:xfrm>
            <a:off x="3557016" y="4672584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203" name="Text 197"/>
          <p:cNvSpPr/>
          <p:nvPr/>
        </p:nvSpPr>
        <p:spPr>
          <a:xfrm>
            <a:off x="3557016" y="46725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700" dirty="0"/>
          </a:p>
        </p:txBody>
      </p:sp>
      <p:sp>
        <p:nvSpPr>
          <p:cNvPr id="204" name="Shape 198"/>
          <p:cNvSpPr/>
          <p:nvPr/>
        </p:nvSpPr>
        <p:spPr>
          <a:xfrm>
            <a:off x="4361688" y="4672584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205" name="Text 199"/>
          <p:cNvSpPr/>
          <p:nvPr/>
        </p:nvSpPr>
        <p:spPr>
          <a:xfrm>
            <a:off x="4361688" y="46725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700" dirty="0"/>
          </a:p>
        </p:txBody>
      </p:sp>
      <p:sp>
        <p:nvSpPr>
          <p:cNvPr id="206" name="Shape 200"/>
          <p:cNvSpPr/>
          <p:nvPr/>
        </p:nvSpPr>
        <p:spPr>
          <a:xfrm>
            <a:off x="5166360" y="4672584"/>
            <a:ext cx="786384" cy="14630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207" name="Text 201"/>
          <p:cNvSpPr/>
          <p:nvPr/>
        </p:nvSpPr>
        <p:spPr>
          <a:xfrm>
            <a:off x="5166360" y="46725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700" dirty="0"/>
          </a:p>
        </p:txBody>
      </p:sp>
      <p:sp>
        <p:nvSpPr>
          <p:cNvPr id="208" name="Text 202"/>
          <p:cNvSpPr/>
          <p:nvPr/>
        </p:nvSpPr>
        <p:spPr>
          <a:xfrm>
            <a:off x="457200" y="48371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2024-09</a:t>
            </a:r>
            <a:endParaRPr lang="en-US" sz="800" dirty="0"/>
          </a:p>
        </p:txBody>
      </p:sp>
      <p:sp>
        <p:nvSpPr>
          <p:cNvPr id="209" name="Shape 203"/>
          <p:cNvSpPr/>
          <p:nvPr/>
        </p:nvSpPr>
        <p:spPr>
          <a:xfrm>
            <a:off x="1143000" y="4837176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0" name="Text 204"/>
          <p:cNvSpPr/>
          <p:nvPr/>
        </p:nvSpPr>
        <p:spPr>
          <a:xfrm>
            <a:off x="1143000" y="48371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211" name="Shape 205"/>
          <p:cNvSpPr/>
          <p:nvPr/>
        </p:nvSpPr>
        <p:spPr>
          <a:xfrm>
            <a:off x="1947672" y="4837176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212" name="Text 206"/>
          <p:cNvSpPr/>
          <p:nvPr/>
        </p:nvSpPr>
        <p:spPr>
          <a:xfrm>
            <a:off x="1947672" y="48371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700" dirty="0"/>
          </a:p>
        </p:txBody>
      </p:sp>
      <p:sp>
        <p:nvSpPr>
          <p:cNvPr id="213" name="Shape 207"/>
          <p:cNvSpPr/>
          <p:nvPr/>
        </p:nvSpPr>
        <p:spPr>
          <a:xfrm>
            <a:off x="2752344" y="4837176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214" name="Text 208"/>
          <p:cNvSpPr/>
          <p:nvPr/>
        </p:nvSpPr>
        <p:spPr>
          <a:xfrm>
            <a:off x="2752344" y="48371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700" dirty="0"/>
          </a:p>
        </p:txBody>
      </p:sp>
      <p:sp>
        <p:nvSpPr>
          <p:cNvPr id="215" name="Shape 209"/>
          <p:cNvSpPr/>
          <p:nvPr/>
        </p:nvSpPr>
        <p:spPr>
          <a:xfrm>
            <a:off x="3557016" y="4837176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216" name="Text 210"/>
          <p:cNvSpPr/>
          <p:nvPr/>
        </p:nvSpPr>
        <p:spPr>
          <a:xfrm>
            <a:off x="3557016" y="48371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700" dirty="0"/>
          </a:p>
        </p:txBody>
      </p:sp>
      <p:sp>
        <p:nvSpPr>
          <p:cNvPr id="217" name="Shape 211"/>
          <p:cNvSpPr/>
          <p:nvPr/>
        </p:nvSpPr>
        <p:spPr>
          <a:xfrm>
            <a:off x="4361688" y="4837176"/>
            <a:ext cx="786384" cy="146304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218" name="Text 212"/>
          <p:cNvSpPr/>
          <p:nvPr/>
        </p:nvSpPr>
        <p:spPr>
          <a:xfrm>
            <a:off x="4361688" y="48371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700" dirty="0"/>
          </a:p>
        </p:txBody>
      </p:sp>
      <p:sp>
        <p:nvSpPr>
          <p:cNvPr id="219" name="Text 213"/>
          <p:cNvSpPr/>
          <p:nvPr/>
        </p:nvSpPr>
        <p:spPr>
          <a:xfrm>
            <a:off x="457200" y="50017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2024-10</a:t>
            </a:r>
            <a:endParaRPr lang="en-US" sz="800" dirty="0"/>
          </a:p>
        </p:txBody>
      </p:sp>
      <p:sp>
        <p:nvSpPr>
          <p:cNvPr id="220" name="Shape 214"/>
          <p:cNvSpPr/>
          <p:nvPr/>
        </p:nvSpPr>
        <p:spPr>
          <a:xfrm>
            <a:off x="1143000" y="5001768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1" name="Text 215"/>
          <p:cNvSpPr/>
          <p:nvPr/>
        </p:nvSpPr>
        <p:spPr>
          <a:xfrm>
            <a:off x="1143000" y="500176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222" name="Shape 216"/>
          <p:cNvSpPr/>
          <p:nvPr/>
        </p:nvSpPr>
        <p:spPr>
          <a:xfrm>
            <a:off x="1947672" y="5001768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223" name="Text 217"/>
          <p:cNvSpPr/>
          <p:nvPr/>
        </p:nvSpPr>
        <p:spPr>
          <a:xfrm>
            <a:off x="1947672" y="500176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700" dirty="0"/>
          </a:p>
        </p:txBody>
      </p:sp>
      <p:sp>
        <p:nvSpPr>
          <p:cNvPr id="224" name="Shape 218"/>
          <p:cNvSpPr/>
          <p:nvPr/>
        </p:nvSpPr>
        <p:spPr>
          <a:xfrm>
            <a:off x="2752344" y="5001768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225" name="Text 219"/>
          <p:cNvSpPr/>
          <p:nvPr/>
        </p:nvSpPr>
        <p:spPr>
          <a:xfrm>
            <a:off x="2752344" y="500176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700" dirty="0"/>
          </a:p>
        </p:txBody>
      </p:sp>
      <p:sp>
        <p:nvSpPr>
          <p:cNvPr id="226" name="Shape 220"/>
          <p:cNvSpPr/>
          <p:nvPr/>
        </p:nvSpPr>
        <p:spPr>
          <a:xfrm>
            <a:off x="3557016" y="5001768"/>
            <a:ext cx="786384" cy="146304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227" name="Text 221"/>
          <p:cNvSpPr/>
          <p:nvPr/>
        </p:nvSpPr>
        <p:spPr>
          <a:xfrm>
            <a:off x="3557016" y="500176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700" dirty="0"/>
          </a:p>
        </p:txBody>
      </p:sp>
      <p:sp>
        <p:nvSpPr>
          <p:cNvPr id="228" name="Text 222"/>
          <p:cNvSpPr/>
          <p:nvPr/>
        </p:nvSpPr>
        <p:spPr>
          <a:xfrm>
            <a:off x="457200" y="51663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2024-11</a:t>
            </a:r>
            <a:endParaRPr lang="en-US" sz="800" dirty="0"/>
          </a:p>
        </p:txBody>
      </p:sp>
      <p:sp>
        <p:nvSpPr>
          <p:cNvPr id="229" name="Shape 223"/>
          <p:cNvSpPr/>
          <p:nvPr/>
        </p:nvSpPr>
        <p:spPr>
          <a:xfrm>
            <a:off x="1143000" y="5166360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0" name="Text 224"/>
          <p:cNvSpPr/>
          <p:nvPr/>
        </p:nvSpPr>
        <p:spPr>
          <a:xfrm>
            <a:off x="1143000" y="516636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231" name="Shape 225"/>
          <p:cNvSpPr/>
          <p:nvPr/>
        </p:nvSpPr>
        <p:spPr>
          <a:xfrm>
            <a:off x="1947672" y="5166360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232" name="Text 226"/>
          <p:cNvSpPr/>
          <p:nvPr/>
        </p:nvSpPr>
        <p:spPr>
          <a:xfrm>
            <a:off x="1947672" y="516636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700" dirty="0"/>
          </a:p>
        </p:txBody>
      </p:sp>
      <p:sp>
        <p:nvSpPr>
          <p:cNvPr id="233" name="Shape 227"/>
          <p:cNvSpPr/>
          <p:nvPr/>
        </p:nvSpPr>
        <p:spPr>
          <a:xfrm>
            <a:off x="2752344" y="5166360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234" name="Text 228"/>
          <p:cNvSpPr/>
          <p:nvPr/>
        </p:nvSpPr>
        <p:spPr>
          <a:xfrm>
            <a:off x="2752344" y="516636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700" dirty="0"/>
          </a:p>
        </p:txBody>
      </p:sp>
      <p:sp>
        <p:nvSpPr>
          <p:cNvPr id="235" name="Text 229"/>
          <p:cNvSpPr/>
          <p:nvPr/>
        </p:nvSpPr>
        <p:spPr>
          <a:xfrm>
            <a:off x="457200" y="53309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2024-12</a:t>
            </a:r>
            <a:endParaRPr lang="en-US" sz="800" dirty="0"/>
          </a:p>
        </p:txBody>
      </p:sp>
      <p:sp>
        <p:nvSpPr>
          <p:cNvPr id="236" name="Shape 230"/>
          <p:cNvSpPr/>
          <p:nvPr/>
        </p:nvSpPr>
        <p:spPr>
          <a:xfrm>
            <a:off x="1143000" y="5330952"/>
            <a:ext cx="78638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7" name="Text 231"/>
          <p:cNvSpPr/>
          <p:nvPr/>
        </p:nvSpPr>
        <p:spPr>
          <a:xfrm>
            <a:off x="1143000" y="533095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700" dirty="0"/>
          </a:p>
        </p:txBody>
      </p:sp>
      <p:sp>
        <p:nvSpPr>
          <p:cNvPr id="238" name="Shape 232"/>
          <p:cNvSpPr/>
          <p:nvPr/>
        </p:nvSpPr>
        <p:spPr>
          <a:xfrm>
            <a:off x="1947672" y="5330952"/>
            <a:ext cx="786384" cy="146304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239" name="Text 233"/>
          <p:cNvSpPr/>
          <p:nvPr/>
        </p:nvSpPr>
        <p:spPr>
          <a:xfrm>
            <a:off x="1947672" y="533095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700" dirty="0"/>
          </a:p>
        </p:txBody>
      </p:sp>
      <p:sp>
        <p:nvSpPr>
          <p:cNvPr id="240" name="Text 234"/>
          <p:cNvSpPr/>
          <p:nvPr/>
        </p:nvSpPr>
        <p:spPr>
          <a:xfrm>
            <a:off x="502920" y="56418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Légende :</a:t>
            </a:r>
            <a:endParaRPr lang="en-US" sz="800" dirty="0"/>
          </a:p>
        </p:txBody>
      </p:sp>
      <p:sp>
        <p:nvSpPr>
          <p:cNvPr id="241" name="Shape 235"/>
          <p:cNvSpPr/>
          <p:nvPr/>
        </p:nvSpPr>
        <p:spPr>
          <a:xfrm>
            <a:off x="1234440" y="5669280"/>
            <a:ext cx="164592" cy="128016"/>
          </a:xfrm>
          <a:prstGeom prst="rect">
            <a:avLst/>
          </a:prstGeom>
          <a:solidFill>
            <a:srgbClr val="A8D8B9"/>
          </a:solidFill>
          <a:ln/>
        </p:spPr>
      </p:sp>
      <p:sp>
        <p:nvSpPr>
          <p:cNvPr id="242" name="Text 236"/>
          <p:cNvSpPr/>
          <p:nvPr/>
        </p:nvSpPr>
        <p:spPr>
          <a:xfrm>
            <a:off x="141732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≥80%</a:t>
            </a:r>
            <a:endParaRPr lang="en-US" sz="800" dirty="0"/>
          </a:p>
        </p:txBody>
      </p:sp>
      <p:sp>
        <p:nvSpPr>
          <p:cNvPr id="243" name="Shape 237"/>
          <p:cNvSpPr/>
          <p:nvPr/>
        </p:nvSpPr>
        <p:spPr>
          <a:xfrm>
            <a:off x="2331720" y="5669280"/>
            <a:ext cx="164592" cy="128016"/>
          </a:xfrm>
          <a:prstGeom prst="rect">
            <a:avLst/>
          </a:prstGeom>
          <a:solidFill>
            <a:srgbClr val="C8E6B2"/>
          </a:solidFill>
          <a:ln/>
        </p:spPr>
      </p:sp>
      <p:sp>
        <p:nvSpPr>
          <p:cNvPr id="244" name="Text 238"/>
          <p:cNvSpPr/>
          <p:nvPr/>
        </p:nvSpPr>
        <p:spPr>
          <a:xfrm>
            <a:off x="251460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65-80%</a:t>
            </a:r>
            <a:endParaRPr lang="en-US" sz="800" dirty="0"/>
          </a:p>
        </p:txBody>
      </p:sp>
      <p:sp>
        <p:nvSpPr>
          <p:cNvPr id="245" name="Shape 239"/>
          <p:cNvSpPr/>
          <p:nvPr/>
        </p:nvSpPr>
        <p:spPr>
          <a:xfrm>
            <a:off x="3429000" y="5669280"/>
            <a:ext cx="164592" cy="128016"/>
          </a:xfrm>
          <a:prstGeom prst="rect">
            <a:avLst/>
          </a:prstGeom>
          <a:solidFill>
            <a:srgbClr val="FFE5A0"/>
          </a:solidFill>
          <a:ln/>
        </p:spPr>
      </p:sp>
      <p:sp>
        <p:nvSpPr>
          <p:cNvPr id="246" name="Text 240"/>
          <p:cNvSpPr/>
          <p:nvPr/>
        </p:nvSpPr>
        <p:spPr>
          <a:xfrm>
            <a:off x="361188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55-65%</a:t>
            </a:r>
            <a:endParaRPr lang="en-US" sz="800" dirty="0"/>
          </a:p>
        </p:txBody>
      </p:sp>
      <p:sp>
        <p:nvSpPr>
          <p:cNvPr id="247" name="Shape 241"/>
          <p:cNvSpPr/>
          <p:nvPr/>
        </p:nvSpPr>
        <p:spPr>
          <a:xfrm>
            <a:off x="4526280" y="5669280"/>
            <a:ext cx="164592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248" name="Text 242"/>
          <p:cNvSpPr/>
          <p:nvPr/>
        </p:nvSpPr>
        <p:spPr>
          <a:xfrm>
            <a:off x="470916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45-55%</a:t>
            </a:r>
            <a:endParaRPr lang="en-US" sz="800" dirty="0"/>
          </a:p>
        </p:txBody>
      </p:sp>
      <p:sp>
        <p:nvSpPr>
          <p:cNvPr id="249" name="Shape 243"/>
          <p:cNvSpPr/>
          <p:nvPr/>
        </p:nvSpPr>
        <p:spPr>
          <a:xfrm>
            <a:off x="5623560" y="5669280"/>
            <a:ext cx="164592" cy="128016"/>
          </a:xfrm>
          <a:prstGeom prst="rect">
            <a:avLst/>
          </a:prstGeom>
          <a:solidFill>
            <a:srgbClr val="F5A0A0"/>
          </a:solidFill>
          <a:ln/>
        </p:spPr>
      </p:sp>
      <p:sp>
        <p:nvSpPr>
          <p:cNvPr id="250" name="Text 244"/>
          <p:cNvSpPr/>
          <p:nvPr/>
        </p:nvSpPr>
        <p:spPr>
          <a:xfrm>
            <a:off x="5806440" y="5641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&lt;45%</a:t>
            </a:r>
            <a:endParaRPr lang="en-US" sz="800" dirty="0"/>
          </a:p>
        </p:txBody>
      </p:sp>
      <p:sp>
        <p:nvSpPr>
          <p:cNvPr id="251" name="Text 245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GoogleAdsPulse  ·  Page 3 — Keywords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0" y="201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Jan 2024 — 31 Dec 2024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" y="1170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59 712 conversions · Répartition par type et coût unitaire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155448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 par type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02920" y="1920240"/>
          <a:ext cx="5257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6007608" y="155448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44768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Conversion par type (€)</a:t>
            </a:r>
            <a:endParaRPr lang="en-US" sz="11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144768" y="1920240"/>
          <a:ext cx="5257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Shape 18"/>
          <p:cNvSpPr/>
          <p:nvPr/>
        </p:nvSpPr>
        <p:spPr>
          <a:xfrm>
            <a:off x="365760" y="406908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0292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Value par type (K€)</a:t>
            </a:r>
            <a:endParaRPr lang="en-US" sz="1100" dirty="0"/>
          </a:p>
        </p:txBody>
      </p:sp>
      <p:graphicFrame>
        <p:nvGraphicFramePr>
          <p:cNvPr id="25" name="Chart 2"/>
          <p:cNvGraphicFramePr/>
          <p:nvPr/>
        </p:nvGraphicFramePr>
        <p:xfrm>
          <a:off x="502920" y="4434840"/>
          <a:ext cx="5257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Shape 20"/>
          <p:cNvSpPr/>
          <p:nvPr/>
        </p:nvSpPr>
        <p:spPr>
          <a:xfrm>
            <a:off x="6007608" y="406908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144768" y="4160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8 campagnes par nombre de conversions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4434840"/>
          <a:ext cx="5577840" cy="2057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Campaign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Conv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 (€)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PerfMax-AllProducts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5 912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472K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PerfMax-Bookings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3 498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305K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Shopping-Fashion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3 715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278K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Shopping-Electronics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Shopping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3 207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254K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Brand-Search-CI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4 110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215K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Brand-Search-Bank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3 202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182K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Brand-Hotels-CI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2 599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152K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PerfMax-LeadGen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PerfMax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2 104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94K 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Text 22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GoogleAdsPulse  ·  Page 4 — Conversions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GoogleAdsPulse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137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32520" y="576072"/>
            <a:ext cx="6400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01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Jan 2024 — 31 Dec 2024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" y="11704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par device, horaire, géographie et type de campagne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155448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par Device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21408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2103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005840" y="2286000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" y="25603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265K€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40080" y="2743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CVR 4.8%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212140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761488" y="2103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761488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53%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2395728" y="25603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330K€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2395728" y="2743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CVR 3.6%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2121408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517136" y="2103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17136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9F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4151376" y="25603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30K€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151376" y="2743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CVR 3.2%</a:t>
            </a:r>
            <a:endParaRPr lang="en-US" sz="9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502920" y="3154680"/>
          <a:ext cx="5257800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5" name="Shape 28"/>
          <p:cNvSpPr/>
          <p:nvPr/>
        </p:nvSpPr>
        <p:spPr>
          <a:xfrm>
            <a:off x="6007608" y="155448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6144768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Jour × Heure (spend)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647688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7223760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3-6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7799832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6-9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8375904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9-12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8951976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12-15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9528048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15-18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10104120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18-21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10680192" y="2057400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21-24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6236208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6647688" y="225856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7" name="Text 40"/>
          <p:cNvSpPr/>
          <p:nvPr/>
        </p:nvSpPr>
        <p:spPr>
          <a:xfrm>
            <a:off x="6647688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</a:t>
            </a:r>
            <a:endParaRPr lang="en-US" sz="700" dirty="0"/>
          </a:p>
        </p:txBody>
      </p:sp>
      <p:sp>
        <p:nvSpPr>
          <p:cNvPr id="48" name="Shape 41"/>
          <p:cNvSpPr/>
          <p:nvPr/>
        </p:nvSpPr>
        <p:spPr>
          <a:xfrm>
            <a:off x="7223760" y="225856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9" name="Text 42"/>
          <p:cNvSpPr/>
          <p:nvPr/>
        </p:nvSpPr>
        <p:spPr>
          <a:xfrm>
            <a:off x="7223760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</a:t>
            </a:r>
            <a:endParaRPr lang="en-US" sz="700" dirty="0"/>
          </a:p>
        </p:txBody>
      </p:sp>
      <p:sp>
        <p:nvSpPr>
          <p:cNvPr id="50" name="Shape 43"/>
          <p:cNvSpPr/>
          <p:nvPr/>
        </p:nvSpPr>
        <p:spPr>
          <a:xfrm>
            <a:off x="7799832" y="225856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51" name="Text 44"/>
          <p:cNvSpPr/>
          <p:nvPr/>
        </p:nvSpPr>
        <p:spPr>
          <a:xfrm>
            <a:off x="7799832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</a:t>
            </a:r>
            <a:endParaRPr lang="en-US" sz="700" dirty="0"/>
          </a:p>
        </p:txBody>
      </p:sp>
      <p:sp>
        <p:nvSpPr>
          <p:cNvPr id="52" name="Shape 45"/>
          <p:cNvSpPr/>
          <p:nvPr/>
        </p:nvSpPr>
        <p:spPr>
          <a:xfrm>
            <a:off x="8375904" y="225856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53" name="Text 46"/>
          <p:cNvSpPr/>
          <p:nvPr/>
        </p:nvSpPr>
        <p:spPr>
          <a:xfrm>
            <a:off x="8375904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8951976" y="225856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55" name="Text 48"/>
          <p:cNvSpPr/>
          <p:nvPr/>
        </p:nvSpPr>
        <p:spPr>
          <a:xfrm>
            <a:off x="8951976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</a:t>
            </a:r>
            <a:endParaRPr lang="en-US" sz="700" dirty="0"/>
          </a:p>
        </p:txBody>
      </p:sp>
      <p:sp>
        <p:nvSpPr>
          <p:cNvPr id="56" name="Shape 49"/>
          <p:cNvSpPr/>
          <p:nvPr/>
        </p:nvSpPr>
        <p:spPr>
          <a:xfrm>
            <a:off x="9528048" y="225856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57" name="Text 50"/>
          <p:cNvSpPr/>
          <p:nvPr/>
        </p:nvSpPr>
        <p:spPr>
          <a:xfrm>
            <a:off x="9528048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700" dirty="0"/>
          </a:p>
        </p:txBody>
      </p:sp>
      <p:sp>
        <p:nvSpPr>
          <p:cNvPr id="58" name="Shape 51"/>
          <p:cNvSpPr/>
          <p:nvPr/>
        </p:nvSpPr>
        <p:spPr>
          <a:xfrm>
            <a:off x="10104120" y="2258568"/>
            <a:ext cx="557784" cy="164592"/>
          </a:xfrm>
          <a:prstGeom prst="rect">
            <a:avLst/>
          </a:prstGeom>
          <a:solidFill>
            <a:srgbClr val="FDA057"/>
          </a:solidFill>
          <a:ln/>
        </p:spPr>
      </p:sp>
      <p:sp>
        <p:nvSpPr>
          <p:cNvPr id="59" name="Text 52"/>
          <p:cNvSpPr/>
          <p:nvPr/>
        </p:nvSpPr>
        <p:spPr>
          <a:xfrm>
            <a:off x="10104120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</a:t>
            </a:r>
            <a:endParaRPr lang="en-US" sz="700" dirty="0"/>
          </a:p>
        </p:txBody>
      </p:sp>
      <p:sp>
        <p:nvSpPr>
          <p:cNvPr id="60" name="Shape 53"/>
          <p:cNvSpPr/>
          <p:nvPr/>
        </p:nvSpPr>
        <p:spPr>
          <a:xfrm>
            <a:off x="10680192" y="225856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61" name="Text 54"/>
          <p:cNvSpPr/>
          <p:nvPr/>
        </p:nvSpPr>
        <p:spPr>
          <a:xfrm>
            <a:off x="10680192" y="22585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</a:t>
            </a:r>
            <a:endParaRPr lang="en-US" sz="700" dirty="0"/>
          </a:p>
        </p:txBody>
      </p:sp>
      <p:sp>
        <p:nvSpPr>
          <p:cNvPr id="62" name="Text 55"/>
          <p:cNvSpPr/>
          <p:nvPr/>
        </p:nvSpPr>
        <p:spPr>
          <a:xfrm>
            <a:off x="6236208" y="2441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</a:t>
            </a:r>
            <a:endParaRPr lang="en-US" sz="800" dirty="0"/>
          </a:p>
        </p:txBody>
      </p:sp>
      <p:sp>
        <p:nvSpPr>
          <p:cNvPr id="63" name="Shape 56"/>
          <p:cNvSpPr/>
          <p:nvPr/>
        </p:nvSpPr>
        <p:spPr>
          <a:xfrm>
            <a:off x="6647688" y="244144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4" name="Text 57"/>
          <p:cNvSpPr/>
          <p:nvPr/>
        </p:nvSpPr>
        <p:spPr>
          <a:xfrm>
            <a:off x="6647688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</a:t>
            </a:r>
            <a:endParaRPr lang="en-US" sz="700" dirty="0"/>
          </a:p>
        </p:txBody>
      </p:sp>
      <p:sp>
        <p:nvSpPr>
          <p:cNvPr id="65" name="Shape 58"/>
          <p:cNvSpPr/>
          <p:nvPr/>
        </p:nvSpPr>
        <p:spPr>
          <a:xfrm>
            <a:off x="7223760" y="244144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6" name="Text 59"/>
          <p:cNvSpPr/>
          <p:nvPr/>
        </p:nvSpPr>
        <p:spPr>
          <a:xfrm>
            <a:off x="7223760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</a:t>
            </a:r>
            <a:endParaRPr lang="en-US" sz="700" dirty="0"/>
          </a:p>
        </p:txBody>
      </p:sp>
      <p:sp>
        <p:nvSpPr>
          <p:cNvPr id="67" name="Shape 60"/>
          <p:cNvSpPr/>
          <p:nvPr/>
        </p:nvSpPr>
        <p:spPr>
          <a:xfrm>
            <a:off x="7799832" y="244144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68" name="Text 61"/>
          <p:cNvSpPr/>
          <p:nvPr/>
        </p:nvSpPr>
        <p:spPr>
          <a:xfrm>
            <a:off x="7799832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</a:t>
            </a:r>
            <a:endParaRPr lang="en-US" sz="700" dirty="0"/>
          </a:p>
        </p:txBody>
      </p:sp>
      <p:sp>
        <p:nvSpPr>
          <p:cNvPr id="69" name="Shape 62"/>
          <p:cNvSpPr/>
          <p:nvPr/>
        </p:nvSpPr>
        <p:spPr>
          <a:xfrm>
            <a:off x="8375904" y="244144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70" name="Text 63"/>
          <p:cNvSpPr/>
          <p:nvPr/>
        </p:nvSpPr>
        <p:spPr>
          <a:xfrm>
            <a:off x="8375904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</a:t>
            </a:r>
            <a:endParaRPr lang="en-US" sz="700" dirty="0"/>
          </a:p>
        </p:txBody>
      </p:sp>
      <p:sp>
        <p:nvSpPr>
          <p:cNvPr id="71" name="Shape 64"/>
          <p:cNvSpPr/>
          <p:nvPr/>
        </p:nvSpPr>
        <p:spPr>
          <a:xfrm>
            <a:off x="8951976" y="244144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72" name="Text 65"/>
          <p:cNvSpPr/>
          <p:nvPr/>
        </p:nvSpPr>
        <p:spPr>
          <a:xfrm>
            <a:off x="8951976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700" dirty="0"/>
          </a:p>
        </p:txBody>
      </p:sp>
      <p:sp>
        <p:nvSpPr>
          <p:cNvPr id="73" name="Shape 66"/>
          <p:cNvSpPr/>
          <p:nvPr/>
        </p:nvSpPr>
        <p:spPr>
          <a:xfrm>
            <a:off x="9528048" y="244144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74" name="Text 67"/>
          <p:cNvSpPr/>
          <p:nvPr/>
        </p:nvSpPr>
        <p:spPr>
          <a:xfrm>
            <a:off x="9528048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</a:t>
            </a:r>
            <a:endParaRPr lang="en-US" sz="700" dirty="0"/>
          </a:p>
        </p:txBody>
      </p:sp>
      <p:sp>
        <p:nvSpPr>
          <p:cNvPr id="75" name="Shape 68"/>
          <p:cNvSpPr/>
          <p:nvPr/>
        </p:nvSpPr>
        <p:spPr>
          <a:xfrm>
            <a:off x="10104120" y="2441448"/>
            <a:ext cx="557784" cy="164592"/>
          </a:xfrm>
          <a:prstGeom prst="rect">
            <a:avLst/>
          </a:prstGeom>
          <a:solidFill>
            <a:srgbClr val="FDA057"/>
          </a:solidFill>
          <a:ln/>
        </p:spPr>
      </p:sp>
      <p:sp>
        <p:nvSpPr>
          <p:cNvPr id="76" name="Text 69"/>
          <p:cNvSpPr/>
          <p:nvPr/>
        </p:nvSpPr>
        <p:spPr>
          <a:xfrm>
            <a:off x="10104120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</a:t>
            </a:r>
            <a:endParaRPr lang="en-US" sz="700" dirty="0"/>
          </a:p>
        </p:txBody>
      </p:sp>
      <p:sp>
        <p:nvSpPr>
          <p:cNvPr id="77" name="Shape 70"/>
          <p:cNvSpPr/>
          <p:nvPr/>
        </p:nvSpPr>
        <p:spPr>
          <a:xfrm>
            <a:off x="10680192" y="244144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78" name="Text 71"/>
          <p:cNvSpPr/>
          <p:nvPr/>
        </p:nvSpPr>
        <p:spPr>
          <a:xfrm>
            <a:off x="10680192" y="24414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</a:t>
            </a:r>
            <a:endParaRPr lang="en-US" sz="700" dirty="0"/>
          </a:p>
        </p:txBody>
      </p:sp>
      <p:sp>
        <p:nvSpPr>
          <p:cNvPr id="79" name="Text 72"/>
          <p:cNvSpPr/>
          <p:nvPr/>
        </p:nvSpPr>
        <p:spPr>
          <a:xfrm>
            <a:off x="6236208" y="26243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</a:t>
            </a:r>
            <a:endParaRPr lang="en-US" sz="800" dirty="0"/>
          </a:p>
        </p:txBody>
      </p:sp>
      <p:sp>
        <p:nvSpPr>
          <p:cNvPr id="80" name="Shape 73"/>
          <p:cNvSpPr/>
          <p:nvPr/>
        </p:nvSpPr>
        <p:spPr>
          <a:xfrm>
            <a:off x="6647688" y="262432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1" name="Text 74"/>
          <p:cNvSpPr/>
          <p:nvPr/>
        </p:nvSpPr>
        <p:spPr>
          <a:xfrm>
            <a:off x="6647688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</a:t>
            </a:r>
            <a:endParaRPr lang="en-US" sz="700" dirty="0"/>
          </a:p>
        </p:txBody>
      </p:sp>
      <p:sp>
        <p:nvSpPr>
          <p:cNvPr id="82" name="Shape 75"/>
          <p:cNvSpPr/>
          <p:nvPr/>
        </p:nvSpPr>
        <p:spPr>
          <a:xfrm>
            <a:off x="7223760" y="262432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3" name="Text 76"/>
          <p:cNvSpPr/>
          <p:nvPr/>
        </p:nvSpPr>
        <p:spPr>
          <a:xfrm>
            <a:off x="7223760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</a:t>
            </a:r>
            <a:endParaRPr lang="en-US" sz="700" dirty="0"/>
          </a:p>
        </p:txBody>
      </p:sp>
      <p:sp>
        <p:nvSpPr>
          <p:cNvPr id="84" name="Shape 77"/>
          <p:cNvSpPr/>
          <p:nvPr/>
        </p:nvSpPr>
        <p:spPr>
          <a:xfrm>
            <a:off x="7799832" y="262432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85" name="Text 78"/>
          <p:cNvSpPr/>
          <p:nvPr/>
        </p:nvSpPr>
        <p:spPr>
          <a:xfrm>
            <a:off x="7799832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700" dirty="0"/>
          </a:p>
        </p:txBody>
      </p:sp>
      <p:sp>
        <p:nvSpPr>
          <p:cNvPr id="86" name="Shape 79"/>
          <p:cNvSpPr/>
          <p:nvPr/>
        </p:nvSpPr>
        <p:spPr>
          <a:xfrm>
            <a:off x="8375904" y="262432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87" name="Text 80"/>
          <p:cNvSpPr/>
          <p:nvPr/>
        </p:nvSpPr>
        <p:spPr>
          <a:xfrm>
            <a:off x="8375904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</a:t>
            </a:r>
            <a:endParaRPr lang="en-US" sz="700" dirty="0"/>
          </a:p>
        </p:txBody>
      </p:sp>
      <p:sp>
        <p:nvSpPr>
          <p:cNvPr id="88" name="Shape 81"/>
          <p:cNvSpPr/>
          <p:nvPr/>
        </p:nvSpPr>
        <p:spPr>
          <a:xfrm>
            <a:off x="8951976" y="262432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89" name="Text 82"/>
          <p:cNvSpPr/>
          <p:nvPr/>
        </p:nvSpPr>
        <p:spPr>
          <a:xfrm>
            <a:off x="8951976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</a:t>
            </a:r>
            <a:endParaRPr lang="en-US" sz="700" dirty="0"/>
          </a:p>
        </p:txBody>
      </p:sp>
      <p:sp>
        <p:nvSpPr>
          <p:cNvPr id="90" name="Shape 83"/>
          <p:cNvSpPr/>
          <p:nvPr/>
        </p:nvSpPr>
        <p:spPr>
          <a:xfrm>
            <a:off x="9528048" y="262432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91" name="Text 84"/>
          <p:cNvSpPr/>
          <p:nvPr/>
        </p:nvSpPr>
        <p:spPr>
          <a:xfrm>
            <a:off x="9528048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</a:t>
            </a:r>
            <a:endParaRPr lang="en-US" sz="700" dirty="0"/>
          </a:p>
        </p:txBody>
      </p:sp>
      <p:sp>
        <p:nvSpPr>
          <p:cNvPr id="92" name="Shape 85"/>
          <p:cNvSpPr/>
          <p:nvPr/>
        </p:nvSpPr>
        <p:spPr>
          <a:xfrm>
            <a:off x="10104120" y="2624328"/>
            <a:ext cx="557784" cy="164592"/>
          </a:xfrm>
          <a:prstGeom prst="rect">
            <a:avLst/>
          </a:prstGeom>
          <a:solidFill>
            <a:srgbClr val="FDA057"/>
          </a:solidFill>
          <a:ln/>
        </p:spPr>
      </p:sp>
      <p:sp>
        <p:nvSpPr>
          <p:cNvPr id="93" name="Text 86"/>
          <p:cNvSpPr/>
          <p:nvPr/>
        </p:nvSpPr>
        <p:spPr>
          <a:xfrm>
            <a:off x="10104120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</a:t>
            </a:r>
            <a:endParaRPr lang="en-US" sz="700" dirty="0"/>
          </a:p>
        </p:txBody>
      </p:sp>
      <p:sp>
        <p:nvSpPr>
          <p:cNvPr id="94" name="Shape 87"/>
          <p:cNvSpPr/>
          <p:nvPr/>
        </p:nvSpPr>
        <p:spPr>
          <a:xfrm>
            <a:off x="10680192" y="262432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95" name="Text 88"/>
          <p:cNvSpPr/>
          <p:nvPr/>
        </p:nvSpPr>
        <p:spPr>
          <a:xfrm>
            <a:off x="10680192" y="2624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</a:t>
            </a:r>
            <a:endParaRPr lang="en-US" sz="700" dirty="0"/>
          </a:p>
        </p:txBody>
      </p:sp>
      <p:sp>
        <p:nvSpPr>
          <p:cNvPr id="96" name="Text 89"/>
          <p:cNvSpPr/>
          <p:nvPr/>
        </p:nvSpPr>
        <p:spPr>
          <a:xfrm>
            <a:off x="6236208" y="28072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Jeu</a:t>
            </a:r>
            <a:endParaRPr lang="en-US" sz="800" dirty="0"/>
          </a:p>
        </p:txBody>
      </p:sp>
      <p:sp>
        <p:nvSpPr>
          <p:cNvPr id="97" name="Shape 90"/>
          <p:cNvSpPr/>
          <p:nvPr/>
        </p:nvSpPr>
        <p:spPr>
          <a:xfrm>
            <a:off x="6647688" y="280720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98" name="Text 91"/>
          <p:cNvSpPr/>
          <p:nvPr/>
        </p:nvSpPr>
        <p:spPr>
          <a:xfrm>
            <a:off x="6647688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</a:t>
            </a:r>
            <a:endParaRPr lang="en-US" sz="700" dirty="0"/>
          </a:p>
        </p:txBody>
      </p:sp>
      <p:sp>
        <p:nvSpPr>
          <p:cNvPr id="99" name="Shape 92"/>
          <p:cNvSpPr/>
          <p:nvPr/>
        </p:nvSpPr>
        <p:spPr>
          <a:xfrm>
            <a:off x="7223760" y="280720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00" name="Text 93"/>
          <p:cNvSpPr/>
          <p:nvPr/>
        </p:nvSpPr>
        <p:spPr>
          <a:xfrm>
            <a:off x="7223760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</a:t>
            </a:r>
            <a:endParaRPr lang="en-US" sz="700" dirty="0"/>
          </a:p>
        </p:txBody>
      </p:sp>
      <p:sp>
        <p:nvSpPr>
          <p:cNvPr id="101" name="Shape 94"/>
          <p:cNvSpPr/>
          <p:nvPr/>
        </p:nvSpPr>
        <p:spPr>
          <a:xfrm>
            <a:off x="7799832" y="280720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02" name="Text 95"/>
          <p:cNvSpPr/>
          <p:nvPr/>
        </p:nvSpPr>
        <p:spPr>
          <a:xfrm>
            <a:off x="7799832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</a:t>
            </a:r>
            <a:endParaRPr lang="en-US" sz="700" dirty="0"/>
          </a:p>
        </p:txBody>
      </p:sp>
      <p:sp>
        <p:nvSpPr>
          <p:cNvPr id="103" name="Shape 96"/>
          <p:cNvSpPr/>
          <p:nvPr/>
        </p:nvSpPr>
        <p:spPr>
          <a:xfrm>
            <a:off x="8375904" y="280720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104" name="Text 97"/>
          <p:cNvSpPr/>
          <p:nvPr/>
        </p:nvSpPr>
        <p:spPr>
          <a:xfrm>
            <a:off x="8375904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</a:t>
            </a:r>
            <a:endParaRPr lang="en-US" sz="700" dirty="0"/>
          </a:p>
        </p:txBody>
      </p:sp>
      <p:sp>
        <p:nvSpPr>
          <p:cNvPr id="105" name="Shape 98"/>
          <p:cNvSpPr/>
          <p:nvPr/>
        </p:nvSpPr>
        <p:spPr>
          <a:xfrm>
            <a:off x="8951976" y="280720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106" name="Text 99"/>
          <p:cNvSpPr/>
          <p:nvPr/>
        </p:nvSpPr>
        <p:spPr>
          <a:xfrm>
            <a:off x="8951976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700" dirty="0"/>
          </a:p>
        </p:txBody>
      </p:sp>
      <p:sp>
        <p:nvSpPr>
          <p:cNvPr id="107" name="Shape 100"/>
          <p:cNvSpPr/>
          <p:nvPr/>
        </p:nvSpPr>
        <p:spPr>
          <a:xfrm>
            <a:off x="9528048" y="280720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108" name="Text 101"/>
          <p:cNvSpPr/>
          <p:nvPr/>
        </p:nvSpPr>
        <p:spPr>
          <a:xfrm>
            <a:off x="9528048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</a:t>
            </a:r>
            <a:endParaRPr lang="en-US" sz="700" dirty="0"/>
          </a:p>
        </p:txBody>
      </p:sp>
      <p:sp>
        <p:nvSpPr>
          <p:cNvPr id="109" name="Shape 102"/>
          <p:cNvSpPr/>
          <p:nvPr/>
        </p:nvSpPr>
        <p:spPr>
          <a:xfrm>
            <a:off x="10104120" y="2807208"/>
            <a:ext cx="557784" cy="164592"/>
          </a:xfrm>
          <a:prstGeom prst="rect">
            <a:avLst/>
          </a:prstGeom>
          <a:solidFill>
            <a:srgbClr val="FDA057"/>
          </a:solidFill>
          <a:ln/>
        </p:spPr>
      </p:sp>
      <p:sp>
        <p:nvSpPr>
          <p:cNvPr id="110" name="Text 103"/>
          <p:cNvSpPr/>
          <p:nvPr/>
        </p:nvSpPr>
        <p:spPr>
          <a:xfrm>
            <a:off x="10104120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</a:t>
            </a:r>
            <a:endParaRPr lang="en-US" sz="700" dirty="0"/>
          </a:p>
        </p:txBody>
      </p:sp>
      <p:sp>
        <p:nvSpPr>
          <p:cNvPr id="111" name="Shape 104"/>
          <p:cNvSpPr/>
          <p:nvPr/>
        </p:nvSpPr>
        <p:spPr>
          <a:xfrm>
            <a:off x="10680192" y="280720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112" name="Text 105"/>
          <p:cNvSpPr/>
          <p:nvPr/>
        </p:nvSpPr>
        <p:spPr>
          <a:xfrm>
            <a:off x="10680192" y="280720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</a:t>
            </a:r>
            <a:endParaRPr lang="en-US" sz="700" dirty="0"/>
          </a:p>
        </p:txBody>
      </p:sp>
      <p:sp>
        <p:nvSpPr>
          <p:cNvPr id="113" name="Text 106"/>
          <p:cNvSpPr/>
          <p:nvPr/>
        </p:nvSpPr>
        <p:spPr>
          <a:xfrm>
            <a:off x="6236208" y="2990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</a:t>
            </a:r>
            <a:endParaRPr lang="en-US" sz="800" dirty="0"/>
          </a:p>
        </p:txBody>
      </p:sp>
      <p:sp>
        <p:nvSpPr>
          <p:cNvPr id="114" name="Shape 107"/>
          <p:cNvSpPr/>
          <p:nvPr/>
        </p:nvSpPr>
        <p:spPr>
          <a:xfrm>
            <a:off x="6647688" y="299008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5" name="Text 108"/>
          <p:cNvSpPr/>
          <p:nvPr/>
        </p:nvSpPr>
        <p:spPr>
          <a:xfrm>
            <a:off x="6647688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</a:t>
            </a:r>
            <a:endParaRPr lang="en-US" sz="700" dirty="0"/>
          </a:p>
        </p:txBody>
      </p:sp>
      <p:sp>
        <p:nvSpPr>
          <p:cNvPr id="116" name="Shape 109"/>
          <p:cNvSpPr/>
          <p:nvPr/>
        </p:nvSpPr>
        <p:spPr>
          <a:xfrm>
            <a:off x="7223760" y="299008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7" name="Text 110"/>
          <p:cNvSpPr/>
          <p:nvPr/>
        </p:nvSpPr>
        <p:spPr>
          <a:xfrm>
            <a:off x="7223760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</a:t>
            </a:r>
            <a:endParaRPr lang="en-US" sz="700" dirty="0"/>
          </a:p>
        </p:txBody>
      </p:sp>
      <p:sp>
        <p:nvSpPr>
          <p:cNvPr id="118" name="Shape 111"/>
          <p:cNvSpPr/>
          <p:nvPr/>
        </p:nvSpPr>
        <p:spPr>
          <a:xfrm>
            <a:off x="7799832" y="299008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19" name="Text 112"/>
          <p:cNvSpPr/>
          <p:nvPr/>
        </p:nvSpPr>
        <p:spPr>
          <a:xfrm>
            <a:off x="7799832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</a:t>
            </a:r>
            <a:endParaRPr lang="en-US" sz="700" dirty="0"/>
          </a:p>
        </p:txBody>
      </p:sp>
      <p:sp>
        <p:nvSpPr>
          <p:cNvPr id="120" name="Shape 113"/>
          <p:cNvSpPr/>
          <p:nvPr/>
        </p:nvSpPr>
        <p:spPr>
          <a:xfrm>
            <a:off x="8375904" y="299008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121" name="Text 114"/>
          <p:cNvSpPr/>
          <p:nvPr/>
        </p:nvSpPr>
        <p:spPr>
          <a:xfrm>
            <a:off x="8375904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</a:t>
            </a:r>
            <a:endParaRPr lang="en-US" sz="700" dirty="0"/>
          </a:p>
        </p:txBody>
      </p:sp>
      <p:sp>
        <p:nvSpPr>
          <p:cNvPr id="122" name="Shape 115"/>
          <p:cNvSpPr/>
          <p:nvPr/>
        </p:nvSpPr>
        <p:spPr>
          <a:xfrm>
            <a:off x="8951976" y="299008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123" name="Text 116"/>
          <p:cNvSpPr/>
          <p:nvPr/>
        </p:nvSpPr>
        <p:spPr>
          <a:xfrm>
            <a:off x="8951976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</a:t>
            </a:r>
            <a:endParaRPr lang="en-US" sz="700" dirty="0"/>
          </a:p>
        </p:txBody>
      </p:sp>
      <p:sp>
        <p:nvSpPr>
          <p:cNvPr id="124" name="Shape 117"/>
          <p:cNvSpPr/>
          <p:nvPr/>
        </p:nvSpPr>
        <p:spPr>
          <a:xfrm>
            <a:off x="9528048" y="2990088"/>
            <a:ext cx="557784" cy="164592"/>
          </a:xfrm>
          <a:prstGeom prst="rect">
            <a:avLst/>
          </a:prstGeom>
          <a:solidFill>
            <a:srgbClr val="EF6F3B"/>
          </a:solidFill>
          <a:ln/>
        </p:spPr>
      </p:sp>
      <p:sp>
        <p:nvSpPr>
          <p:cNvPr id="125" name="Text 118"/>
          <p:cNvSpPr/>
          <p:nvPr/>
        </p:nvSpPr>
        <p:spPr>
          <a:xfrm>
            <a:off x="9528048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</a:t>
            </a:r>
            <a:endParaRPr lang="en-US" sz="700" dirty="0"/>
          </a:p>
        </p:txBody>
      </p:sp>
      <p:sp>
        <p:nvSpPr>
          <p:cNvPr id="126" name="Shape 119"/>
          <p:cNvSpPr/>
          <p:nvPr/>
        </p:nvSpPr>
        <p:spPr>
          <a:xfrm>
            <a:off x="10104120" y="299008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27" name="Text 120"/>
          <p:cNvSpPr/>
          <p:nvPr/>
        </p:nvSpPr>
        <p:spPr>
          <a:xfrm>
            <a:off x="10104120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</a:t>
            </a:r>
            <a:endParaRPr lang="en-US" sz="700" dirty="0"/>
          </a:p>
        </p:txBody>
      </p:sp>
      <p:sp>
        <p:nvSpPr>
          <p:cNvPr id="128" name="Shape 121"/>
          <p:cNvSpPr/>
          <p:nvPr/>
        </p:nvSpPr>
        <p:spPr>
          <a:xfrm>
            <a:off x="10680192" y="299008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129" name="Text 122"/>
          <p:cNvSpPr/>
          <p:nvPr/>
        </p:nvSpPr>
        <p:spPr>
          <a:xfrm>
            <a:off x="10680192" y="299008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700" dirty="0"/>
          </a:p>
        </p:txBody>
      </p:sp>
      <p:sp>
        <p:nvSpPr>
          <p:cNvPr id="130" name="Text 123"/>
          <p:cNvSpPr/>
          <p:nvPr/>
        </p:nvSpPr>
        <p:spPr>
          <a:xfrm>
            <a:off x="6236208" y="3172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800" dirty="0"/>
          </a:p>
        </p:txBody>
      </p:sp>
      <p:sp>
        <p:nvSpPr>
          <p:cNvPr id="131" name="Shape 124"/>
          <p:cNvSpPr/>
          <p:nvPr/>
        </p:nvSpPr>
        <p:spPr>
          <a:xfrm>
            <a:off x="6647688" y="317296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2" name="Text 125"/>
          <p:cNvSpPr/>
          <p:nvPr/>
        </p:nvSpPr>
        <p:spPr>
          <a:xfrm>
            <a:off x="6647688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</a:t>
            </a:r>
            <a:endParaRPr lang="en-US" sz="700" dirty="0"/>
          </a:p>
        </p:txBody>
      </p:sp>
      <p:sp>
        <p:nvSpPr>
          <p:cNvPr id="133" name="Shape 126"/>
          <p:cNvSpPr/>
          <p:nvPr/>
        </p:nvSpPr>
        <p:spPr>
          <a:xfrm>
            <a:off x="7223760" y="317296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4" name="Text 127"/>
          <p:cNvSpPr/>
          <p:nvPr/>
        </p:nvSpPr>
        <p:spPr>
          <a:xfrm>
            <a:off x="7223760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</a:t>
            </a:r>
            <a:endParaRPr lang="en-US" sz="700" dirty="0"/>
          </a:p>
        </p:txBody>
      </p:sp>
      <p:sp>
        <p:nvSpPr>
          <p:cNvPr id="135" name="Shape 128"/>
          <p:cNvSpPr/>
          <p:nvPr/>
        </p:nvSpPr>
        <p:spPr>
          <a:xfrm>
            <a:off x="7799832" y="317296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136" name="Text 129"/>
          <p:cNvSpPr/>
          <p:nvPr/>
        </p:nvSpPr>
        <p:spPr>
          <a:xfrm>
            <a:off x="7799832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</a:t>
            </a:r>
            <a:endParaRPr lang="en-US" sz="700" dirty="0"/>
          </a:p>
        </p:txBody>
      </p:sp>
      <p:sp>
        <p:nvSpPr>
          <p:cNvPr id="137" name="Shape 130"/>
          <p:cNvSpPr/>
          <p:nvPr/>
        </p:nvSpPr>
        <p:spPr>
          <a:xfrm>
            <a:off x="8375904" y="317296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38" name="Text 131"/>
          <p:cNvSpPr/>
          <p:nvPr/>
        </p:nvSpPr>
        <p:spPr>
          <a:xfrm>
            <a:off x="8375904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</a:t>
            </a:r>
            <a:endParaRPr lang="en-US" sz="700" dirty="0"/>
          </a:p>
        </p:txBody>
      </p:sp>
      <p:sp>
        <p:nvSpPr>
          <p:cNvPr id="139" name="Shape 132"/>
          <p:cNvSpPr/>
          <p:nvPr/>
        </p:nvSpPr>
        <p:spPr>
          <a:xfrm>
            <a:off x="8951976" y="317296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40" name="Text 133"/>
          <p:cNvSpPr/>
          <p:nvPr/>
        </p:nvSpPr>
        <p:spPr>
          <a:xfrm>
            <a:off x="8951976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700" dirty="0"/>
          </a:p>
        </p:txBody>
      </p:sp>
      <p:sp>
        <p:nvSpPr>
          <p:cNvPr id="141" name="Shape 134"/>
          <p:cNvSpPr/>
          <p:nvPr/>
        </p:nvSpPr>
        <p:spPr>
          <a:xfrm>
            <a:off x="9528048" y="317296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42" name="Text 135"/>
          <p:cNvSpPr/>
          <p:nvPr/>
        </p:nvSpPr>
        <p:spPr>
          <a:xfrm>
            <a:off x="9528048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</a:t>
            </a:r>
            <a:endParaRPr lang="en-US" sz="700" dirty="0"/>
          </a:p>
        </p:txBody>
      </p:sp>
      <p:sp>
        <p:nvSpPr>
          <p:cNvPr id="143" name="Shape 136"/>
          <p:cNvSpPr/>
          <p:nvPr/>
        </p:nvSpPr>
        <p:spPr>
          <a:xfrm>
            <a:off x="10104120" y="317296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44" name="Text 137"/>
          <p:cNvSpPr/>
          <p:nvPr/>
        </p:nvSpPr>
        <p:spPr>
          <a:xfrm>
            <a:off x="10104120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</a:t>
            </a:r>
            <a:endParaRPr lang="en-US" sz="700" dirty="0"/>
          </a:p>
        </p:txBody>
      </p:sp>
      <p:sp>
        <p:nvSpPr>
          <p:cNvPr id="145" name="Shape 138"/>
          <p:cNvSpPr/>
          <p:nvPr/>
        </p:nvSpPr>
        <p:spPr>
          <a:xfrm>
            <a:off x="10680192" y="317296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146" name="Text 139"/>
          <p:cNvSpPr/>
          <p:nvPr/>
        </p:nvSpPr>
        <p:spPr>
          <a:xfrm>
            <a:off x="10680192" y="317296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</a:t>
            </a:r>
            <a:endParaRPr lang="en-US" sz="700" dirty="0"/>
          </a:p>
        </p:txBody>
      </p:sp>
      <p:sp>
        <p:nvSpPr>
          <p:cNvPr id="147" name="Text 140"/>
          <p:cNvSpPr/>
          <p:nvPr/>
        </p:nvSpPr>
        <p:spPr>
          <a:xfrm>
            <a:off x="6236208" y="33558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</a:t>
            </a:r>
            <a:endParaRPr lang="en-US" sz="800" dirty="0"/>
          </a:p>
        </p:txBody>
      </p:sp>
      <p:sp>
        <p:nvSpPr>
          <p:cNvPr id="148" name="Shape 141"/>
          <p:cNvSpPr/>
          <p:nvPr/>
        </p:nvSpPr>
        <p:spPr>
          <a:xfrm>
            <a:off x="6647688" y="335584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49" name="Text 142"/>
          <p:cNvSpPr/>
          <p:nvPr/>
        </p:nvSpPr>
        <p:spPr>
          <a:xfrm>
            <a:off x="6647688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</a:t>
            </a:r>
            <a:endParaRPr lang="en-US" sz="700" dirty="0"/>
          </a:p>
        </p:txBody>
      </p:sp>
      <p:sp>
        <p:nvSpPr>
          <p:cNvPr id="150" name="Shape 143"/>
          <p:cNvSpPr/>
          <p:nvPr/>
        </p:nvSpPr>
        <p:spPr>
          <a:xfrm>
            <a:off x="7223760" y="3355848"/>
            <a:ext cx="557784" cy="16459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1" name="Text 144"/>
          <p:cNvSpPr/>
          <p:nvPr/>
        </p:nvSpPr>
        <p:spPr>
          <a:xfrm>
            <a:off x="7223760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</a:t>
            </a:r>
            <a:endParaRPr lang="en-US" sz="700" dirty="0"/>
          </a:p>
        </p:txBody>
      </p:sp>
      <p:sp>
        <p:nvSpPr>
          <p:cNvPr id="152" name="Shape 145"/>
          <p:cNvSpPr/>
          <p:nvPr/>
        </p:nvSpPr>
        <p:spPr>
          <a:xfrm>
            <a:off x="7799832" y="335584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153" name="Text 146"/>
          <p:cNvSpPr/>
          <p:nvPr/>
        </p:nvSpPr>
        <p:spPr>
          <a:xfrm>
            <a:off x="7799832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</a:t>
            </a:r>
            <a:endParaRPr lang="en-US" sz="700" dirty="0"/>
          </a:p>
        </p:txBody>
      </p:sp>
      <p:sp>
        <p:nvSpPr>
          <p:cNvPr id="154" name="Shape 147"/>
          <p:cNvSpPr/>
          <p:nvPr/>
        </p:nvSpPr>
        <p:spPr>
          <a:xfrm>
            <a:off x="8375904" y="335584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55" name="Text 148"/>
          <p:cNvSpPr/>
          <p:nvPr/>
        </p:nvSpPr>
        <p:spPr>
          <a:xfrm>
            <a:off x="8375904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</a:t>
            </a:r>
            <a:endParaRPr lang="en-US" sz="700" dirty="0"/>
          </a:p>
        </p:txBody>
      </p:sp>
      <p:sp>
        <p:nvSpPr>
          <p:cNvPr id="156" name="Shape 149"/>
          <p:cNvSpPr/>
          <p:nvPr/>
        </p:nvSpPr>
        <p:spPr>
          <a:xfrm>
            <a:off x="8951976" y="335584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57" name="Text 150"/>
          <p:cNvSpPr/>
          <p:nvPr/>
        </p:nvSpPr>
        <p:spPr>
          <a:xfrm>
            <a:off x="8951976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</a:t>
            </a:r>
            <a:endParaRPr lang="en-US" sz="700" dirty="0"/>
          </a:p>
        </p:txBody>
      </p:sp>
      <p:sp>
        <p:nvSpPr>
          <p:cNvPr id="158" name="Shape 151"/>
          <p:cNvSpPr/>
          <p:nvPr/>
        </p:nvSpPr>
        <p:spPr>
          <a:xfrm>
            <a:off x="9528048" y="3355848"/>
            <a:ext cx="557784" cy="164592"/>
          </a:xfrm>
          <a:prstGeom prst="rect">
            <a:avLst/>
          </a:prstGeom>
          <a:solidFill>
            <a:srgbClr val="FECB90"/>
          </a:solidFill>
          <a:ln/>
        </p:spPr>
      </p:sp>
      <p:sp>
        <p:nvSpPr>
          <p:cNvPr id="159" name="Text 152"/>
          <p:cNvSpPr/>
          <p:nvPr/>
        </p:nvSpPr>
        <p:spPr>
          <a:xfrm>
            <a:off x="9528048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700" dirty="0"/>
          </a:p>
        </p:txBody>
      </p:sp>
      <p:sp>
        <p:nvSpPr>
          <p:cNvPr id="160" name="Shape 153"/>
          <p:cNvSpPr/>
          <p:nvPr/>
        </p:nvSpPr>
        <p:spPr>
          <a:xfrm>
            <a:off x="10104120" y="335584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161" name="Text 154"/>
          <p:cNvSpPr/>
          <p:nvPr/>
        </p:nvSpPr>
        <p:spPr>
          <a:xfrm>
            <a:off x="10104120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</a:t>
            </a:r>
            <a:endParaRPr lang="en-US" sz="700" dirty="0"/>
          </a:p>
        </p:txBody>
      </p:sp>
      <p:sp>
        <p:nvSpPr>
          <p:cNvPr id="162" name="Shape 155"/>
          <p:cNvSpPr/>
          <p:nvPr/>
        </p:nvSpPr>
        <p:spPr>
          <a:xfrm>
            <a:off x="10680192" y="3355848"/>
            <a:ext cx="557784" cy="164592"/>
          </a:xfrm>
          <a:prstGeom prst="rect">
            <a:avLst/>
          </a:prstGeom>
          <a:solidFill>
            <a:srgbClr val="FEE5C8"/>
          </a:solidFill>
          <a:ln/>
        </p:spPr>
      </p:sp>
      <p:sp>
        <p:nvSpPr>
          <p:cNvPr id="163" name="Text 156"/>
          <p:cNvSpPr/>
          <p:nvPr/>
        </p:nvSpPr>
        <p:spPr>
          <a:xfrm>
            <a:off x="10680192" y="335584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</a:t>
            </a:r>
            <a:endParaRPr lang="en-US" sz="700" dirty="0"/>
          </a:p>
        </p:txBody>
      </p:sp>
      <p:sp>
        <p:nvSpPr>
          <p:cNvPr id="164" name="Text 157"/>
          <p:cNvSpPr/>
          <p:nvPr/>
        </p:nvSpPr>
        <p:spPr>
          <a:xfrm>
            <a:off x="6144768" y="370332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Intensité spend en K€ — pic 9h-18h en semaine, creux weekend</a:t>
            </a:r>
            <a:endParaRPr lang="en-US" sz="800" dirty="0"/>
          </a:p>
        </p:txBody>
      </p:sp>
      <p:sp>
        <p:nvSpPr>
          <p:cNvPr id="165" name="Shape 158"/>
          <p:cNvSpPr/>
          <p:nvPr/>
        </p:nvSpPr>
        <p:spPr>
          <a:xfrm>
            <a:off x="365760" y="406908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6" name="Text 159"/>
          <p:cNvSpPr/>
          <p:nvPr/>
        </p:nvSpPr>
        <p:spPr>
          <a:xfrm>
            <a:off x="50292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par Pays</a:t>
            </a:r>
            <a:endParaRPr lang="en-US" sz="1100" dirty="0"/>
          </a:p>
        </p:txBody>
      </p:sp>
      <p:pic>
        <p:nvPicPr>
          <p:cNvPr id="16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4142232"/>
            <a:ext cx="274320" cy="274320"/>
          </a:xfrm>
          <a:prstGeom prst="rect">
            <a:avLst/>
          </a:prstGeom>
        </p:spPr>
      </p:pic>
      <p:graphicFrame>
        <p:nvGraphicFramePr>
          <p:cNvPr id="168" name="Chart 1"/>
          <p:cNvGraphicFramePr/>
          <p:nvPr/>
        </p:nvGraphicFramePr>
        <p:xfrm>
          <a:off x="502920" y="4434840"/>
          <a:ext cx="5257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69" name="Shape 160"/>
          <p:cNvSpPr/>
          <p:nvPr/>
        </p:nvSpPr>
        <p:spPr>
          <a:xfrm>
            <a:off x="6007608" y="406908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0" name="Text 161"/>
          <p:cNvSpPr/>
          <p:nvPr/>
        </p:nvSpPr>
        <p:spPr>
          <a:xfrm>
            <a:off x="6144768" y="4160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Répartition Spend par Campaign Type</a:t>
            </a:r>
            <a:endParaRPr lang="en-US" sz="1100" dirty="0"/>
          </a:p>
        </p:txBody>
      </p:sp>
      <p:graphicFrame>
        <p:nvGraphicFramePr>
          <p:cNvPr id="171" name="Chart 2"/>
          <p:cNvGraphicFramePr/>
          <p:nvPr/>
        </p:nvGraphicFramePr>
        <p:xfrm>
          <a:off x="6144768" y="4434840"/>
          <a:ext cx="5257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72" name="Text 162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GoogleAdsPulse  ·  Page 5 — Breakdown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832</Words>
  <Application>Microsoft Office PowerPoint</Application>
  <PresentationFormat>Grand écran</PresentationFormat>
  <Paragraphs>468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GoogleAdsPulse — Dashboard Mockup</dc:title>
  <dc:subject>PptxGenJS Presentation</dc:subject>
  <dc:creator>DataProjectLab</dc:creator>
  <cp:lastModifiedBy>soum youss</cp:lastModifiedBy>
  <cp:revision>6</cp:revision>
  <dcterms:created xsi:type="dcterms:W3CDTF">2026-04-23T01:43:23Z</dcterms:created>
  <dcterms:modified xsi:type="dcterms:W3CDTF">2026-04-26T12:25:02Z</dcterms:modified>
</cp:coreProperties>
</file>