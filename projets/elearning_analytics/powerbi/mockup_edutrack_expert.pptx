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Inscriptions</c:v>
                </c:pt>
              </c:strCache>
            </c:strRef>
          </c:tx>
          <c:spPr>
            <a:solidFill>
              <a:srgbClr val="5B5BD6"/>
            </a:solidFill>
            <a:ln w="31750" cap="flat">
              <a:solidFill>
                <a:srgbClr val="5B5B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5BD6"/>
              </a:solidFill>
              <a:ln w="9525" cap="flat">
                <a:solidFill>
                  <a:srgbClr val="5B5B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Avr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Aou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320</c:v>
                </c:pt>
                <c:pt idx="1">
                  <c:v>290</c:v>
                </c:pt>
                <c:pt idx="2">
                  <c:v>350</c:v>
                </c:pt>
                <c:pt idx="3">
                  <c:v>380</c:v>
                </c:pt>
                <c:pt idx="4">
                  <c:v>340</c:v>
                </c:pt>
                <c:pt idx="5">
                  <c:v>290</c:v>
                </c:pt>
                <c:pt idx="6">
                  <c:v>280</c:v>
                </c:pt>
                <c:pt idx="7">
                  <c:v>300</c:v>
                </c:pt>
                <c:pt idx="8">
                  <c:v>360</c:v>
                </c:pt>
                <c:pt idx="9">
                  <c:v>410</c:v>
                </c:pt>
                <c:pt idx="10">
                  <c:v>430</c:v>
                </c:pt>
                <c:pt idx="11">
                  <c:v>396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Taux abandon (%)</c:v>
                </c:pt>
              </c:strCache>
            </c:strRef>
          </c:tx>
          <c:spPr>
            <a:solidFill>
              <a:srgbClr val="E5494D"/>
            </a:solidFill>
            <a:ln w="31750" cap="flat">
              <a:solidFill>
                <a:srgbClr val="E549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5494D"/>
              </a:solidFill>
              <a:ln w="9525" cap="flat">
                <a:solidFill>
                  <a:srgbClr val="E549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Avr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Aou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20.1</c:v>
                </c:pt>
                <c:pt idx="1">
                  <c:v>19.7</c:v>
                </c:pt>
                <c:pt idx="2">
                  <c:v>17.9</c:v>
                </c:pt>
                <c:pt idx="3">
                  <c:v>20.8</c:v>
                </c:pt>
                <c:pt idx="4">
                  <c:v>20.7</c:v>
                </c:pt>
                <c:pt idx="5">
                  <c:v>20.2</c:v>
                </c:pt>
                <c:pt idx="6">
                  <c:v>22.1</c:v>
                </c:pt>
                <c:pt idx="7">
                  <c:v>20.5</c:v>
                </c:pt>
                <c:pt idx="8">
                  <c:v>18.1</c:v>
                </c:pt>
                <c:pt idx="9">
                  <c:v>19.6</c:v>
                </c:pt>
                <c:pt idx="10">
                  <c:v>21.4</c:v>
                </c:pt>
                <c:pt idx="11">
                  <c:v>17.6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1F0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Inscriptions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bubble3D val="0"/>
            <c:spPr>
              <a:solidFill>
                <a:srgbClr val="3A3370"/>
              </a:solidFill>
              <a:effectLst/>
            </c:spPr>
          </c:dPt>
          <c:dPt>
            <c:idx val="2"/>
            <c:bubble3D val="0"/>
            <c:spPr>
              <a:solidFill>
                <a:srgbClr val="F2A93B"/>
              </a:solidFill>
              <a:effectLst/>
            </c:spPr>
          </c:dPt>
          <c:dPt>
            <c:idx val="3"/>
            <c:bubble3D val="0"/>
            <c:spPr>
              <a:solidFill>
                <a:srgbClr val="7C6FD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1182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1182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1182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1182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Data &amp; IA</c:v>
                </c:pt>
                <c:pt idx="1">
                  <c:v>Dev Web</c:v>
                </c:pt>
                <c:pt idx="2">
                  <c:v>Marketing</c:v>
                </c:pt>
                <c:pt idx="3">
                  <c:v>Management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38</c:v>
                </c:pt>
                <c:pt idx="1">
                  <c:v>32</c:v>
                </c:pt>
                <c:pt idx="2">
                  <c:v>18</c:v>
                </c:pt>
                <c:pt idx="3">
                  <c:v>12</c:v>
                </c:pt>
              </c:numCache>
            </c:numRef>
          </c:val>
        </c:ser>
        <c:firstSliceAng val="0"/>
        <c:holeSize val="65"/>
      </c:doughnutChart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7C6F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6FD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A67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A67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6FD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C6FD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C6FD9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18-22</c:v>
                  </c:pt>
                  <c:pt idx="1">
                    <c:v>23-27</c:v>
                  </c:pt>
                  <c:pt idx="2">
                    <c:v>28-32</c:v>
                  </c:pt>
                  <c:pt idx="3">
                    <c:v>33-37</c:v>
                  </c:pt>
                  <c:pt idx="4">
                    <c:v>38-42</c:v>
                  </c:pt>
                  <c:pt idx="5">
                    <c:v>43+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31</c:v>
                </c:pt>
                <c:pt idx="2">
                  <c:v>29</c:v>
                </c:pt>
                <c:pt idx="3">
                  <c:v>15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118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1F0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1FA6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A67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5B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Mobile Money</c:v>
                  </c:pt>
                  <c:pt idx="1">
                    <c:v>Carte bancaire</c:v>
                  </c:pt>
                  <c:pt idx="2">
                    <c:v>Virement</c:v>
                  </c:pt>
                  <c:pt idx="3">
                    <c:v>PayPal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26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118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F1F0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1FA67D"/>
            </a:solidFill>
            <a:ln w="25400" cap="flat">
              <a:solidFill>
                <a:srgbClr val="1FA67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A67D"/>
              </a:solidFill>
              <a:ln w="9525" cap="flat">
                <a:solidFill>
                  <a:srgbClr val="1FA67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55</c:v>
                </c:pt>
                <c:pt idx="1">
                  <c:v>58</c:v>
                </c:pt>
                <c:pt idx="2">
                  <c:v>60</c:v>
                </c:pt>
                <c:pt idx="3">
                  <c:v>62</c:v>
                </c:pt>
                <c:pt idx="4">
                  <c:v>60</c:v>
                </c:pt>
                <c:pt idx="5">
                  <c:v>58</c:v>
                </c:pt>
                <c:pt idx="6">
                  <c:v>60</c:v>
                </c:pt>
                <c:pt idx="7">
                  <c:v>65</c:v>
                </c:pt>
                <c:pt idx="8">
                  <c:v>68</c:v>
                </c:pt>
                <c:pt idx="9">
                  <c:v>70</c:v>
                </c:pt>
                <c:pt idx="10">
                  <c:v>72</c:v>
                </c:pt>
                <c:pt idx="11">
                  <c:v>74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 &amp; IA</c:v>
                </c:pt>
              </c:strCache>
            </c:strRef>
          </c:tx>
          <c:spPr>
            <a:solidFill>
              <a:srgbClr val="3A33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  <c:pt idx="9">
                    <c:v>O</c:v>
                  </c:pt>
                  <c:pt idx="10">
                    <c:v>N</c:v>
                  </c:pt>
                  <c:pt idx="11">
                    <c:v>D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25</c:v>
                </c:pt>
                <c:pt idx="1">
                  <c:v>22</c:v>
                </c:pt>
                <c:pt idx="2">
                  <c:v>28</c:v>
                </c:pt>
                <c:pt idx="3">
                  <c:v>30</c:v>
                </c:pt>
                <c:pt idx="4">
                  <c:v>28</c:v>
                </c:pt>
                <c:pt idx="5">
                  <c:v>22</c:v>
                </c:pt>
                <c:pt idx="6">
                  <c:v>20</c:v>
                </c:pt>
                <c:pt idx="7">
                  <c:v>24</c:v>
                </c:pt>
                <c:pt idx="8">
                  <c:v>32</c:v>
                </c:pt>
                <c:pt idx="9">
                  <c:v>38</c:v>
                </c:pt>
                <c:pt idx="10">
                  <c:v>42</c:v>
                </c:pt>
                <c:pt idx="11">
                  <c:v>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Dev Web</c:v>
                </c:pt>
              </c:strCache>
            </c:strRef>
          </c:tx>
          <c:spPr>
            <a:solidFill>
              <a:srgbClr val="1FA6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  <c:pt idx="9">
                    <c:v>O</c:v>
                  </c:pt>
                  <c:pt idx="10">
                    <c:v>N</c:v>
                  </c:pt>
                  <c:pt idx="11">
                    <c:v>D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22</c:v>
                </c:pt>
                <c:pt idx="1">
                  <c:v>20</c:v>
                </c:pt>
                <c:pt idx="2">
                  <c:v>25</c:v>
                </c:pt>
                <c:pt idx="3">
                  <c:v>28</c:v>
                </c:pt>
                <c:pt idx="4">
                  <c:v>25</c:v>
                </c:pt>
                <c:pt idx="5">
                  <c:v>20</c:v>
                </c:pt>
                <c:pt idx="6">
                  <c:v>18</c:v>
                </c:pt>
                <c:pt idx="7">
                  <c:v>22</c:v>
                </c:pt>
                <c:pt idx="8">
                  <c:v>28</c:v>
                </c:pt>
                <c:pt idx="9">
                  <c:v>32</c:v>
                </c:pt>
                <c:pt idx="10">
                  <c:v>35</c:v>
                </c:pt>
                <c:pt idx="11">
                  <c:v>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Management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  <c:pt idx="9">
                    <c:v>O</c:v>
                  </c:pt>
                  <c:pt idx="10">
                    <c:v>N</c:v>
                  </c:pt>
                  <c:pt idx="11">
                    <c:v>D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10</c:v>
                </c:pt>
                <c:pt idx="1">
                  <c:v>12</c:v>
                </c:pt>
                <c:pt idx="2">
                  <c:v>14</c:v>
                </c:pt>
                <c:pt idx="3">
                  <c:v>13</c:v>
                </c:pt>
                <c:pt idx="4">
                  <c:v>12</c:v>
                </c:pt>
                <c:pt idx="5">
                  <c:v>10</c:v>
                </c:pt>
                <c:pt idx="6">
                  <c:v>9</c:v>
                </c:pt>
                <c:pt idx="7">
                  <c:v>11</c:v>
                </c:pt>
                <c:pt idx="8">
                  <c:v>14</c:v>
                </c:pt>
                <c:pt idx="9">
                  <c:v>16</c:v>
                </c:pt>
                <c:pt idx="10">
                  <c:v>18</c:v>
                </c:pt>
                <c:pt idx="11">
                  <c:v>14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Marketing Dig.</c:v>
                </c:pt>
              </c:strCache>
            </c:strRef>
          </c:tx>
          <c:spPr>
            <a:solidFill>
              <a:srgbClr val="C4B5F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  <c:pt idx="9">
                    <c:v>O</c:v>
                  </c:pt>
                  <c:pt idx="10">
                    <c:v>N</c:v>
                  </c:pt>
                  <c:pt idx="11">
                    <c:v>D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8</c:v>
                </c:pt>
                <c:pt idx="1">
                  <c:v>9</c:v>
                </c:pt>
                <c:pt idx="2">
                  <c:v>11</c:v>
                </c:pt>
                <c:pt idx="3">
                  <c:v>10</c:v>
                </c:pt>
                <c:pt idx="4">
                  <c:v>9</c:v>
                </c:pt>
                <c:pt idx="5">
                  <c:v>8</c:v>
                </c:pt>
                <c:pt idx="6">
                  <c:v>7</c:v>
                </c:pt>
                <c:pt idx="7">
                  <c:v>9</c:v>
                </c:pt>
                <c:pt idx="8">
                  <c:v>11</c:v>
                </c:pt>
                <c:pt idx="9">
                  <c:v>13</c:v>
                </c:pt>
                <c:pt idx="10">
                  <c:v>14</c:v>
                </c:pt>
                <c:pt idx="11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1F0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</c:v>
                </c:pt>
              </c:strCache>
            </c:strRef>
          </c:tx>
          <c:spPr>
            <a:solidFill>
              <a:srgbClr val="1FA6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A67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5B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Mobile Money</c:v>
                  </c:pt>
                  <c:pt idx="1">
                    <c:v>Carte bancaire</c:v>
                  </c:pt>
                  <c:pt idx="2">
                    <c:v>Virement</c:v>
                  </c:pt>
                  <c:pt idx="3">
                    <c:v>PayPal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380</c:v>
                </c:pt>
                <c:pt idx="1">
                  <c:v>204</c:v>
                </c:pt>
                <c:pt idx="2">
                  <c:v>115</c:v>
                </c:pt>
                <c:pt idx="3">
                  <c:v>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118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F1F0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chart" Target="/ppt/charts/chart7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8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7C6FD9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1828800"/>
            <a:ext cx="4114800" cy="4114800"/>
          </a:xfrm>
          <a:prstGeom prst="ellipse">
            <a:avLst/>
          </a:prstGeom>
          <a:solidFill>
            <a:srgbClr val="5B5BD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7C6FD9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486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5B5BD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48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 — Academy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EDITION 2024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EduTrack</a:t>
            </a:r>
            <a:endParaRPr lang="en-US" sz="88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C4B5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</a:t>
            </a:r>
            <a:endParaRPr lang="en-US" sz="8800" dirty="0"/>
          </a:p>
        </p:txBody>
      </p:sp>
      <p:sp>
        <p:nvSpPr>
          <p:cNvPr id="10" name="Text 8"/>
          <p:cNvSpPr/>
          <p:nvPr/>
        </p:nvSpPr>
        <p:spPr>
          <a:xfrm>
            <a:off x="548640" y="4160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pilotage data de DataProjectLab Academy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731520" cy="36576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800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"1 apprenant sur 5 decroche.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5212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4B5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Voici comment les sauver."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5852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3 092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48640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Apprenants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5852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6 456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017520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0" y="5852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33,3%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486400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55280" y="5852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749M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955280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 Revenue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3A337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743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292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5486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1371600" cy="4572"/>
          </a:xfrm>
          <a:prstGeom prst="rect">
            <a:avLst/>
          </a:prstGeom>
          <a:solidFill>
            <a:srgbClr val="5B4FAA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143000"/>
            <a:ext cx="36576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1887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1887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executive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82880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18288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Apprenants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46888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24688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10896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1089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74904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7490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5623560"/>
            <a:ext cx="365760" cy="36576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5623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82880" y="6035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a l'accueil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6400800"/>
            <a:ext cx="1371600" cy="4572"/>
          </a:xfrm>
          <a:prstGeom prst="rect">
            <a:avLst/>
          </a:prstGeom>
          <a:solidFill>
            <a:srgbClr val="5B4FAA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4922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82880" y="66751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11680" y="365760"/>
            <a:ext cx="24231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0" y="365760"/>
            <a:ext cx="2423160" cy="45720"/>
          </a:xfrm>
          <a:prstGeom prst="rect">
            <a:avLst/>
          </a:prstGeom>
          <a:solidFill>
            <a:srgbClr val="5B5BD6"/>
          </a:solidFill>
          <a:ln/>
        </p:spPr>
      </p:sp>
      <p:sp>
        <p:nvSpPr>
          <p:cNvPr id="32" name="Text 30"/>
          <p:cNvSpPr/>
          <p:nvPr/>
        </p:nvSpPr>
        <p:spPr>
          <a:xfrm>
            <a:off x="2176272" y="502920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inscriptions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76272" y="731520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5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3 846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2176272" y="1280160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+24% vs 2023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176272" y="1463040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soutenue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26280" y="365760"/>
            <a:ext cx="24231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26280" y="365760"/>
            <a:ext cx="2423160" cy="45720"/>
          </a:xfrm>
          <a:prstGeom prst="rect">
            <a:avLst/>
          </a:prstGeom>
          <a:solidFill>
            <a:srgbClr val="1FA67D"/>
          </a:solidFill>
          <a:ln/>
        </p:spPr>
      </p:sp>
      <p:sp>
        <p:nvSpPr>
          <p:cNvPr id="38" name="Text 36"/>
          <p:cNvSpPr/>
          <p:nvPr/>
        </p:nvSpPr>
        <p:spPr>
          <a:xfrm>
            <a:off x="4690872" y="502920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completion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90872" y="731520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A6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37,0%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4690872" y="1280160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-3pp vs cible 40%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90872" y="1463040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Ecart structurel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040880" y="365760"/>
            <a:ext cx="24231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040880" y="365760"/>
            <a:ext cx="2423160" cy="45720"/>
          </a:xfrm>
          <a:prstGeom prst="rect">
            <a:avLst/>
          </a:prstGeom>
          <a:solidFill>
            <a:srgbClr val="E5494D"/>
          </a:solidFill>
          <a:ln/>
        </p:spPr>
      </p:sp>
      <p:sp>
        <p:nvSpPr>
          <p:cNvPr id="44" name="Text 42"/>
          <p:cNvSpPr/>
          <p:nvPr/>
        </p:nvSpPr>
        <p:spPr>
          <a:xfrm>
            <a:off x="7205472" y="502920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abandon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205472" y="731520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4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19,9%</a:t>
            </a:r>
            <a:endParaRPr lang="en-US" sz="3200" dirty="0"/>
          </a:p>
        </p:txBody>
      </p:sp>
      <p:sp>
        <p:nvSpPr>
          <p:cNvPr id="46" name="Text 44"/>
          <p:cNvSpPr/>
          <p:nvPr/>
        </p:nvSpPr>
        <p:spPr>
          <a:xfrm>
            <a:off x="7205472" y="1280160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+0,4pp vs 2023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205472" y="1463040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juillet 22,1%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555480" y="365760"/>
            <a:ext cx="24231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555480" y="365760"/>
            <a:ext cx="2423160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0" name="Text 48"/>
          <p:cNvSpPr/>
          <p:nvPr/>
        </p:nvSpPr>
        <p:spPr>
          <a:xfrm>
            <a:off x="9720072" y="502920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moyen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720072" y="731520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4,23/5</a:t>
            </a:r>
            <a:endParaRPr lang="en-US" sz="3200" dirty="0"/>
          </a:p>
        </p:txBody>
      </p:sp>
      <p:sp>
        <p:nvSpPr>
          <p:cNvPr id="52" name="Text 50"/>
          <p:cNvSpPr/>
          <p:nvPr/>
        </p:nvSpPr>
        <p:spPr>
          <a:xfrm>
            <a:off x="9720072" y="1280160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+0,1 vs 2023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720072" y="1463040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Solide sur termines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011680" y="1828800"/>
            <a:ext cx="64008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2194560" y="1965960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INSCRIPTIONS MENSUELLES &amp; TAUX D'ABANDON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194560" y="2194560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juillet → effet vacances scolaires</a:t>
            </a:r>
            <a:endParaRPr lang="en-US" sz="1000" dirty="0"/>
          </a:p>
        </p:txBody>
      </p:sp>
      <p:graphicFrame>
        <p:nvGraphicFramePr>
          <p:cNvPr id="57" name="Chart 0" descr=""/>
          <p:cNvGraphicFramePr/>
          <p:nvPr/>
        </p:nvGraphicFramePr>
        <p:xfrm>
          <a:off x="2194560" y="2468880"/>
          <a:ext cx="612648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8" name="Shape 55"/>
          <p:cNvSpPr/>
          <p:nvPr/>
        </p:nvSpPr>
        <p:spPr>
          <a:xfrm>
            <a:off x="8503920" y="1828800"/>
            <a:ext cx="32918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59" name="Text 56"/>
          <p:cNvSpPr/>
          <p:nvPr/>
        </p:nvSpPr>
        <p:spPr>
          <a:xfrm>
            <a:off x="8641080" y="19659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REPARTITION PAR DOMAINE</a:t>
            </a:r>
            <a:endParaRPr lang="en-US" sz="1000" dirty="0"/>
          </a:p>
        </p:txBody>
      </p:sp>
      <p:graphicFrame>
        <p:nvGraphicFramePr>
          <p:cNvPr id="60" name="Chart 1" descr=""/>
          <p:cNvGraphicFramePr/>
          <p:nvPr/>
        </p:nvGraphicFramePr>
        <p:xfrm>
          <a:off x="8595360" y="2286000"/>
          <a:ext cx="310896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1" name="Text 57"/>
          <p:cNvSpPr/>
          <p:nvPr/>
        </p:nvSpPr>
        <p:spPr>
          <a:xfrm>
            <a:off x="8595360" y="2697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A6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37,0%</a:t>
            </a:r>
            <a:endParaRPr lang="en-US" sz="1800" dirty="0"/>
          </a:p>
        </p:txBody>
      </p:sp>
      <p:sp>
        <p:nvSpPr>
          <p:cNvPr id="62" name="Text 58"/>
          <p:cNvSpPr/>
          <p:nvPr/>
        </p:nvSpPr>
        <p:spPr>
          <a:xfrm>
            <a:off x="8595360" y="30175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800" dirty="0"/>
          </a:p>
        </p:txBody>
      </p:sp>
      <p:sp>
        <p:nvSpPr>
          <p:cNvPr id="63" name="Shape 59"/>
          <p:cNvSpPr/>
          <p:nvPr/>
        </p:nvSpPr>
        <p:spPr>
          <a:xfrm>
            <a:off x="2011680" y="4434840"/>
            <a:ext cx="97840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64" name="Text 60"/>
          <p:cNvSpPr/>
          <p:nvPr/>
        </p:nvSpPr>
        <p:spPr>
          <a:xfrm>
            <a:off x="2194560" y="452628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PARCOURS  ·  COMPLETION VS ABANDON</a:t>
            </a:r>
            <a:endParaRPr lang="en-US" sz="1000" dirty="0"/>
          </a:p>
        </p:txBody>
      </p:sp>
      <p:sp>
        <p:nvSpPr>
          <p:cNvPr id="65" name="Text 61"/>
          <p:cNvSpPr/>
          <p:nvPr/>
        </p:nvSpPr>
        <p:spPr>
          <a:xfrm>
            <a:off x="2194560" y="473659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fondamentaux Tech (HTML, SQL) trônent en tête. Marketing reste le maillon faible.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5029200"/>
          <a:ext cx="96012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00400"/>
                <a:gridCol w="3108960"/>
                <a:gridCol w="27432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100" kern="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100" kern="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PARCOURS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spc="100" kern="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spc="100" kern="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ABANDON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🏆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CSS JavaScript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5BD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████████████████  40,7%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49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███████  18%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&amp; Bases de Donnees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5BD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███████████████░  39,6%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49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████████  21%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&amp; Dashboards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A67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███████████████░  39,4%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49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██████  17%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Analyse avec 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██████████████░░  38,1%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49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███████  20%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 Applique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5BD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██████████████░░  38,0%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49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████████  21%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3A337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743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292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5486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1371600" cy="4572"/>
          </a:xfrm>
          <a:prstGeom prst="rect">
            <a:avLst/>
          </a:prstGeom>
          <a:solidFill>
            <a:srgbClr val="5B4FAA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18872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1887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executive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1783080"/>
            <a:ext cx="36576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18288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18288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Apprenants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46888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24688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10896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1089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74904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7490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5623560"/>
            <a:ext cx="365760" cy="36576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5623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82880" y="6035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a l'accueil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6400800"/>
            <a:ext cx="1371600" cy="4572"/>
          </a:xfrm>
          <a:prstGeom prst="rect">
            <a:avLst/>
          </a:prstGeom>
          <a:solidFill>
            <a:srgbClr val="5B4FAA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4922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82880" y="66751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11680" y="365760"/>
            <a:ext cx="32004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0" y="365760"/>
            <a:ext cx="3200400" cy="45720"/>
          </a:xfrm>
          <a:prstGeom prst="rect">
            <a:avLst/>
          </a:prstGeom>
          <a:solidFill>
            <a:srgbClr val="1FA67D"/>
          </a:solidFill>
          <a:ln/>
        </p:spPr>
      </p:sp>
      <p:sp>
        <p:nvSpPr>
          <p:cNvPr id="32" name="Text 30"/>
          <p:cNvSpPr/>
          <p:nvPr/>
        </p:nvSpPr>
        <p:spPr>
          <a:xfrm>
            <a:off x="2212848" y="5029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Apprenants actifs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212848" y="7772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A6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2 144</a:t>
            </a:r>
            <a:endParaRPr lang="en-US" sz="3800" dirty="0"/>
          </a:p>
        </p:txBody>
      </p:sp>
      <p:sp>
        <p:nvSpPr>
          <p:cNvPr id="34" name="Text 32"/>
          <p:cNvSpPr/>
          <p:nvPr/>
        </p:nvSpPr>
        <p:spPr>
          <a:xfrm>
            <a:off x="2212848" y="14173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 vs 2023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03520" y="365760"/>
            <a:ext cx="32004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303520" y="365760"/>
            <a:ext cx="3200400" cy="45720"/>
          </a:xfrm>
          <a:prstGeom prst="rect">
            <a:avLst/>
          </a:prstGeom>
          <a:solidFill>
            <a:srgbClr val="1FA67D"/>
          </a:solidFill>
          <a:ln/>
        </p:spPr>
      </p:sp>
      <p:sp>
        <p:nvSpPr>
          <p:cNvPr id="37" name="Text 35"/>
          <p:cNvSpPr/>
          <p:nvPr/>
        </p:nvSpPr>
        <p:spPr>
          <a:xfrm>
            <a:off x="5504688" y="5029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Inscriptions / apprenant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04688" y="7772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A6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1,4</a:t>
            </a:r>
            <a:endParaRPr lang="en-US" sz="3800" dirty="0"/>
          </a:p>
        </p:txBody>
      </p:sp>
      <p:sp>
        <p:nvSpPr>
          <p:cNvPr id="39" name="Text 37"/>
          <p:cNvSpPr/>
          <p:nvPr/>
        </p:nvSpPr>
        <p:spPr>
          <a:xfrm>
            <a:off x="5504688" y="14173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cross-sell — opportunite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95360" y="365760"/>
            <a:ext cx="32004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595360" y="365760"/>
            <a:ext cx="3200400" cy="45720"/>
          </a:xfrm>
          <a:prstGeom prst="rect">
            <a:avLst/>
          </a:prstGeom>
          <a:solidFill>
            <a:srgbClr val="7C6FD9"/>
          </a:solidFill>
          <a:ln/>
        </p:spPr>
      </p:sp>
      <p:sp>
        <p:nvSpPr>
          <p:cNvPr id="42" name="Text 40"/>
          <p:cNvSpPr/>
          <p:nvPr/>
        </p:nvSpPr>
        <p:spPr>
          <a:xfrm>
            <a:off x="8796528" y="5029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Apprenants Premium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796528" y="7772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C6F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38%</a:t>
            </a:r>
            <a:endParaRPr lang="en-US" sz="3800" dirty="0"/>
          </a:p>
        </p:txBody>
      </p:sp>
      <p:sp>
        <p:nvSpPr>
          <p:cNvPr id="44" name="Text 42"/>
          <p:cNvSpPr/>
          <p:nvPr/>
        </p:nvSpPr>
        <p:spPr>
          <a:xfrm>
            <a:off x="8796528" y="14173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50% sous 6 mois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011680" y="1828800"/>
            <a:ext cx="4937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194560" y="1965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REPARTITION GEOGRAPHIQUE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194560" y="21762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Cote d'Ivoire saturee — relais Senegal et Cameroun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697480" y="2606040"/>
            <a:ext cx="1005840" cy="1005840"/>
          </a:xfrm>
          <a:prstGeom prst="ellipse">
            <a:avLst/>
          </a:prstGeom>
          <a:solidFill>
            <a:srgbClr val="1FA67D">
              <a:alpha val="75000"/>
            </a:srgbClr>
          </a:solidFill>
          <a:ln w="19050">
            <a:solidFill>
              <a:srgbClr val="1FA67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97480" y="29260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697480" y="310896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913632" y="2816352"/>
            <a:ext cx="768096" cy="768096"/>
          </a:xfrm>
          <a:prstGeom prst="ellipse">
            <a:avLst/>
          </a:prstGeom>
          <a:solidFill>
            <a:srgbClr val="5B5BD6">
              <a:alpha val="75000"/>
            </a:srgbClr>
          </a:solidFill>
          <a:ln w="19050">
            <a:solidFill>
              <a:srgbClr val="5B5B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13632" y="301752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913632" y="320040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974336" y="2688336"/>
            <a:ext cx="658368" cy="658368"/>
          </a:xfrm>
          <a:prstGeom prst="ellipse">
            <a:avLst/>
          </a:prstGeom>
          <a:solidFill>
            <a:srgbClr val="F2A93B">
              <a:alpha val="75000"/>
            </a:srgbClr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74336" y="28346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974336" y="301752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870448" y="3127248"/>
            <a:ext cx="512064" cy="512064"/>
          </a:xfrm>
          <a:prstGeom prst="ellipse">
            <a:avLst/>
          </a:prstGeom>
          <a:solidFill>
            <a:srgbClr val="C4B5FD">
              <a:alpha val="75000"/>
            </a:srgbClr>
          </a:solidFill>
          <a:ln w="19050">
            <a:solidFill>
              <a:srgbClr val="C4B5F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70448" y="320040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870448" y="3383280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715000" y="3611880"/>
            <a:ext cx="457200" cy="457200"/>
          </a:xfrm>
          <a:prstGeom prst="ellipse">
            <a:avLst/>
          </a:prstGeom>
          <a:solidFill>
            <a:srgbClr val="9CA3AF">
              <a:alpha val="75000"/>
            </a:srgbClr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15000" y="3657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715000" y="384048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194560" y="4069080"/>
            <a:ext cx="91440" cy="91440"/>
          </a:xfrm>
          <a:prstGeom prst="ellipse">
            <a:avLst/>
          </a:prstGeom>
          <a:solidFill>
            <a:srgbClr val="1FA67D"/>
          </a:solidFill>
          <a:ln/>
        </p:spPr>
      </p:sp>
      <p:sp>
        <p:nvSpPr>
          <p:cNvPr id="64" name="Shape 62"/>
          <p:cNvSpPr/>
          <p:nvPr/>
        </p:nvSpPr>
        <p:spPr>
          <a:xfrm>
            <a:off x="2194560" y="4032504"/>
            <a:ext cx="91440" cy="91440"/>
          </a:xfrm>
          <a:prstGeom prst="ellipse">
            <a:avLst/>
          </a:prstGeom>
          <a:solidFill>
            <a:srgbClr val="5B5BD6"/>
          </a:solidFill>
          <a:ln/>
        </p:spPr>
      </p:sp>
      <p:sp>
        <p:nvSpPr>
          <p:cNvPr id="65" name="Shape 63"/>
          <p:cNvSpPr/>
          <p:nvPr/>
        </p:nvSpPr>
        <p:spPr>
          <a:xfrm>
            <a:off x="2194560" y="399592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6" name="Shape 64"/>
          <p:cNvSpPr/>
          <p:nvPr/>
        </p:nvSpPr>
        <p:spPr>
          <a:xfrm>
            <a:off x="2194560" y="3959352"/>
            <a:ext cx="91440" cy="91440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67" name="Shape 65"/>
          <p:cNvSpPr/>
          <p:nvPr/>
        </p:nvSpPr>
        <p:spPr>
          <a:xfrm>
            <a:off x="2194560" y="3922776"/>
            <a:ext cx="91440" cy="9144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68" name="Shape 66"/>
          <p:cNvSpPr/>
          <p:nvPr/>
        </p:nvSpPr>
        <p:spPr>
          <a:xfrm>
            <a:off x="7040880" y="1828800"/>
            <a:ext cx="47548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7223760" y="1965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DES AGES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223760" y="21762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Coeur de cible 23-32 ans = 60% de la base</a:t>
            </a:r>
            <a:endParaRPr lang="en-US" sz="900" dirty="0"/>
          </a:p>
        </p:txBody>
      </p:sp>
      <p:graphicFrame>
        <p:nvGraphicFramePr>
          <p:cNvPr id="71" name="Chart 0" descr=""/>
          <p:cNvGraphicFramePr/>
          <p:nvPr/>
        </p:nvGraphicFramePr>
        <p:xfrm>
          <a:off x="7223760" y="2423160"/>
          <a:ext cx="45720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2" name="Shape 69"/>
          <p:cNvSpPr/>
          <p:nvPr/>
        </p:nvSpPr>
        <p:spPr>
          <a:xfrm>
            <a:off x="2011680" y="4343400"/>
            <a:ext cx="49377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73" name="Text 70"/>
          <p:cNvSpPr/>
          <p:nvPr/>
        </p:nvSpPr>
        <p:spPr>
          <a:xfrm>
            <a:off x="2194560" y="4434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D'ACQUISITION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2194560" y="46451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sain · diversification recommandee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2194560" y="4937760"/>
            <a:ext cx="4389120" cy="292608"/>
          </a:xfrm>
          <a:prstGeom prst="roundRect">
            <a:avLst>
              <a:gd name="adj" fmla="val 12500"/>
            </a:avLst>
          </a:prstGeom>
          <a:solidFill>
            <a:srgbClr val="1FA67D"/>
          </a:solidFill>
          <a:ln/>
        </p:spPr>
      </p:sp>
      <p:sp>
        <p:nvSpPr>
          <p:cNvPr id="76" name="Text 73"/>
          <p:cNvSpPr/>
          <p:nvPr/>
        </p:nvSpPr>
        <p:spPr>
          <a:xfrm>
            <a:off x="2286000" y="49377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Organique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5669280" y="4937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100" dirty="0"/>
          </a:p>
        </p:txBody>
      </p:sp>
      <p:sp>
        <p:nvSpPr>
          <p:cNvPr id="78" name="Shape 75"/>
          <p:cNvSpPr/>
          <p:nvPr/>
        </p:nvSpPr>
        <p:spPr>
          <a:xfrm>
            <a:off x="2560320" y="5321808"/>
            <a:ext cx="3657600" cy="292608"/>
          </a:xfrm>
          <a:prstGeom prst="roundRect">
            <a:avLst>
              <a:gd name="adj" fmla="val 12500"/>
            </a:avLst>
          </a:prstGeom>
          <a:solidFill>
            <a:srgbClr val="5B5BD6"/>
          </a:solidFill>
          <a:ln/>
        </p:spPr>
      </p:sp>
      <p:sp>
        <p:nvSpPr>
          <p:cNvPr id="79" name="Text 76"/>
          <p:cNvSpPr/>
          <p:nvPr/>
        </p:nvSpPr>
        <p:spPr>
          <a:xfrm>
            <a:off x="2651760" y="53218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Reseaux sociaux</a:t>
            </a:r>
            <a:endParaRPr lang="en-US" sz="1000" dirty="0"/>
          </a:p>
        </p:txBody>
      </p:sp>
      <p:sp>
        <p:nvSpPr>
          <p:cNvPr id="80" name="Text 77"/>
          <p:cNvSpPr/>
          <p:nvPr/>
        </p:nvSpPr>
        <p:spPr>
          <a:xfrm>
            <a:off x="5303520" y="53218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1100" dirty="0"/>
          </a:p>
        </p:txBody>
      </p:sp>
      <p:sp>
        <p:nvSpPr>
          <p:cNvPr id="81" name="Shape 78"/>
          <p:cNvSpPr/>
          <p:nvPr/>
        </p:nvSpPr>
        <p:spPr>
          <a:xfrm>
            <a:off x="3063240" y="5705856"/>
            <a:ext cx="2651760" cy="292608"/>
          </a:xfrm>
          <a:prstGeom prst="roundRect">
            <a:avLst>
              <a:gd name="adj" fmla="val 12500"/>
            </a:avLst>
          </a:prstGeom>
          <a:solidFill>
            <a:srgbClr val="F2A93B"/>
          </a:solidFill>
          <a:ln/>
        </p:spPr>
      </p:sp>
      <p:sp>
        <p:nvSpPr>
          <p:cNvPr id="82" name="Text 79"/>
          <p:cNvSpPr/>
          <p:nvPr/>
        </p:nvSpPr>
        <p:spPr>
          <a:xfrm>
            <a:off x="3154680" y="57058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</a:t>
            </a:r>
            <a:endParaRPr lang="en-US" sz="1000" dirty="0"/>
          </a:p>
        </p:txBody>
      </p:sp>
      <p:sp>
        <p:nvSpPr>
          <p:cNvPr id="83" name="Text 80"/>
          <p:cNvSpPr/>
          <p:nvPr/>
        </p:nvSpPr>
        <p:spPr>
          <a:xfrm>
            <a:off x="4800600" y="570585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1100" dirty="0"/>
          </a:p>
        </p:txBody>
      </p:sp>
      <p:sp>
        <p:nvSpPr>
          <p:cNvPr id="84" name="Shape 81"/>
          <p:cNvSpPr/>
          <p:nvPr/>
        </p:nvSpPr>
        <p:spPr>
          <a:xfrm>
            <a:off x="3383280" y="6089904"/>
            <a:ext cx="2011680" cy="292608"/>
          </a:xfrm>
          <a:prstGeom prst="roundRect">
            <a:avLst>
              <a:gd name="adj" fmla="val 12500"/>
            </a:avLst>
          </a:prstGeom>
          <a:solidFill>
            <a:srgbClr val="E5494D"/>
          </a:solidFill>
          <a:ln/>
        </p:spPr>
      </p:sp>
      <p:sp>
        <p:nvSpPr>
          <p:cNvPr id="85" name="Text 82"/>
          <p:cNvSpPr/>
          <p:nvPr/>
        </p:nvSpPr>
        <p:spPr>
          <a:xfrm>
            <a:off x="3474720" y="60899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Publicite</a:t>
            </a:r>
            <a:endParaRPr lang="en-US" sz="1000" dirty="0"/>
          </a:p>
        </p:txBody>
      </p:sp>
      <p:sp>
        <p:nvSpPr>
          <p:cNvPr id="86" name="Text 83"/>
          <p:cNvSpPr/>
          <p:nvPr/>
        </p:nvSpPr>
        <p:spPr>
          <a:xfrm>
            <a:off x="4480560" y="60899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100" dirty="0"/>
          </a:p>
        </p:txBody>
      </p:sp>
      <p:sp>
        <p:nvSpPr>
          <p:cNvPr id="87" name="Shape 84"/>
          <p:cNvSpPr/>
          <p:nvPr/>
        </p:nvSpPr>
        <p:spPr>
          <a:xfrm>
            <a:off x="7040880" y="4343400"/>
            <a:ext cx="4754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88" name="Text 85"/>
          <p:cNvSpPr/>
          <p:nvPr/>
        </p:nvSpPr>
        <p:spPr>
          <a:xfrm>
            <a:off x="7223760" y="4434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METHODES DE PAIEMENT</a:t>
            </a:r>
            <a:endParaRPr lang="en-US" sz="1000" dirty="0"/>
          </a:p>
        </p:txBody>
      </p:sp>
      <p:sp>
        <p:nvSpPr>
          <p:cNvPr id="89" name="Text 86"/>
          <p:cNvSpPr/>
          <p:nvPr/>
        </p:nvSpPr>
        <p:spPr>
          <a:xfrm>
            <a:off x="7223760" y="46451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Mobile Money — flow critique a optimiser</a:t>
            </a:r>
            <a:endParaRPr lang="en-US" sz="900" dirty="0"/>
          </a:p>
        </p:txBody>
      </p:sp>
      <p:graphicFrame>
        <p:nvGraphicFramePr>
          <p:cNvPr id="90" name="Chart 1" descr=""/>
          <p:cNvGraphicFramePr/>
          <p:nvPr/>
        </p:nvGraphicFramePr>
        <p:xfrm>
          <a:off x="7223760" y="4937760"/>
          <a:ext cx="45720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3A337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743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292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5486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1371600" cy="4572"/>
          </a:xfrm>
          <a:prstGeom prst="rect">
            <a:avLst/>
          </a:prstGeom>
          <a:solidFill>
            <a:srgbClr val="5B4FAA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18872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1887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executive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18288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Apprenants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2423160"/>
            <a:ext cx="36576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4688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24688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10896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1089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74904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7490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5623560"/>
            <a:ext cx="365760" cy="36576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5623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82880" y="6035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a l'accueil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6400800"/>
            <a:ext cx="1371600" cy="4572"/>
          </a:xfrm>
          <a:prstGeom prst="rect">
            <a:avLst/>
          </a:prstGeom>
          <a:solidFill>
            <a:srgbClr val="5B4FAA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4922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82880" y="66751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11680" y="365760"/>
            <a:ext cx="59436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194560" y="50292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PERFORMANCE INSTRUCTEURS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94560" y="713232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quadrants strategiques · trajectoire recommandee A coacher → Top Performer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331720" y="1051560"/>
            <a:ext cx="2743200" cy="1623060"/>
          </a:xfrm>
          <a:prstGeom prst="rect">
            <a:avLst/>
          </a:prstGeom>
          <a:solidFill>
            <a:srgbClr val="EDE9FE">
              <a:alpha val="5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074920" y="1051560"/>
            <a:ext cx="2743200" cy="1623060"/>
          </a:xfrm>
          <a:prstGeom prst="rect">
            <a:avLst/>
          </a:prstGeom>
          <a:solidFill>
            <a:srgbClr val="DCFCE7">
              <a:alpha val="5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331720" y="2674620"/>
            <a:ext cx="2743200" cy="1623060"/>
          </a:xfrm>
          <a:prstGeom prst="rect">
            <a:avLst/>
          </a:prstGeom>
          <a:solidFill>
            <a:srgbClr val="F1F0F5">
              <a:alpha val="5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74920" y="2674620"/>
            <a:ext cx="2743200" cy="1623060"/>
          </a:xfrm>
          <a:prstGeom prst="rect">
            <a:avLst/>
          </a:prstGeom>
          <a:solidFill>
            <a:srgbClr val="FEF3C7">
              <a:alpha val="5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074920" y="1051560"/>
            <a:ext cx="0" cy="3246120"/>
          </a:xfrm>
          <a:prstGeom prst="line">
            <a:avLst/>
          </a:prstGeom>
          <a:noFill/>
          <a:ln w="12700">
            <a:solidFill>
              <a:srgbClr val="E5E7EB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2331720" y="2674620"/>
            <a:ext cx="5486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246888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ACCOMPAGNER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12080" y="1143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C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468880" y="4023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A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COACHER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212080" y="4023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CSAT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870448" y="1389888"/>
            <a:ext cx="329184" cy="329184"/>
          </a:xfrm>
          <a:prstGeom prst="ellipse">
            <a:avLst/>
          </a:prstGeom>
          <a:solidFill>
            <a:srgbClr val="7C6FD9">
              <a:alpha val="70000"/>
            </a:srgbClr>
          </a:solidFill>
          <a:ln w="19050">
            <a:solidFill>
              <a:srgbClr val="7C6F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94960" y="17190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Ndoye Cheick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217920" y="1600200"/>
            <a:ext cx="365760" cy="365760"/>
          </a:xfrm>
          <a:prstGeom prst="ellipse">
            <a:avLst/>
          </a:prstGeom>
          <a:solidFill>
            <a:srgbClr val="7C6FD9">
              <a:alpha val="70000"/>
            </a:srgbClr>
          </a:solidFill>
          <a:ln w="19050">
            <a:solidFill>
              <a:srgbClr val="7C6F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60720" y="19659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Diallo Fatoumata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528816" y="1865376"/>
            <a:ext cx="292608" cy="292608"/>
          </a:xfrm>
          <a:prstGeom prst="ellipse">
            <a:avLst/>
          </a:prstGeom>
          <a:solidFill>
            <a:srgbClr val="7C6FD9">
              <a:alpha val="70000"/>
            </a:srgbClr>
          </a:solidFill>
          <a:ln w="19050">
            <a:solidFill>
              <a:srgbClr val="7C6F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35040" y="21579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Traore Eric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053328" y="3127248"/>
            <a:ext cx="329184" cy="329184"/>
          </a:xfrm>
          <a:prstGeom prst="ellipse">
            <a:avLst/>
          </a:prstGeom>
          <a:solidFill>
            <a:srgbClr val="F2A93B">
              <a:alpha val="70000"/>
            </a:srgbClr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77840" y="345643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Bamba Clarisse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446520" y="3429000"/>
            <a:ext cx="274320" cy="274320"/>
          </a:xfrm>
          <a:prstGeom prst="ellipse">
            <a:avLst/>
          </a:prstGeom>
          <a:solidFill>
            <a:srgbClr val="F2A93B">
              <a:alpha val="70000"/>
            </a:srgbClr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0" y="37033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Konate Aida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3538728" y="1709928"/>
            <a:ext cx="237744" cy="237744"/>
          </a:xfrm>
          <a:prstGeom prst="ellipse">
            <a:avLst/>
          </a:prstGeom>
          <a:solidFill>
            <a:srgbClr val="9CA3AF">
              <a:alpha val="70000"/>
            </a:srgbClr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17520" y="19476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Camara Luc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3785616" y="3511296"/>
            <a:ext cx="292608" cy="292608"/>
          </a:xfrm>
          <a:prstGeom prst="ellipse">
            <a:avLst/>
          </a:prstGeom>
          <a:solidFill>
            <a:srgbClr val="1FA67D">
              <a:alpha val="70000"/>
            </a:srgbClr>
          </a:solidFill>
          <a:ln w="19050">
            <a:solidFill>
              <a:srgbClr val="1FA67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91840" y="380390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Kouassi Yao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346704" y="3712464"/>
            <a:ext cx="256032" cy="256032"/>
          </a:xfrm>
          <a:prstGeom prst="ellipse">
            <a:avLst/>
          </a:prstGeom>
          <a:solidFill>
            <a:srgbClr val="1FA67D">
              <a:alpha val="70000"/>
            </a:srgbClr>
          </a:solidFill>
          <a:ln w="19050">
            <a:solidFill>
              <a:srgbClr val="1FA67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34640" y="396849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Ouattara Serge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2331720" y="43434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Moyen →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 rot="16200000">
            <a:off x="777240" y="26746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Completion ↑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046720" y="365760"/>
            <a:ext cx="3749040" cy="411480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8183880" y="502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ACTIVITE  ·  JOUR x MOIS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183880" y="7132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Q4 — capitaliser sur Black Friday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595360" y="91440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8842248" y="91440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9089136" y="91440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9336024" y="91440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9582912" y="91440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9829800" y="91440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10076688" y="91440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10323576" y="91440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10570464" y="91440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10817352" y="91440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11064240" y="91440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11311128" y="91440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8183880" y="1097280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8613648" y="1115568"/>
            <a:ext cx="210312" cy="21031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78" name="Shape 76"/>
          <p:cNvSpPr/>
          <p:nvPr/>
        </p:nvSpPr>
        <p:spPr>
          <a:xfrm>
            <a:off x="8860536" y="1115568"/>
            <a:ext cx="210312" cy="210312"/>
          </a:xfrm>
          <a:prstGeom prst="rect">
            <a:avLst/>
          </a:prstGeom>
          <a:solidFill>
            <a:srgbClr val="6458C3"/>
          </a:solidFill>
          <a:ln/>
        </p:spPr>
      </p:sp>
      <p:sp>
        <p:nvSpPr>
          <p:cNvPr id="79" name="Shape 77"/>
          <p:cNvSpPr/>
          <p:nvPr/>
        </p:nvSpPr>
        <p:spPr>
          <a:xfrm>
            <a:off x="9107424" y="1115568"/>
            <a:ext cx="210312" cy="210312"/>
          </a:xfrm>
          <a:prstGeom prst="rect">
            <a:avLst/>
          </a:prstGeom>
          <a:solidFill>
            <a:srgbClr val="7469CA"/>
          </a:solidFill>
          <a:ln/>
        </p:spPr>
      </p:sp>
      <p:sp>
        <p:nvSpPr>
          <p:cNvPr id="80" name="Shape 78"/>
          <p:cNvSpPr/>
          <p:nvPr/>
        </p:nvSpPr>
        <p:spPr>
          <a:xfrm>
            <a:off x="9354312" y="1115568"/>
            <a:ext cx="210312" cy="210312"/>
          </a:xfrm>
          <a:prstGeom prst="rect">
            <a:avLst/>
          </a:prstGeom>
          <a:solidFill>
            <a:srgbClr val="8F85D5"/>
          </a:solidFill>
          <a:ln/>
        </p:spPr>
      </p:sp>
      <p:sp>
        <p:nvSpPr>
          <p:cNvPr id="81" name="Shape 79"/>
          <p:cNvSpPr/>
          <p:nvPr/>
        </p:nvSpPr>
        <p:spPr>
          <a:xfrm>
            <a:off x="9601200" y="1115568"/>
            <a:ext cx="210312" cy="210312"/>
          </a:xfrm>
          <a:prstGeom prst="rect">
            <a:avLst/>
          </a:prstGeom>
          <a:solidFill>
            <a:srgbClr val="AAA2E1"/>
          </a:solidFill>
          <a:ln/>
        </p:spPr>
      </p:sp>
      <p:sp>
        <p:nvSpPr>
          <p:cNvPr id="82" name="Shape 80"/>
          <p:cNvSpPr/>
          <p:nvPr/>
        </p:nvSpPr>
        <p:spPr>
          <a:xfrm>
            <a:off x="9848088" y="1115568"/>
            <a:ext cx="210312" cy="210312"/>
          </a:xfrm>
          <a:prstGeom prst="rect">
            <a:avLst/>
          </a:prstGeom>
          <a:solidFill>
            <a:srgbClr val="C5BEED"/>
          </a:solidFill>
          <a:ln/>
        </p:spPr>
      </p:sp>
      <p:sp>
        <p:nvSpPr>
          <p:cNvPr id="83" name="Shape 81"/>
          <p:cNvSpPr/>
          <p:nvPr/>
        </p:nvSpPr>
        <p:spPr>
          <a:xfrm>
            <a:off x="10094976" y="1115568"/>
            <a:ext cx="210312" cy="210312"/>
          </a:xfrm>
          <a:prstGeom prst="rect">
            <a:avLst/>
          </a:prstGeom>
          <a:solidFill>
            <a:srgbClr val="E0DBF8"/>
          </a:solidFill>
          <a:ln/>
        </p:spPr>
      </p:sp>
      <p:sp>
        <p:nvSpPr>
          <p:cNvPr id="84" name="Shape 82"/>
          <p:cNvSpPr/>
          <p:nvPr/>
        </p:nvSpPr>
        <p:spPr>
          <a:xfrm>
            <a:off x="10341864" y="1115568"/>
            <a:ext cx="210312" cy="210312"/>
          </a:xfrm>
          <a:prstGeom prst="rect">
            <a:avLst/>
          </a:prstGeom>
          <a:solidFill>
            <a:srgbClr val="6458C3"/>
          </a:solidFill>
          <a:ln/>
        </p:spPr>
      </p:sp>
      <p:sp>
        <p:nvSpPr>
          <p:cNvPr id="85" name="Shape 83"/>
          <p:cNvSpPr/>
          <p:nvPr/>
        </p:nvSpPr>
        <p:spPr>
          <a:xfrm>
            <a:off x="10588752" y="1115568"/>
            <a:ext cx="210312" cy="210312"/>
          </a:xfrm>
          <a:prstGeom prst="rect">
            <a:avLst/>
          </a:prstGeom>
          <a:solidFill>
            <a:srgbClr val="675BC4"/>
          </a:solidFill>
          <a:ln/>
        </p:spPr>
      </p:sp>
      <p:sp>
        <p:nvSpPr>
          <p:cNvPr id="86" name="Shape 84"/>
          <p:cNvSpPr/>
          <p:nvPr/>
        </p:nvSpPr>
        <p:spPr>
          <a:xfrm>
            <a:off x="10835640" y="1115568"/>
            <a:ext cx="210312" cy="210312"/>
          </a:xfrm>
          <a:prstGeom prst="rect">
            <a:avLst/>
          </a:prstGeom>
          <a:solidFill>
            <a:srgbClr val="8277CF"/>
          </a:solidFill>
          <a:ln/>
        </p:spPr>
      </p:sp>
      <p:sp>
        <p:nvSpPr>
          <p:cNvPr id="87" name="Shape 85"/>
          <p:cNvSpPr/>
          <p:nvPr/>
        </p:nvSpPr>
        <p:spPr>
          <a:xfrm>
            <a:off x="11082528" y="1115568"/>
            <a:ext cx="210312" cy="210312"/>
          </a:xfrm>
          <a:prstGeom prst="rect">
            <a:avLst/>
          </a:prstGeom>
          <a:solidFill>
            <a:srgbClr val="9D94DB"/>
          </a:solidFill>
          <a:ln/>
        </p:spPr>
      </p:sp>
      <p:sp>
        <p:nvSpPr>
          <p:cNvPr id="88" name="Shape 86"/>
          <p:cNvSpPr/>
          <p:nvPr/>
        </p:nvSpPr>
        <p:spPr>
          <a:xfrm>
            <a:off x="11329416" y="1115568"/>
            <a:ext cx="210312" cy="210312"/>
          </a:xfrm>
          <a:prstGeom prst="rect">
            <a:avLst/>
          </a:prstGeom>
          <a:solidFill>
            <a:srgbClr val="B7B0E7"/>
          </a:solidFill>
          <a:ln/>
        </p:spPr>
      </p:sp>
      <p:sp>
        <p:nvSpPr>
          <p:cNvPr id="89" name="Text 87"/>
          <p:cNvSpPr/>
          <p:nvPr/>
        </p:nvSpPr>
        <p:spPr>
          <a:xfrm>
            <a:off x="8183880" y="1344168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8613648" y="1362456"/>
            <a:ext cx="210312" cy="210312"/>
          </a:xfrm>
          <a:prstGeom prst="rect">
            <a:avLst/>
          </a:prstGeom>
          <a:solidFill>
            <a:srgbClr val="8F85D5"/>
          </a:solidFill>
          <a:ln/>
        </p:spPr>
      </p:sp>
      <p:sp>
        <p:nvSpPr>
          <p:cNvPr id="91" name="Shape 89"/>
          <p:cNvSpPr/>
          <p:nvPr/>
        </p:nvSpPr>
        <p:spPr>
          <a:xfrm>
            <a:off x="8860536" y="1362456"/>
            <a:ext cx="210312" cy="210312"/>
          </a:xfrm>
          <a:prstGeom prst="rect">
            <a:avLst/>
          </a:prstGeom>
          <a:solidFill>
            <a:srgbClr val="AAA2E1"/>
          </a:solidFill>
          <a:ln/>
        </p:spPr>
      </p:sp>
      <p:sp>
        <p:nvSpPr>
          <p:cNvPr id="92" name="Shape 90"/>
          <p:cNvSpPr/>
          <p:nvPr/>
        </p:nvSpPr>
        <p:spPr>
          <a:xfrm>
            <a:off x="9107424" y="1362456"/>
            <a:ext cx="210312" cy="210312"/>
          </a:xfrm>
          <a:prstGeom prst="rect">
            <a:avLst/>
          </a:prstGeom>
          <a:solidFill>
            <a:srgbClr val="C5BEED"/>
          </a:solidFill>
          <a:ln/>
        </p:spPr>
      </p:sp>
      <p:sp>
        <p:nvSpPr>
          <p:cNvPr id="93" name="Shape 91"/>
          <p:cNvSpPr/>
          <p:nvPr/>
        </p:nvSpPr>
        <p:spPr>
          <a:xfrm>
            <a:off x="9354312" y="1362456"/>
            <a:ext cx="210312" cy="210312"/>
          </a:xfrm>
          <a:prstGeom prst="rect">
            <a:avLst/>
          </a:prstGeom>
          <a:solidFill>
            <a:srgbClr val="E0DBF8"/>
          </a:solidFill>
          <a:ln/>
        </p:spPr>
      </p:sp>
      <p:sp>
        <p:nvSpPr>
          <p:cNvPr id="94" name="Shape 92"/>
          <p:cNvSpPr/>
          <p:nvPr/>
        </p:nvSpPr>
        <p:spPr>
          <a:xfrm>
            <a:off x="9601200" y="1362456"/>
            <a:ext cx="210312" cy="210312"/>
          </a:xfrm>
          <a:prstGeom prst="rect">
            <a:avLst/>
          </a:prstGeom>
          <a:solidFill>
            <a:srgbClr val="6458C3"/>
          </a:solidFill>
          <a:ln/>
        </p:spPr>
      </p:sp>
      <p:sp>
        <p:nvSpPr>
          <p:cNvPr id="95" name="Shape 93"/>
          <p:cNvSpPr/>
          <p:nvPr/>
        </p:nvSpPr>
        <p:spPr>
          <a:xfrm>
            <a:off x="9848088" y="1362456"/>
            <a:ext cx="210312" cy="210312"/>
          </a:xfrm>
          <a:prstGeom prst="rect">
            <a:avLst/>
          </a:prstGeom>
          <a:solidFill>
            <a:srgbClr val="675BC4"/>
          </a:solidFill>
          <a:ln/>
        </p:spPr>
      </p:sp>
      <p:sp>
        <p:nvSpPr>
          <p:cNvPr id="96" name="Shape 94"/>
          <p:cNvSpPr/>
          <p:nvPr/>
        </p:nvSpPr>
        <p:spPr>
          <a:xfrm>
            <a:off x="10094976" y="1362456"/>
            <a:ext cx="210312" cy="210312"/>
          </a:xfrm>
          <a:prstGeom prst="rect">
            <a:avLst/>
          </a:prstGeom>
          <a:solidFill>
            <a:srgbClr val="8277CF"/>
          </a:solidFill>
          <a:ln/>
        </p:spPr>
      </p:sp>
      <p:sp>
        <p:nvSpPr>
          <p:cNvPr id="97" name="Shape 95"/>
          <p:cNvSpPr/>
          <p:nvPr/>
        </p:nvSpPr>
        <p:spPr>
          <a:xfrm>
            <a:off x="10341864" y="1362456"/>
            <a:ext cx="210312" cy="210312"/>
          </a:xfrm>
          <a:prstGeom prst="rect">
            <a:avLst/>
          </a:prstGeom>
          <a:solidFill>
            <a:srgbClr val="9D94DB"/>
          </a:solidFill>
          <a:ln/>
        </p:spPr>
      </p:sp>
      <p:sp>
        <p:nvSpPr>
          <p:cNvPr id="98" name="Shape 96"/>
          <p:cNvSpPr/>
          <p:nvPr/>
        </p:nvSpPr>
        <p:spPr>
          <a:xfrm>
            <a:off x="10588752" y="1362456"/>
            <a:ext cx="210312" cy="210312"/>
          </a:xfrm>
          <a:prstGeom prst="rect">
            <a:avLst/>
          </a:prstGeom>
          <a:solidFill>
            <a:srgbClr val="B7B0E7"/>
          </a:solidFill>
          <a:ln/>
        </p:spPr>
      </p:sp>
      <p:sp>
        <p:nvSpPr>
          <p:cNvPr id="99" name="Shape 97"/>
          <p:cNvSpPr/>
          <p:nvPr/>
        </p:nvSpPr>
        <p:spPr>
          <a:xfrm>
            <a:off x="10835640" y="1362456"/>
            <a:ext cx="210312" cy="210312"/>
          </a:xfrm>
          <a:prstGeom prst="rect">
            <a:avLst/>
          </a:prstGeom>
          <a:solidFill>
            <a:srgbClr val="5447BC"/>
          </a:solidFill>
          <a:ln/>
        </p:spPr>
      </p:sp>
      <p:sp>
        <p:nvSpPr>
          <p:cNvPr id="100" name="Shape 98"/>
          <p:cNvSpPr/>
          <p:nvPr/>
        </p:nvSpPr>
        <p:spPr>
          <a:xfrm>
            <a:off x="11082528" y="1362456"/>
            <a:ext cx="210312" cy="210312"/>
          </a:xfrm>
          <a:prstGeom prst="rect">
            <a:avLst/>
          </a:prstGeom>
          <a:solidFill>
            <a:srgbClr val="5447BC"/>
          </a:solidFill>
          <a:ln/>
        </p:spPr>
      </p:sp>
      <p:sp>
        <p:nvSpPr>
          <p:cNvPr id="101" name="Shape 99"/>
          <p:cNvSpPr/>
          <p:nvPr/>
        </p:nvSpPr>
        <p:spPr>
          <a:xfrm>
            <a:off x="11329416" y="1362456"/>
            <a:ext cx="210312" cy="210312"/>
          </a:xfrm>
          <a:prstGeom prst="rect">
            <a:avLst/>
          </a:prstGeom>
          <a:solidFill>
            <a:srgbClr val="5447BC"/>
          </a:solidFill>
          <a:ln/>
        </p:spPr>
      </p:sp>
      <p:sp>
        <p:nvSpPr>
          <p:cNvPr id="102" name="Text 100"/>
          <p:cNvSpPr/>
          <p:nvPr/>
        </p:nvSpPr>
        <p:spPr>
          <a:xfrm>
            <a:off x="8183880" y="159105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8613648" y="1609344"/>
            <a:ext cx="210312" cy="210312"/>
          </a:xfrm>
          <a:prstGeom prst="rect">
            <a:avLst/>
          </a:prstGeom>
          <a:solidFill>
            <a:srgbClr val="E0DBF8"/>
          </a:solidFill>
          <a:ln/>
        </p:spPr>
      </p:sp>
      <p:sp>
        <p:nvSpPr>
          <p:cNvPr id="104" name="Shape 102"/>
          <p:cNvSpPr/>
          <p:nvPr/>
        </p:nvSpPr>
        <p:spPr>
          <a:xfrm>
            <a:off x="8860536" y="1609344"/>
            <a:ext cx="210312" cy="210312"/>
          </a:xfrm>
          <a:prstGeom prst="rect">
            <a:avLst/>
          </a:prstGeom>
          <a:solidFill>
            <a:srgbClr val="6458C3"/>
          </a:solidFill>
          <a:ln/>
        </p:spPr>
      </p:sp>
      <p:sp>
        <p:nvSpPr>
          <p:cNvPr id="105" name="Shape 103"/>
          <p:cNvSpPr/>
          <p:nvPr/>
        </p:nvSpPr>
        <p:spPr>
          <a:xfrm>
            <a:off x="9107424" y="1609344"/>
            <a:ext cx="210312" cy="210312"/>
          </a:xfrm>
          <a:prstGeom prst="rect">
            <a:avLst/>
          </a:prstGeom>
          <a:solidFill>
            <a:srgbClr val="675BC4"/>
          </a:solidFill>
          <a:ln/>
        </p:spPr>
      </p:sp>
      <p:sp>
        <p:nvSpPr>
          <p:cNvPr id="106" name="Shape 104"/>
          <p:cNvSpPr/>
          <p:nvPr/>
        </p:nvSpPr>
        <p:spPr>
          <a:xfrm>
            <a:off x="9354312" y="1609344"/>
            <a:ext cx="210312" cy="210312"/>
          </a:xfrm>
          <a:prstGeom prst="rect">
            <a:avLst/>
          </a:prstGeom>
          <a:solidFill>
            <a:srgbClr val="8277CF"/>
          </a:solidFill>
          <a:ln/>
        </p:spPr>
      </p:sp>
      <p:sp>
        <p:nvSpPr>
          <p:cNvPr id="107" name="Shape 105"/>
          <p:cNvSpPr/>
          <p:nvPr/>
        </p:nvSpPr>
        <p:spPr>
          <a:xfrm>
            <a:off x="9601200" y="1609344"/>
            <a:ext cx="210312" cy="210312"/>
          </a:xfrm>
          <a:prstGeom prst="rect">
            <a:avLst/>
          </a:prstGeom>
          <a:solidFill>
            <a:srgbClr val="9D94DB"/>
          </a:solidFill>
          <a:ln/>
        </p:spPr>
      </p:sp>
      <p:sp>
        <p:nvSpPr>
          <p:cNvPr id="108" name="Shape 106"/>
          <p:cNvSpPr/>
          <p:nvPr/>
        </p:nvSpPr>
        <p:spPr>
          <a:xfrm>
            <a:off x="9848088" y="1609344"/>
            <a:ext cx="210312" cy="210312"/>
          </a:xfrm>
          <a:prstGeom prst="rect">
            <a:avLst/>
          </a:prstGeom>
          <a:solidFill>
            <a:srgbClr val="B7B0E7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0094976" y="1609344"/>
            <a:ext cx="210312" cy="210312"/>
          </a:xfrm>
          <a:prstGeom prst="rect">
            <a:avLst/>
          </a:prstGeom>
          <a:solidFill>
            <a:srgbClr val="D2CDF2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0341864" y="1609344"/>
            <a:ext cx="210312" cy="21031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0588752" y="1609344"/>
            <a:ext cx="210312" cy="210312"/>
          </a:xfrm>
          <a:prstGeom prst="rect">
            <a:avLst/>
          </a:prstGeom>
          <a:solidFill>
            <a:srgbClr val="6458C3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0835640" y="1609344"/>
            <a:ext cx="210312" cy="210312"/>
          </a:xfrm>
          <a:prstGeom prst="rect">
            <a:avLst/>
          </a:prstGeom>
          <a:solidFill>
            <a:srgbClr val="7469CA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1082528" y="1609344"/>
            <a:ext cx="210312" cy="210312"/>
          </a:xfrm>
          <a:prstGeom prst="rect">
            <a:avLst/>
          </a:prstGeom>
          <a:solidFill>
            <a:srgbClr val="8F85D5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1329416" y="1609344"/>
            <a:ext cx="210312" cy="210312"/>
          </a:xfrm>
          <a:prstGeom prst="rect">
            <a:avLst/>
          </a:prstGeom>
          <a:solidFill>
            <a:srgbClr val="AAA2E1"/>
          </a:solidFill>
          <a:ln/>
        </p:spPr>
      </p:sp>
      <p:sp>
        <p:nvSpPr>
          <p:cNvPr id="115" name="Text 113"/>
          <p:cNvSpPr/>
          <p:nvPr/>
        </p:nvSpPr>
        <p:spPr>
          <a:xfrm>
            <a:off x="8183880" y="1837944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8613648" y="1856232"/>
            <a:ext cx="210312" cy="210312"/>
          </a:xfrm>
          <a:prstGeom prst="rect">
            <a:avLst/>
          </a:prstGeom>
          <a:solidFill>
            <a:srgbClr val="8277CF"/>
          </a:solidFill>
          <a:ln/>
        </p:spPr>
      </p:sp>
      <p:sp>
        <p:nvSpPr>
          <p:cNvPr id="117" name="Shape 115"/>
          <p:cNvSpPr/>
          <p:nvPr/>
        </p:nvSpPr>
        <p:spPr>
          <a:xfrm>
            <a:off x="8860536" y="1856232"/>
            <a:ext cx="210312" cy="210312"/>
          </a:xfrm>
          <a:prstGeom prst="rect">
            <a:avLst/>
          </a:prstGeom>
          <a:solidFill>
            <a:srgbClr val="9D94DB"/>
          </a:solidFill>
          <a:ln/>
        </p:spPr>
      </p:sp>
      <p:sp>
        <p:nvSpPr>
          <p:cNvPr id="118" name="Shape 116"/>
          <p:cNvSpPr/>
          <p:nvPr/>
        </p:nvSpPr>
        <p:spPr>
          <a:xfrm>
            <a:off x="9107424" y="1856232"/>
            <a:ext cx="210312" cy="210312"/>
          </a:xfrm>
          <a:prstGeom prst="rect">
            <a:avLst/>
          </a:prstGeom>
          <a:solidFill>
            <a:srgbClr val="B7B0E7"/>
          </a:solidFill>
          <a:ln/>
        </p:spPr>
      </p:sp>
      <p:sp>
        <p:nvSpPr>
          <p:cNvPr id="119" name="Shape 117"/>
          <p:cNvSpPr/>
          <p:nvPr/>
        </p:nvSpPr>
        <p:spPr>
          <a:xfrm>
            <a:off x="9354312" y="1856232"/>
            <a:ext cx="210312" cy="210312"/>
          </a:xfrm>
          <a:prstGeom prst="rect">
            <a:avLst/>
          </a:prstGeom>
          <a:solidFill>
            <a:srgbClr val="D2CDF2"/>
          </a:solidFill>
          <a:ln/>
        </p:spPr>
      </p:sp>
      <p:sp>
        <p:nvSpPr>
          <p:cNvPr id="120" name="Shape 118"/>
          <p:cNvSpPr/>
          <p:nvPr/>
        </p:nvSpPr>
        <p:spPr>
          <a:xfrm>
            <a:off x="9601200" y="1856232"/>
            <a:ext cx="210312" cy="21031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9848088" y="1856232"/>
            <a:ext cx="210312" cy="210312"/>
          </a:xfrm>
          <a:prstGeom prst="rect">
            <a:avLst/>
          </a:prstGeom>
          <a:solidFill>
            <a:srgbClr val="6458C3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0094976" y="1856232"/>
            <a:ext cx="210312" cy="210312"/>
          </a:xfrm>
          <a:prstGeom prst="rect">
            <a:avLst/>
          </a:prstGeom>
          <a:solidFill>
            <a:srgbClr val="7469CA"/>
          </a:solidFill>
          <a:ln/>
        </p:spPr>
      </p:sp>
      <p:sp>
        <p:nvSpPr>
          <p:cNvPr id="123" name="Shape 121"/>
          <p:cNvSpPr/>
          <p:nvPr/>
        </p:nvSpPr>
        <p:spPr>
          <a:xfrm>
            <a:off x="10341864" y="1856232"/>
            <a:ext cx="210312" cy="210312"/>
          </a:xfrm>
          <a:prstGeom prst="rect">
            <a:avLst/>
          </a:prstGeom>
          <a:solidFill>
            <a:srgbClr val="8F85D5"/>
          </a:solidFill>
          <a:ln/>
        </p:spPr>
      </p:sp>
      <p:sp>
        <p:nvSpPr>
          <p:cNvPr id="124" name="Shape 122"/>
          <p:cNvSpPr/>
          <p:nvPr/>
        </p:nvSpPr>
        <p:spPr>
          <a:xfrm>
            <a:off x="10588752" y="1856232"/>
            <a:ext cx="210312" cy="210312"/>
          </a:xfrm>
          <a:prstGeom prst="rect">
            <a:avLst/>
          </a:prstGeom>
          <a:solidFill>
            <a:srgbClr val="AAA2E1"/>
          </a:solidFill>
          <a:ln/>
        </p:spPr>
      </p:sp>
      <p:sp>
        <p:nvSpPr>
          <p:cNvPr id="125" name="Shape 123"/>
          <p:cNvSpPr/>
          <p:nvPr/>
        </p:nvSpPr>
        <p:spPr>
          <a:xfrm>
            <a:off x="10835640" y="1856232"/>
            <a:ext cx="210312" cy="210312"/>
          </a:xfrm>
          <a:prstGeom prst="rect">
            <a:avLst/>
          </a:prstGeom>
          <a:solidFill>
            <a:srgbClr val="5447BC"/>
          </a:solidFill>
          <a:ln/>
        </p:spPr>
      </p:sp>
      <p:sp>
        <p:nvSpPr>
          <p:cNvPr id="126" name="Shape 124"/>
          <p:cNvSpPr/>
          <p:nvPr/>
        </p:nvSpPr>
        <p:spPr>
          <a:xfrm>
            <a:off x="11082528" y="1856232"/>
            <a:ext cx="210312" cy="210312"/>
          </a:xfrm>
          <a:prstGeom prst="rect">
            <a:avLst/>
          </a:prstGeom>
          <a:solidFill>
            <a:srgbClr val="5447BC"/>
          </a:solidFill>
          <a:ln/>
        </p:spPr>
      </p:sp>
      <p:sp>
        <p:nvSpPr>
          <p:cNvPr id="127" name="Shape 125"/>
          <p:cNvSpPr/>
          <p:nvPr/>
        </p:nvSpPr>
        <p:spPr>
          <a:xfrm>
            <a:off x="11329416" y="1856232"/>
            <a:ext cx="210312" cy="210312"/>
          </a:xfrm>
          <a:prstGeom prst="rect">
            <a:avLst/>
          </a:prstGeom>
          <a:solidFill>
            <a:srgbClr val="5447BC"/>
          </a:solidFill>
          <a:ln/>
        </p:spPr>
      </p:sp>
      <p:sp>
        <p:nvSpPr>
          <p:cNvPr id="128" name="Text 126"/>
          <p:cNvSpPr/>
          <p:nvPr/>
        </p:nvSpPr>
        <p:spPr>
          <a:xfrm>
            <a:off x="8183880" y="2084832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8613648" y="2103120"/>
            <a:ext cx="210312" cy="210312"/>
          </a:xfrm>
          <a:prstGeom prst="rect">
            <a:avLst/>
          </a:prstGeom>
          <a:solidFill>
            <a:srgbClr val="D2CDF2"/>
          </a:solidFill>
          <a:ln/>
        </p:spPr>
      </p:sp>
      <p:sp>
        <p:nvSpPr>
          <p:cNvPr id="130" name="Shape 128"/>
          <p:cNvSpPr/>
          <p:nvPr/>
        </p:nvSpPr>
        <p:spPr>
          <a:xfrm>
            <a:off x="8860536" y="2103120"/>
            <a:ext cx="210312" cy="21031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9107424" y="2103120"/>
            <a:ext cx="210312" cy="210312"/>
          </a:xfrm>
          <a:prstGeom prst="rect">
            <a:avLst/>
          </a:prstGeom>
          <a:solidFill>
            <a:srgbClr val="6458C3"/>
          </a:solidFill>
          <a:ln/>
        </p:spPr>
      </p:sp>
      <p:sp>
        <p:nvSpPr>
          <p:cNvPr id="132" name="Shape 130"/>
          <p:cNvSpPr/>
          <p:nvPr/>
        </p:nvSpPr>
        <p:spPr>
          <a:xfrm>
            <a:off x="9354312" y="2103120"/>
            <a:ext cx="210312" cy="210312"/>
          </a:xfrm>
          <a:prstGeom prst="rect">
            <a:avLst/>
          </a:prstGeom>
          <a:solidFill>
            <a:srgbClr val="7469CA"/>
          </a:solidFill>
          <a:ln/>
        </p:spPr>
      </p:sp>
      <p:sp>
        <p:nvSpPr>
          <p:cNvPr id="133" name="Shape 131"/>
          <p:cNvSpPr/>
          <p:nvPr/>
        </p:nvSpPr>
        <p:spPr>
          <a:xfrm>
            <a:off x="9601200" y="2103120"/>
            <a:ext cx="210312" cy="210312"/>
          </a:xfrm>
          <a:prstGeom prst="rect">
            <a:avLst/>
          </a:prstGeom>
          <a:solidFill>
            <a:srgbClr val="8F85D5"/>
          </a:solidFill>
          <a:ln/>
        </p:spPr>
      </p:sp>
      <p:sp>
        <p:nvSpPr>
          <p:cNvPr id="134" name="Shape 132"/>
          <p:cNvSpPr/>
          <p:nvPr/>
        </p:nvSpPr>
        <p:spPr>
          <a:xfrm>
            <a:off x="9848088" y="2103120"/>
            <a:ext cx="210312" cy="210312"/>
          </a:xfrm>
          <a:prstGeom prst="rect">
            <a:avLst/>
          </a:prstGeom>
          <a:solidFill>
            <a:srgbClr val="AAA2E1"/>
          </a:solidFill>
          <a:ln/>
        </p:spPr>
      </p:sp>
      <p:sp>
        <p:nvSpPr>
          <p:cNvPr id="135" name="Shape 133"/>
          <p:cNvSpPr/>
          <p:nvPr/>
        </p:nvSpPr>
        <p:spPr>
          <a:xfrm>
            <a:off x="10094976" y="2103120"/>
            <a:ext cx="210312" cy="210312"/>
          </a:xfrm>
          <a:prstGeom prst="rect">
            <a:avLst/>
          </a:prstGeom>
          <a:solidFill>
            <a:srgbClr val="C5BEED"/>
          </a:solidFill>
          <a:ln/>
        </p:spPr>
      </p:sp>
      <p:sp>
        <p:nvSpPr>
          <p:cNvPr id="136" name="Shape 134"/>
          <p:cNvSpPr/>
          <p:nvPr/>
        </p:nvSpPr>
        <p:spPr>
          <a:xfrm>
            <a:off x="10341864" y="2103120"/>
            <a:ext cx="210312" cy="210312"/>
          </a:xfrm>
          <a:prstGeom prst="rect">
            <a:avLst/>
          </a:prstGeom>
          <a:solidFill>
            <a:srgbClr val="E0DBF8"/>
          </a:solidFill>
          <a:ln/>
        </p:spPr>
      </p:sp>
      <p:sp>
        <p:nvSpPr>
          <p:cNvPr id="137" name="Shape 135"/>
          <p:cNvSpPr/>
          <p:nvPr/>
        </p:nvSpPr>
        <p:spPr>
          <a:xfrm>
            <a:off x="10588752" y="2103120"/>
            <a:ext cx="210312" cy="210312"/>
          </a:xfrm>
          <a:prstGeom prst="rect">
            <a:avLst/>
          </a:prstGeom>
          <a:solidFill>
            <a:srgbClr val="6458C3"/>
          </a:solidFill>
          <a:ln/>
        </p:spPr>
      </p:sp>
      <p:sp>
        <p:nvSpPr>
          <p:cNvPr id="138" name="Shape 136"/>
          <p:cNvSpPr/>
          <p:nvPr/>
        </p:nvSpPr>
        <p:spPr>
          <a:xfrm>
            <a:off x="10835640" y="2103120"/>
            <a:ext cx="210312" cy="210312"/>
          </a:xfrm>
          <a:prstGeom prst="rect">
            <a:avLst/>
          </a:prstGeom>
          <a:solidFill>
            <a:srgbClr val="675BC4"/>
          </a:solidFill>
          <a:ln/>
        </p:spPr>
      </p:sp>
      <p:sp>
        <p:nvSpPr>
          <p:cNvPr id="139" name="Shape 137"/>
          <p:cNvSpPr/>
          <p:nvPr/>
        </p:nvSpPr>
        <p:spPr>
          <a:xfrm>
            <a:off x="11082528" y="2103120"/>
            <a:ext cx="210312" cy="210312"/>
          </a:xfrm>
          <a:prstGeom prst="rect">
            <a:avLst/>
          </a:prstGeom>
          <a:solidFill>
            <a:srgbClr val="8277CF"/>
          </a:solidFill>
          <a:ln/>
        </p:spPr>
      </p:sp>
      <p:sp>
        <p:nvSpPr>
          <p:cNvPr id="140" name="Shape 138"/>
          <p:cNvSpPr/>
          <p:nvPr/>
        </p:nvSpPr>
        <p:spPr>
          <a:xfrm>
            <a:off x="11329416" y="2103120"/>
            <a:ext cx="210312" cy="210312"/>
          </a:xfrm>
          <a:prstGeom prst="rect">
            <a:avLst/>
          </a:prstGeom>
          <a:solidFill>
            <a:srgbClr val="9D94DB"/>
          </a:solidFill>
          <a:ln/>
        </p:spPr>
      </p:sp>
      <p:sp>
        <p:nvSpPr>
          <p:cNvPr id="141" name="Text 139"/>
          <p:cNvSpPr/>
          <p:nvPr/>
        </p:nvSpPr>
        <p:spPr>
          <a:xfrm>
            <a:off x="8183880" y="2331720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8613648" y="2350008"/>
            <a:ext cx="210312" cy="210312"/>
          </a:xfrm>
          <a:prstGeom prst="rect">
            <a:avLst/>
          </a:prstGeom>
          <a:solidFill>
            <a:srgbClr val="7469CA"/>
          </a:solidFill>
          <a:ln/>
        </p:spPr>
      </p:sp>
      <p:sp>
        <p:nvSpPr>
          <p:cNvPr id="143" name="Shape 141"/>
          <p:cNvSpPr/>
          <p:nvPr/>
        </p:nvSpPr>
        <p:spPr>
          <a:xfrm>
            <a:off x="8860536" y="2350008"/>
            <a:ext cx="210312" cy="210312"/>
          </a:xfrm>
          <a:prstGeom prst="rect">
            <a:avLst/>
          </a:prstGeom>
          <a:solidFill>
            <a:srgbClr val="8F85D5"/>
          </a:solidFill>
          <a:ln/>
        </p:spPr>
      </p:sp>
      <p:sp>
        <p:nvSpPr>
          <p:cNvPr id="144" name="Shape 142"/>
          <p:cNvSpPr/>
          <p:nvPr/>
        </p:nvSpPr>
        <p:spPr>
          <a:xfrm>
            <a:off x="9107424" y="2350008"/>
            <a:ext cx="210312" cy="210312"/>
          </a:xfrm>
          <a:prstGeom prst="rect">
            <a:avLst/>
          </a:prstGeom>
          <a:solidFill>
            <a:srgbClr val="AAA2E1"/>
          </a:solidFill>
          <a:ln/>
        </p:spPr>
      </p:sp>
      <p:sp>
        <p:nvSpPr>
          <p:cNvPr id="145" name="Shape 143"/>
          <p:cNvSpPr/>
          <p:nvPr/>
        </p:nvSpPr>
        <p:spPr>
          <a:xfrm>
            <a:off x="9354312" y="2350008"/>
            <a:ext cx="210312" cy="210312"/>
          </a:xfrm>
          <a:prstGeom prst="rect">
            <a:avLst/>
          </a:prstGeom>
          <a:solidFill>
            <a:srgbClr val="C5BEED"/>
          </a:solidFill>
          <a:ln/>
        </p:spPr>
      </p:sp>
      <p:sp>
        <p:nvSpPr>
          <p:cNvPr id="146" name="Shape 144"/>
          <p:cNvSpPr/>
          <p:nvPr/>
        </p:nvSpPr>
        <p:spPr>
          <a:xfrm>
            <a:off x="9601200" y="2350008"/>
            <a:ext cx="210312" cy="210312"/>
          </a:xfrm>
          <a:prstGeom prst="rect">
            <a:avLst/>
          </a:prstGeom>
          <a:solidFill>
            <a:srgbClr val="E0DBF8"/>
          </a:solidFill>
          <a:ln/>
        </p:spPr>
      </p:sp>
      <p:sp>
        <p:nvSpPr>
          <p:cNvPr id="147" name="Shape 145"/>
          <p:cNvSpPr/>
          <p:nvPr/>
        </p:nvSpPr>
        <p:spPr>
          <a:xfrm>
            <a:off x="9848088" y="2350008"/>
            <a:ext cx="210312" cy="210312"/>
          </a:xfrm>
          <a:prstGeom prst="rect">
            <a:avLst/>
          </a:prstGeom>
          <a:solidFill>
            <a:srgbClr val="6458C3"/>
          </a:solidFill>
          <a:ln/>
        </p:spPr>
      </p:sp>
      <p:sp>
        <p:nvSpPr>
          <p:cNvPr id="148" name="Shape 146"/>
          <p:cNvSpPr/>
          <p:nvPr/>
        </p:nvSpPr>
        <p:spPr>
          <a:xfrm>
            <a:off x="10094976" y="2350008"/>
            <a:ext cx="210312" cy="210312"/>
          </a:xfrm>
          <a:prstGeom prst="rect">
            <a:avLst/>
          </a:prstGeom>
          <a:solidFill>
            <a:srgbClr val="675BC4"/>
          </a:solidFill>
          <a:ln/>
        </p:spPr>
      </p:sp>
      <p:sp>
        <p:nvSpPr>
          <p:cNvPr id="149" name="Shape 147"/>
          <p:cNvSpPr/>
          <p:nvPr/>
        </p:nvSpPr>
        <p:spPr>
          <a:xfrm>
            <a:off x="10341864" y="2350008"/>
            <a:ext cx="210312" cy="210312"/>
          </a:xfrm>
          <a:prstGeom prst="rect">
            <a:avLst/>
          </a:prstGeom>
          <a:solidFill>
            <a:srgbClr val="8277CF"/>
          </a:solidFill>
          <a:ln/>
        </p:spPr>
      </p:sp>
      <p:sp>
        <p:nvSpPr>
          <p:cNvPr id="150" name="Shape 148"/>
          <p:cNvSpPr/>
          <p:nvPr/>
        </p:nvSpPr>
        <p:spPr>
          <a:xfrm>
            <a:off x="10588752" y="2350008"/>
            <a:ext cx="210312" cy="210312"/>
          </a:xfrm>
          <a:prstGeom prst="rect">
            <a:avLst/>
          </a:prstGeom>
          <a:solidFill>
            <a:srgbClr val="9D94DB"/>
          </a:solidFill>
          <a:ln/>
        </p:spPr>
      </p:sp>
      <p:sp>
        <p:nvSpPr>
          <p:cNvPr id="151" name="Shape 149"/>
          <p:cNvSpPr/>
          <p:nvPr/>
        </p:nvSpPr>
        <p:spPr>
          <a:xfrm>
            <a:off x="10835640" y="2350008"/>
            <a:ext cx="210312" cy="210312"/>
          </a:xfrm>
          <a:prstGeom prst="rect">
            <a:avLst/>
          </a:prstGeom>
          <a:solidFill>
            <a:srgbClr val="B7B0E7"/>
          </a:solidFill>
          <a:ln/>
        </p:spPr>
      </p:sp>
      <p:sp>
        <p:nvSpPr>
          <p:cNvPr id="152" name="Shape 150"/>
          <p:cNvSpPr/>
          <p:nvPr/>
        </p:nvSpPr>
        <p:spPr>
          <a:xfrm>
            <a:off x="11082528" y="2350008"/>
            <a:ext cx="210312" cy="210312"/>
          </a:xfrm>
          <a:prstGeom prst="rect">
            <a:avLst/>
          </a:prstGeom>
          <a:solidFill>
            <a:srgbClr val="D2CDF2"/>
          </a:solidFill>
          <a:ln/>
        </p:spPr>
      </p:sp>
      <p:sp>
        <p:nvSpPr>
          <p:cNvPr id="153" name="Shape 151"/>
          <p:cNvSpPr/>
          <p:nvPr/>
        </p:nvSpPr>
        <p:spPr>
          <a:xfrm>
            <a:off x="11329416" y="2350008"/>
            <a:ext cx="210312" cy="21031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54" name="Text 152"/>
          <p:cNvSpPr/>
          <p:nvPr/>
        </p:nvSpPr>
        <p:spPr>
          <a:xfrm>
            <a:off x="8183880" y="2578608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8613648" y="2596896"/>
            <a:ext cx="210312" cy="210312"/>
          </a:xfrm>
          <a:prstGeom prst="rect">
            <a:avLst/>
          </a:prstGeom>
          <a:solidFill>
            <a:srgbClr val="C5BEED"/>
          </a:solidFill>
          <a:ln/>
        </p:spPr>
      </p:sp>
      <p:sp>
        <p:nvSpPr>
          <p:cNvPr id="156" name="Shape 154"/>
          <p:cNvSpPr/>
          <p:nvPr/>
        </p:nvSpPr>
        <p:spPr>
          <a:xfrm>
            <a:off x="8860536" y="2596896"/>
            <a:ext cx="210312" cy="210312"/>
          </a:xfrm>
          <a:prstGeom prst="rect">
            <a:avLst/>
          </a:prstGeom>
          <a:solidFill>
            <a:srgbClr val="E0DBF8"/>
          </a:solidFill>
          <a:ln/>
        </p:spPr>
      </p:sp>
      <p:sp>
        <p:nvSpPr>
          <p:cNvPr id="157" name="Shape 155"/>
          <p:cNvSpPr/>
          <p:nvPr/>
        </p:nvSpPr>
        <p:spPr>
          <a:xfrm>
            <a:off x="9107424" y="2596896"/>
            <a:ext cx="210312" cy="210312"/>
          </a:xfrm>
          <a:prstGeom prst="rect">
            <a:avLst/>
          </a:prstGeom>
          <a:solidFill>
            <a:srgbClr val="6458C3"/>
          </a:solidFill>
          <a:ln/>
        </p:spPr>
      </p:sp>
      <p:sp>
        <p:nvSpPr>
          <p:cNvPr id="158" name="Shape 156"/>
          <p:cNvSpPr/>
          <p:nvPr/>
        </p:nvSpPr>
        <p:spPr>
          <a:xfrm>
            <a:off x="9354312" y="2596896"/>
            <a:ext cx="210312" cy="210312"/>
          </a:xfrm>
          <a:prstGeom prst="rect">
            <a:avLst/>
          </a:prstGeom>
          <a:solidFill>
            <a:srgbClr val="675BC4"/>
          </a:solidFill>
          <a:ln/>
        </p:spPr>
      </p:sp>
      <p:sp>
        <p:nvSpPr>
          <p:cNvPr id="159" name="Shape 157"/>
          <p:cNvSpPr/>
          <p:nvPr/>
        </p:nvSpPr>
        <p:spPr>
          <a:xfrm>
            <a:off x="9601200" y="2596896"/>
            <a:ext cx="210312" cy="210312"/>
          </a:xfrm>
          <a:prstGeom prst="rect">
            <a:avLst/>
          </a:prstGeom>
          <a:solidFill>
            <a:srgbClr val="8277CF"/>
          </a:solidFill>
          <a:ln/>
        </p:spPr>
      </p:sp>
      <p:sp>
        <p:nvSpPr>
          <p:cNvPr id="160" name="Shape 158"/>
          <p:cNvSpPr/>
          <p:nvPr/>
        </p:nvSpPr>
        <p:spPr>
          <a:xfrm>
            <a:off x="9848088" y="2596896"/>
            <a:ext cx="210312" cy="210312"/>
          </a:xfrm>
          <a:prstGeom prst="rect">
            <a:avLst/>
          </a:prstGeom>
          <a:solidFill>
            <a:srgbClr val="9D94DB"/>
          </a:solidFill>
          <a:ln/>
        </p:spPr>
      </p:sp>
      <p:sp>
        <p:nvSpPr>
          <p:cNvPr id="161" name="Shape 159"/>
          <p:cNvSpPr/>
          <p:nvPr/>
        </p:nvSpPr>
        <p:spPr>
          <a:xfrm>
            <a:off x="10094976" y="2596896"/>
            <a:ext cx="210312" cy="210312"/>
          </a:xfrm>
          <a:prstGeom prst="rect">
            <a:avLst/>
          </a:prstGeom>
          <a:solidFill>
            <a:srgbClr val="B7B0E7"/>
          </a:solidFill>
          <a:ln/>
        </p:spPr>
      </p:sp>
      <p:sp>
        <p:nvSpPr>
          <p:cNvPr id="162" name="Shape 160"/>
          <p:cNvSpPr/>
          <p:nvPr/>
        </p:nvSpPr>
        <p:spPr>
          <a:xfrm>
            <a:off x="10341864" y="2596896"/>
            <a:ext cx="210312" cy="210312"/>
          </a:xfrm>
          <a:prstGeom prst="rect">
            <a:avLst/>
          </a:prstGeom>
          <a:solidFill>
            <a:srgbClr val="D2CDF2"/>
          </a:solidFill>
          <a:ln/>
        </p:spPr>
      </p:sp>
      <p:sp>
        <p:nvSpPr>
          <p:cNvPr id="163" name="Shape 161"/>
          <p:cNvSpPr/>
          <p:nvPr/>
        </p:nvSpPr>
        <p:spPr>
          <a:xfrm>
            <a:off x="10588752" y="2596896"/>
            <a:ext cx="210312" cy="21031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10835640" y="2596896"/>
            <a:ext cx="210312" cy="210312"/>
          </a:xfrm>
          <a:prstGeom prst="rect">
            <a:avLst/>
          </a:prstGeom>
          <a:solidFill>
            <a:srgbClr val="6458C3"/>
          </a:solidFill>
          <a:ln/>
        </p:spPr>
      </p:sp>
      <p:sp>
        <p:nvSpPr>
          <p:cNvPr id="165" name="Shape 163"/>
          <p:cNvSpPr/>
          <p:nvPr/>
        </p:nvSpPr>
        <p:spPr>
          <a:xfrm>
            <a:off x="11082528" y="2596896"/>
            <a:ext cx="210312" cy="210312"/>
          </a:xfrm>
          <a:prstGeom prst="rect">
            <a:avLst/>
          </a:prstGeom>
          <a:solidFill>
            <a:srgbClr val="7469CA"/>
          </a:solidFill>
          <a:ln/>
        </p:spPr>
      </p:sp>
      <p:sp>
        <p:nvSpPr>
          <p:cNvPr id="166" name="Shape 164"/>
          <p:cNvSpPr/>
          <p:nvPr/>
        </p:nvSpPr>
        <p:spPr>
          <a:xfrm>
            <a:off x="11329416" y="2596896"/>
            <a:ext cx="210312" cy="210312"/>
          </a:xfrm>
          <a:prstGeom prst="rect">
            <a:avLst/>
          </a:prstGeom>
          <a:solidFill>
            <a:srgbClr val="8F85D5"/>
          </a:solidFill>
          <a:ln/>
        </p:spPr>
      </p:sp>
      <p:sp>
        <p:nvSpPr>
          <p:cNvPr id="167" name="Shape 165"/>
          <p:cNvSpPr/>
          <p:nvPr/>
        </p:nvSpPr>
        <p:spPr>
          <a:xfrm>
            <a:off x="10835640" y="914400"/>
            <a:ext cx="0" cy="182880"/>
          </a:xfrm>
          <a:prstGeom prst="line">
            <a:avLst/>
          </a:prstGeom>
          <a:noFill/>
          <a:ln w="12700">
            <a:solidFill>
              <a:srgbClr val="E5494D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10698480" y="704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4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↑</a:t>
            </a:r>
            <a:endParaRPr lang="en-US" sz="900" dirty="0"/>
          </a:p>
        </p:txBody>
      </p:sp>
      <p:sp>
        <p:nvSpPr>
          <p:cNvPr id="169" name="Text 167"/>
          <p:cNvSpPr/>
          <p:nvPr/>
        </p:nvSpPr>
        <p:spPr>
          <a:xfrm>
            <a:off x="8595360" y="333756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700" dirty="0"/>
          </a:p>
        </p:txBody>
      </p:sp>
      <p:sp>
        <p:nvSpPr>
          <p:cNvPr id="170" name="Text 168"/>
          <p:cNvSpPr/>
          <p:nvPr/>
        </p:nvSpPr>
        <p:spPr>
          <a:xfrm>
            <a:off x="10698480" y="333756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8595360" y="3520440"/>
            <a:ext cx="365760" cy="13716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961120" y="3520440"/>
            <a:ext cx="365760" cy="137160"/>
          </a:xfrm>
          <a:prstGeom prst="rect">
            <a:avLst/>
          </a:prstGeom>
          <a:solidFill>
            <a:srgbClr val="D6D1F4"/>
          </a:solidFill>
          <a:ln/>
        </p:spPr>
      </p:sp>
      <p:sp>
        <p:nvSpPr>
          <p:cNvPr id="173" name="Shape 171"/>
          <p:cNvSpPr/>
          <p:nvPr/>
        </p:nvSpPr>
        <p:spPr>
          <a:xfrm>
            <a:off x="9326880" y="3520440"/>
            <a:ext cx="365760" cy="137160"/>
          </a:xfrm>
          <a:prstGeom prst="rect">
            <a:avLst/>
          </a:prstGeom>
          <a:solidFill>
            <a:srgbClr val="BFB8EA"/>
          </a:solidFill>
          <a:ln/>
        </p:spPr>
      </p:sp>
      <p:sp>
        <p:nvSpPr>
          <p:cNvPr id="174" name="Shape 172"/>
          <p:cNvSpPr/>
          <p:nvPr/>
        </p:nvSpPr>
        <p:spPr>
          <a:xfrm>
            <a:off x="9692640" y="3520440"/>
            <a:ext cx="365760" cy="137160"/>
          </a:xfrm>
          <a:prstGeom prst="rect">
            <a:avLst/>
          </a:prstGeom>
          <a:solidFill>
            <a:srgbClr val="A8A0E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10058400" y="3520440"/>
            <a:ext cx="365760" cy="137160"/>
          </a:xfrm>
          <a:prstGeom prst="rect">
            <a:avLst/>
          </a:prstGeom>
          <a:solidFill>
            <a:srgbClr val="9187D6"/>
          </a:solidFill>
          <a:ln/>
        </p:spPr>
      </p:sp>
      <p:sp>
        <p:nvSpPr>
          <p:cNvPr id="176" name="Shape 174"/>
          <p:cNvSpPr/>
          <p:nvPr/>
        </p:nvSpPr>
        <p:spPr>
          <a:xfrm>
            <a:off x="10424160" y="3520440"/>
            <a:ext cx="365760" cy="137160"/>
          </a:xfrm>
          <a:prstGeom prst="rect">
            <a:avLst/>
          </a:prstGeom>
          <a:solidFill>
            <a:srgbClr val="7A6FCC"/>
          </a:solidFill>
          <a:ln/>
        </p:spPr>
      </p:sp>
      <p:sp>
        <p:nvSpPr>
          <p:cNvPr id="177" name="Shape 175"/>
          <p:cNvSpPr/>
          <p:nvPr/>
        </p:nvSpPr>
        <p:spPr>
          <a:xfrm>
            <a:off x="10789920" y="3520440"/>
            <a:ext cx="365760" cy="137160"/>
          </a:xfrm>
          <a:prstGeom prst="rect">
            <a:avLst/>
          </a:prstGeom>
          <a:solidFill>
            <a:srgbClr val="6356C2"/>
          </a:solidFill>
          <a:ln/>
        </p:spPr>
      </p:sp>
      <p:sp>
        <p:nvSpPr>
          <p:cNvPr id="178" name="Shape 176"/>
          <p:cNvSpPr/>
          <p:nvPr/>
        </p:nvSpPr>
        <p:spPr>
          <a:xfrm>
            <a:off x="11155680" y="3520440"/>
            <a:ext cx="365760" cy="137160"/>
          </a:xfrm>
          <a:prstGeom prst="rect">
            <a:avLst/>
          </a:prstGeom>
          <a:solidFill>
            <a:srgbClr val="4C3EB8"/>
          </a:solidFill>
          <a:ln/>
        </p:spPr>
      </p:sp>
      <p:sp>
        <p:nvSpPr>
          <p:cNvPr id="179" name="Shape 177"/>
          <p:cNvSpPr/>
          <p:nvPr/>
        </p:nvSpPr>
        <p:spPr>
          <a:xfrm>
            <a:off x="2011680" y="4617720"/>
            <a:ext cx="2377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180" name="Shape 178"/>
          <p:cNvSpPr/>
          <p:nvPr/>
        </p:nvSpPr>
        <p:spPr>
          <a:xfrm>
            <a:off x="2011680" y="4617720"/>
            <a:ext cx="2377440" cy="45720"/>
          </a:xfrm>
          <a:prstGeom prst="rect">
            <a:avLst/>
          </a:prstGeom>
          <a:solidFill>
            <a:srgbClr val="E5494D"/>
          </a:solidFill>
          <a:ln/>
        </p:spPr>
      </p:sp>
      <p:sp>
        <p:nvSpPr>
          <p:cNvPr id="181" name="Text 179"/>
          <p:cNvSpPr/>
          <p:nvPr/>
        </p:nvSpPr>
        <p:spPr>
          <a:xfrm>
            <a:off x="2176272" y="4754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IA</a:t>
            </a:r>
            <a:endParaRPr lang="en-US" sz="1200" dirty="0"/>
          </a:p>
        </p:txBody>
      </p:sp>
      <p:sp>
        <p:nvSpPr>
          <p:cNvPr id="182" name="Text 180"/>
          <p:cNvSpPr/>
          <p:nvPr/>
        </p:nvSpPr>
        <p:spPr>
          <a:xfrm>
            <a:off x="2176272" y="5029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4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21,4%</a:t>
            </a:r>
            <a:endParaRPr lang="en-US" sz="2800" dirty="0"/>
          </a:p>
        </p:txBody>
      </p:sp>
      <p:sp>
        <p:nvSpPr>
          <p:cNvPr id="183" name="Text 181"/>
          <p:cNvSpPr/>
          <p:nvPr/>
        </p:nvSpPr>
        <p:spPr>
          <a:xfrm>
            <a:off x="2176272" y="55321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 moyen</a:t>
            </a:r>
            <a:endParaRPr lang="en-US" sz="900" dirty="0"/>
          </a:p>
        </p:txBody>
      </p:sp>
      <p:sp>
        <p:nvSpPr>
          <p:cNvPr id="184" name="Shape 182"/>
          <p:cNvSpPr/>
          <p:nvPr/>
        </p:nvSpPr>
        <p:spPr>
          <a:xfrm>
            <a:off x="2176272" y="5760720"/>
            <a:ext cx="457200" cy="18288"/>
          </a:xfrm>
          <a:prstGeom prst="rect">
            <a:avLst/>
          </a:prstGeom>
          <a:solidFill>
            <a:srgbClr val="F1F0F5"/>
          </a:solidFill>
          <a:ln/>
        </p:spPr>
      </p:sp>
      <p:sp>
        <p:nvSpPr>
          <p:cNvPr id="185" name="Text 183"/>
          <p:cNvSpPr/>
          <p:nvPr/>
        </p:nvSpPr>
        <p:spPr>
          <a:xfrm>
            <a:off x="2176272" y="58521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PIRE PARCOURS</a:t>
            </a:r>
            <a:endParaRPr lang="en-US" sz="800" dirty="0"/>
          </a:p>
        </p:txBody>
      </p:sp>
      <p:sp>
        <p:nvSpPr>
          <p:cNvPr id="186" name="Text 184"/>
          <p:cNvSpPr/>
          <p:nvPr/>
        </p:nvSpPr>
        <p:spPr>
          <a:xfrm>
            <a:off x="2176272" y="6035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&amp; BDD</a:t>
            </a:r>
            <a:endParaRPr lang="en-US" sz="1100" dirty="0"/>
          </a:p>
        </p:txBody>
      </p:sp>
      <p:sp>
        <p:nvSpPr>
          <p:cNvPr id="187" name="Shape 185"/>
          <p:cNvSpPr/>
          <p:nvPr/>
        </p:nvSpPr>
        <p:spPr>
          <a:xfrm>
            <a:off x="4480560" y="4617720"/>
            <a:ext cx="2377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188" name="Shape 186"/>
          <p:cNvSpPr/>
          <p:nvPr/>
        </p:nvSpPr>
        <p:spPr>
          <a:xfrm>
            <a:off x="4480560" y="4617720"/>
            <a:ext cx="2377440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89" name="Text 187"/>
          <p:cNvSpPr/>
          <p:nvPr/>
        </p:nvSpPr>
        <p:spPr>
          <a:xfrm>
            <a:off x="4645152" y="4754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Web</a:t>
            </a:r>
            <a:endParaRPr lang="en-US" sz="1200" dirty="0"/>
          </a:p>
        </p:txBody>
      </p:sp>
      <p:sp>
        <p:nvSpPr>
          <p:cNvPr id="190" name="Text 188"/>
          <p:cNvSpPr/>
          <p:nvPr/>
        </p:nvSpPr>
        <p:spPr>
          <a:xfrm>
            <a:off x="4645152" y="5029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20,1%</a:t>
            </a:r>
            <a:endParaRPr lang="en-US" sz="2800" dirty="0"/>
          </a:p>
        </p:txBody>
      </p:sp>
      <p:sp>
        <p:nvSpPr>
          <p:cNvPr id="191" name="Text 189"/>
          <p:cNvSpPr/>
          <p:nvPr/>
        </p:nvSpPr>
        <p:spPr>
          <a:xfrm>
            <a:off x="4645152" y="55321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 moyen</a:t>
            </a:r>
            <a:endParaRPr lang="en-US" sz="900" dirty="0"/>
          </a:p>
        </p:txBody>
      </p:sp>
      <p:sp>
        <p:nvSpPr>
          <p:cNvPr id="192" name="Shape 190"/>
          <p:cNvSpPr/>
          <p:nvPr/>
        </p:nvSpPr>
        <p:spPr>
          <a:xfrm>
            <a:off x="4645152" y="5760720"/>
            <a:ext cx="457200" cy="18288"/>
          </a:xfrm>
          <a:prstGeom prst="rect">
            <a:avLst/>
          </a:prstGeom>
          <a:solidFill>
            <a:srgbClr val="F1F0F5"/>
          </a:solidFill>
          <a:ln/>
        </p:spPr>
      </p:sp>
      <p:sp>
        <p:nvSpPr>
          <p:cNvPr id="193" name="Text 191"/>
          <p:cNvSpPr/>
          <p:nvPr/>
        </p:nvSpPr>
        <p:spPr>
          <a:xfrm>
            <a:off x="4645152" y="58521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PIRE PARCOURS</a:t>
            </a:r>
            <a:endParaRPr lang="en-US" sz="800" dirty="0"/>
          </a:p>
        </p:txBody>
      </p:sp>
      <p:sp>
        <p:nvSpPr>
          <p:cNvPr id="194" name="Text 192"/>
          <p:cNvSpPr/>
          <p:nvPr/>
        </p:nvSpPr>
        <p:spPr>
          <a:xfrm>
            <a:off x="4645152" y="6035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Django</a:t>
            </a:r>
            <a:endParaRPr lang="en-US" sz="1100" dirty="0"/>
          </a:p>
        </p:txBody>
      </p:sp>
      <p:sp>
        <p:nvSpPr>
          <p:cNvPr id="195" name="Shape 193"/>
          <p:cNvSpPr/>
          <p:nvPr/>
        </p:nvSpPr>
        <p:spPr>
          <a:xfrm>
            <a:off x="6949440" y="4617720"/>
            <a:ext cx="2377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196" name="Shape 194"/>
          <p:cNvSpPr/>
          <p:nvPr/>
        </p:nvSpPr>
        <p:spPr>
          <a:xfrm>
            <a:off x="6949440" y="4617720"/>
            <a:ext cx="2377440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97" name="Text 195"/>
          <p:cNvSpPr/>
          <p:nvPr/>
        </p:nvSpPr>
        <p:spPr>
          <a:xfrm>
            <a:off x="7114032" y="4754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Dig.</a:t>
            </a:r>
            <a:endParaRPr lang="en-US" sz="1200" dirty="0"/>
          </a:p>
        </p:txBody>
      </p:sp>
      <p:sp>
        <p:nvSpPr>
          <p:cNvPr id="198" name="Text 196"/>
          <p:cNvSpPr/>
          <p:nvPr/>
        </p:nvSpPr>
        <p:spPr>
          <a:xfrm>
            <a:off x="7114032" y="5029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21,9%</a:t>
            </a:r>
            <a:endParaRPr lang="en-US" sz="2800" dirty="0"/>
          </a:p>
        </p:txBody>
      </p:sp>
      <p:sp>
        <p:nvSpPr>
          <p:cNvPr id="199" name="Text 197"/>
          <p:cNvSpPr/>
          <p:nvPr/>
        </p:nvSpPr>
        <p:spPr>
          <a:xfrm>
            <a:off x="7114032" y="55321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 moyen</a:t>
            </a:r>
            <a:endParaRPr lang="en-US" sz="900" dirty="0"/>
          </a:p>
        </p:txBody>
      </p:sp>
      <p:sp>
        <p:nvSpPr>
          <p:cNvPr id="200" name="Shape 198"/>
          <p:cNvSpPr/>
          <p:nvPr/>
        </p:nvSpPr>
        <p:spPr>
          <a:xfrm>
            <a:off x="7114032" y="5760720"/>
            <a:ext cx="457200" cy="18288"/>
          </a:xfrm>
          <a:prstGeom prst="rect">
            <a:avLst/>
          </a:prstGeom>
          <a:solidFill>
            <a:srgbClr val="F1F0F5"/>
          </a:solidFill>
          <a:ln/>
        </p:spPr>
      </p:sp>
      <p:sp>
        <p:nvSpPr>
          <p:cNvPr id="201" name="Text 199"/>
          <p:cNvSpPr/>
          <p:nvPr/>
        </p:nvSpPr>
        <p:spPr>
          <a:xfrm>
            <a:off x="7114032" y="58521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PIRE PARCOURS</a:t>
            </a:r>
            <a:endParaRPr lang="en-US" sz="800" dirty="0"/>
          </a:p>
        </p:txBody>
      </p:sp>
      <p:sp>
        <p:nvSpPr>
          <p:cNvPr id="202" name="Text 200"/>
          <p:cNvSpPr/>
          <p:nvPr/>
        </p:nvSpPr>
        <p:spPr>
          <a:xfrm>
            <a:off x="7114032" y="6035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Dig.</a:t>
            </a:r>
            <a:endParaRPr lang="en-US" sz="1100" dirty="0"/>
          </a:p>
        </p:txBody>
      </p:sp>
      <p:sp>
        <p:nvSpPr>
          <p:cNvPr id="203" name="Shape 201"/>
          <p:cNvSpPr/>
          <p:nvPr/>
        </p:nvSpPr>
        <p:spPr>
          <a:xfrm>
            <a:off x="9418320" y="4617720"/>
            <a:ext cx="2377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204" name="Shape 202"/>
          <p:cNvSpPr/>
          <p:nvPr/>
        </p:nvSpPr>
        <p:spPr>
          <a:xfrm>
            <a:off x="9418320" y="4617720"/>
            <a:ext cx="2377440" cy="45720"/>
          </a:xfrm>
          <a:prstGeom prst="rect">
            <a:avLst/>
          </a:prstGeom>
          <a:solidFill>
            <a:srgbClr val="E5494D"/>
          </a:solidFill>
          <a:ln/>
        </p:spPr>
      </p:sp>
      <p:sp>
        <p:nvSpPr>
          <p:cNvPr id="205" name="Text 203"/>
          <p:cNvSpPr/>
          <p:nvPr/>
        </p:nvSpPr>
        <p:spPr>
          <a:xfrm>
            <a:off x="9582912" y="4754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206" name="Text 204"/>
          <p:cNvSpPr/>
          <p:nvPr/>
        </p:nvSpPr>
        <p:spPr>
          <a:xfrm>
            <a:off x="9582912" y="5029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4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19,8%</a:t>
            </a:r>
            <a:endParaRPr lang="en-US" sz="2800" dirty="0"/>
          </a:p>
        </p:txBody>
      </p:sp>
      <p:sp>
        <p:nvSpPr>
          <p:cNvPr id="207" name="Text 205"/>
          <p:cNvSpPr/>
          <p:nvPr/>
        </p:nvSpPr>
        <p:spPr>
          <a:xfrm>
            <a:off x="9582912" y="55321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 moyen</a:t>
            </a:r>
            <a:endParaRPr lang="en-US" sz="900" dirty="0"/>
          </a:p>
        </p:txBody>
      </p:sp>
      <p:sp>
        <p:nvSpPr>
          <p:cNvPr id="208" name="Shape 206"/>
          <p:cNvSpPr/>
          <p:nvPr/>
        </p:nvSpPr>
        <p:spPr>
          <a:xfrm>
            <a:off x="9582912" y="5760720"/>
            <a:ext cx="457200" cy="18288"/>
          </a:xfrm>
          <a:prstGeom prst="rect">
            <a:avLst/>
          </a:prstGeom>
          <a:solidFill>
            <a:srgbClr val="F1F0F5"/>
          </a:solidFill>
          <a:ln/>
        </p:spPr>
      </p:sp>
      <p:sp>
        <p:nvSpPr>
          <p:cNvPr id="209" name="Text 207"/>
          <p:cNvSpPr/>
          <p:nvPr/>
        </p:nvSpPr>
        <p:spPr>
          <a:xfrm>
            <a:off x="9582912" y="58521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PIRE PARCOURS</a:t>
            </a:r>
            <a:endParaRPr lang="en-US" sz="800" dirty="0"/>
          </a:p>
        </p:txBody>
      </p:sp>
      <p:sp>
        <p:nvSpPr>
          <p:cNvPr id="210" name="Text 208"/>
          <p:cNvSpPr/>
          <p:nvPr/>
        </p:nvSpPr>
        <p:spPr>
          <a:xfrm>
            <a:off x="9582912" y="6035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 Projet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3A337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743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292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5486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1371600" cy="4572"/>
          </a:xfrm>
          <a:prstGeom prst="rect">
            <a:avLst/>
          </a:prstGeom>
          <a:solidFill>
            <a:srgbClr val="5B4FAA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18872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1887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executive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18288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Apprenants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24688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3063240"/>
            <a:ext cx="36576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" y="31089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1089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74904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7490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5623560"/>
            <a:ext cx="365760" cy="36576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5623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82880" y="6035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a l'accueil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6400800"/>
            <a:ext cx="1371600" cy="4572"/>
          </a:xfrm>
          <a:prstGeom prst="rect">
            <a:avLst/>
          </a:prstGeom>
          <a:solidFill>
            <a:srgbClr val="5B4FAA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4922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82880" y="66751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11680" y="365760"/>
            <a:ext cx="50292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0" y="365760"/>
            <a:ext cx="5029200" cy="45720"/>
          </a:xfrm>
          <a:prstGeom prst="rect">
            <a:avLst/>
          </a:prstGeom>
          <a:solidFill>
            <a:srgbClr val="1FA67D"/>
          </a:solidFill>
          <a:ln/>
        </p:spPr>
      </p:sp>
      <p:sp>
        <p:nvSpPr>
          <p:cNvPr id="32" name="Text 30"/>
          <p:cNvSpPr/>
          <p:nvPr/>
        </p:nvSpPr>
        <p:spPr>
          <a:xfrm>
            <a:off x="2194560" y="5029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 REVENUE TOTAL  ·  2024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94560" y="7772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FA6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749M</a:t>
            </a:r>
            <a:endParaRPr lang="en-US" sz="7200" dirty="0"/>
          </a:p>
        </p:txBody>
      </p:sp>
      <p:sp>
        <p:nvSpPr>
          <p:cNvPr id="34" name="Text 32"/>
          <p:cNvSpPr/>
          <p:nvPr/>
        </p:nvSpPr>
        <p:spPr>
          <a:xfrm>
            <a:off x="2194560" y="16916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€1,15M  ·  +28% vs 2023</a:t>
            </a:r>
            <a:endParaRPr lang="en-US" sz="11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5760720" y="960120"/>
          <a:ext cx="1188720" cy="640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6" name="Shape 33"/>
          <p:cNvSpPr/>
          <p:nvPr/>
        </p:nvSpPr>
        <p:spPr>
          <a:xfrm>
            <a:off x="7178040" y="365760"/>
            <a:ext cx="22860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7178040" y="365760"/>
            <a:ext cx="2286000" cy="45720"/>
          </a:xfrm>
          <a:prstGeom prst="rect">
            <a:avLst/>
          </a:prstGeom>
          <a:solidFill>
            <a:srgbClr val="5B5BD6"/>
          </a:solidFill>
          <a:ln/>
        </p:spPr>
      </p:sp>
      <p:sp>
        <p:nvSpPr>
          <p:cNvPr id="38" name="Text 35"/>
          <p:cNvSpPr/>
          <p:nvPr/>
        </p:nvSpPr>
        <p:spPr>
          <a:xfrm>
            <a:off x="7360920" y="502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EURO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7360920" y="777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5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€ 1,15M</a:t>
            </a:r>
            <a:endParaRPr lang="en-US" sz="3200" dirty="0"/>
          </a:p>
        </p:txBody>
      </p:sp>
      <p:sp>
        <p:nvSpPr>
          <p:cNvPr id="40" name="Text 37"/>
          <p:cNvSpPr/>
          <p:nvPr/>
        </p:nvSpPr>
        <p:spPr>
          <a:xfrm>
            <a:off x="7360920" y="1463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fixe FCFA → EUR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9601200" y="365760"/>
            <a:ext cx="21945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9601200" y="365760"/>
            <a:ext cx="2194560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43" name="Text 40"/>
          <p:cNvSpPr/>
          <p:nvPr/>
        </p:nvSpPr>
        <p:spPr>
          <a:xfrm>
            <a:off x="9738360" y="502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MOYEN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9738360" y="777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89 554</a:t>
            </a:r>
            <a:endParaRPr lang="en-US" sz="3200" dirty="0"/>
          </a:p>
        </p:txBody>
      </p:sp>
      <p:sp>
        <p:nvSpPr>
          <p:cNvPr id="45" name="Text 42"/>
          <p:cNvSpPr/>
          <p:nvPr/>
        </p:nvSpPr>
        <p:spPr>
          <a:xfrm>
            <a:off x="9738360" y="1463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 · stable vs 2023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011680" y="2240280"/>
            <a:ext cx="64008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2194560" y="2377440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MENSUELS PAR DOMAINE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2194560" y="2587752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= 36% du CA annuel · capitaliser pour 2025</a:t>
            </a:r>
            <a:endParaRPr lang="en-US" sz="900" dirty="0"/>
          </a:p>
        </p:txBody>
      </p:sp>
      <p:graphicFrame>
        <p:nvGraphicFramePr>
          <p:cNvPr id="49" name="Chart 1" descr=""/>
          <p:cNvGraphicFramePr/>
          <p:nvPr/>
        </p:nvGraphicFramePr>
        <p:xfrm>
          <a:off x="2194560" y="2834640"/>
          <a:ext cx="612648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0" name="Shape 46"/>
          <p:cNvSpPr/>
          <p:nvPr/>
        </p:nvSpPr>
        <p:spPr>
          <a:xfrm>
            <a:off x="8503920" y="224028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51" name="Text 47"/>
          <p:cNvSpPr/>
          <p:nvPr/>
        </p:nvSpPr>
        <p:spPr>
          <a:xfrm>
            <a:off x="8686800" y="23774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METHODE (M FCFA)</a:t>
            </a:r>
            <a:endParaRPr lang="en-US" sz="1000" dirty="0"/>
          </a:p>
        </p:txBody>
      </p:sp>
      <p:graphicFrame>
        <p:nvGraphicFramePr>
          <p:cNvPr id="52" name="Chart 2" descr=""/>
          <p:cNvGraphicFramePr/>
          <p:nvPr/>
        </p:nvGraphicFramePr>
        <p:xfrm>
          <a:off x="8595360" y="2697480"/>
          <a:ext cx="32004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3" name="Text 48"/>
          <p:cNvSpPr/>
          <p:nvPr/>
        </p:nvSpPr>
        <p:spPr>
          <a:xfrm>
            <a:off x="2194560" y="452628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PARCOURS PAR REVENU GENERE</a:t>
            </a:r>
            <a:endParaRPr lang="en-US" sz="1000" dirty="0"/>
          </a:p>
        </p:txBody>
      </p:sp>
      <p:sp>
        <p:nvSpPr>
          <p:cNvPr id="54" name="Text 49"/>
          <p:cNvSpPr/>
          <p:nvPr/>
        </p:nvSpPr>
        <p:spPr>
          <a:xfrm>
            <a:off x="2194560" y="47365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genere 87% du CA · diversification Mgmt/Marketing = relais 2025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2011680" y="4983480"/>
            <a:ext cx="1874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56" name="Shape 51"/>
          <p:cNvSpPr/>
          <p:nvPr/>
        </p:nvSpPr>
        <p:spPr>
          <a:xfrm>
            <a:off x="2011680" y="4983480"/>
            <a:ext cx="1874520" cy="4572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57" name="Text 52"/>
          <p:cNvSpPr/>
          <p:nvPr/>
        </p:nvSpPr>
        <p:spPr>
          <a:xfrm>
            <a:off x="2148840" y="5074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</a:t>
            </a:r>
            <a:endParaRPr lang="en-US" sz="1800" dirty="0"/>
          </a:p>
        </p:txBody>
      </p:sp>
      <p:sp>
        <p:nvSpPr>
          <p:cNvPr id="58" name="Text 53"/>
          <p:cNvSpPr/>
          <p:nvPr/>
        </p:nvSpPr>
        <p:spPr>
          <a:xfrm>
            <a:off x="2560320" y="51023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120M</a:t>
            </a:r>
            <a:endParaRPr lang="en-US" sz="2200" dirty="0"/>
          </a:p>
        </p:txBody>
      </p:sp>
      <p:sp>
        <p:nvSpPr>
          <p:cNvPr id="59" name="Text 54"/>
          <p:cNvSpPr/>
          <p:nvPr/>
        </p:nvSpPr>
        <p:spPr>
          <a:xfrm>
            <a:off x="2148840" y="55321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&amp; Node.js Fullstack</a:t>
            </a:r>
            <a:endParaRPr lang="en-US" sz="950" dirty="0"/>
          </a:p>
        </p:txBody>
      </p:sp>
      <p:sp>
        <p:nvSpPr>
          <p:cNvPr id="60" name="Text 55"/>
          <p:cNvSpPr/>
          <p:nvPr/>
        </p:nvSpPr>
        <p:spPr>
          <a:xfrm>
            <a:off x="2148840" y="64008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297 inscrits</a:t>
            </a:r>
            <a:endParaRPr lang="en-US" sz="900" dirty="0"/>
          </a:p>
        </p:txBody>
      </p:sp>
      <p:sp>
        <p:nvSpPr>
          <p:cNvPr id="61" name="Shape 56"/>
          <p:cNvSpPr/>
          <p:nvPr/>
        </p:nvSpPr>
        <p:spPr>
          <a:xfrm>
            <a:off x="3977640" y="512064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62" name="Shape 57"/>
          <p:cNvSpPr/>
          <p:nvPr/>
        </p:nvSpPr>
        <p:spPr>
          <a:xfrm>
            <a:off x="3977640" y="5120640"/>
            <a:ext cx="1874520" cy="45720"/>
          </a:xfrm>
          <a:prstGeom prst="rect">
            <a:avLst/>
          </a:prstGeom>
          <a:solidFill>
            <a:srgbClr val="7C6FD9"/>
          </a:solidFill>
          <a:ln/>
        </p:spPr>
      </p:sp>
      <p:sp>
        <p:nvSpPr>
          <p:cNvPr id="63" name="Text 58"/>
          <p:cNvSpPr/>
          <p:nvPr/>
        </p:nvSpPr>
        <p:spPr>
          <a:xfrm>
            <a:off x="4114800" y="5212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</a:t>
            </a:r>
            <a:endParaRPr lang="en-US" sz="1800" dirty="0"/>
          </a:p>
        </p:txBody>
      </p:sp>
      <p:sp>
        <p:nvSpPr>
          <p:cNvPr id="64" name="Text 59"/>
          <p:cNvSpPr/>
          <p:nvPr/>
        </p:nvSpPr>
        <p:spPr>
          <a:xfrm>
            <a:off x="4526280" y="52395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6F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109M</a:t>
            </a:r>
            <a:endParaRPr lang="en-US" sz="2200" dirty="0"/>
          </a:p>
        </p:txBody>
      </p:sp>
      <p:sp>
        <p:nvSpPr>
          <p:cNvPr id="65" name="Text 60"/>
          <p:cNvSpPr/>
          <p:nvPr/>
        </p:nvSpPr>
        <p:spPr>
          <a:xfrm>
            <a:off x="4114800" y="5669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Applique</a:t>
            </a:r>
            <a:endParaRPr lang="en-US" sz="950" dirty="0"/>
          </a:p>
        </p:txBody>
      </p:sp>
      <p:sp>
        <p:nvSpPr>
          <p:cNvPr id="66" name="Text 61"/>
          <p:cNvSpPr/>
          <p:nvPr/>
        </p:nvSpPr>
        <p:spPr>
          <a:xfrm>
            <a:off x="4114800" y="64008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355 inscrits</a:t>
            </a:r>
            <a:endParaRPr lang="en-US" sz="900" dirty="0"/>
          </a:p>
        </p:txBody>
      </p:sp>
      <p:sp>
        <p:nvSpPr>
          <p:cNvPr id="67" name="Shape 62"/>
          <p:cNvSpPr/>
          <p:nvPr/>
        </p:nvSpPr>
        <p:spPr>
          <a:xfrm>
            <a:off x="5943600" y="5257800"/>
            <a:ext cx="1874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68" name="Shape 63"/>
          <p:cNvSpPr/>
          <p:nvPr/>
        </p:nvSpPr>
        <p:spPr>
          <a:xfrm>
            <a:off x="5943600" y="5257800"/>
            <a:ext cx="1874520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69" name="Text 64"/>
          <p:cNvSpPr/>
          <p:nvPr/>
        </p:nvSpPr>
        <p:spPr>
          <a:xfrm>
            <a:off x="6080760" y="5349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</a:t>
            </a:r>
            <a:endParaRPr lang="en-US" sz="1800" dirty="0"/>
          </a:p>
        </p:txBody>
      </p:sp>
      <p:sp>
        <p:nvSpPr>
          <p:cNvPr id="70" name="Text 65"/>
          <p:cNvSpPr/>
          <p:nvPr/>
        </p:nvSpPr>
        <p:spPr>
          <a:xfrm>
            <a:off x="6492240" y="53766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94M</a:t>
            </a:r>
            <a:endParaRPr lang="en-US" sz="2200" dirty="0"/>
          </a:p>
        </p:txBody>
      </p:sp>
      <p:sp>
        <p:nvSpPr>
          <p:cNvPr id="71" name="Text 66"/>
          <p:cNvSpPr/>
          <p:nvPr/>
        </p:nvSpPr>
        <p:spPr>
          <a:xfrm>
            <a:off x="6080760" y="58064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 avec Django</a:t>
            </a:r>
            <a:endParaRPr lang="en-US" sz="950" dirty="0"/>
          </a:p>
        </p:txBody>
      </p:sp>
      <p:sp>
        <p:nvSpPr>
          <p:cNvPr id="72" name="Text 67"/>
          <p:cNvSpPr/>
          <p:nvPr/>
        </p:nvSpPr>
        <p:spPr>
          <a:xfrm>
            <a:off x="6080760" y="64008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334 inscrits</a:t>
            </a:r>
            <a:endParaRPr lang="en-US" sz="900" dirty="0"/>
          </a:p>
        </p:txBody>
      </p:sp>
      <p:sp>
        <p:nvSpPr>
          <p:cNvPr id="73" name="Shape 68"/>
          <p:cNvSpPr/>
          <p:nvPr/>
        </p:nvSpPr>
        <p:spPr>
          <a:xfrm>
            <a:off x="7909560" y="5394960"/>
            <a:ext cx="18745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74" name="Shape 69"/>
          <p:cNvSpPr/>
          <p:nvPr/>
        </p:nvSpPr>
        <p:spPr>
          <a:xfrm>
            <a:off x="7909560" y="5394960"/>
            <a:ext cx="1874520" cy="45720"/>
          </a:xfrm>
          <a:prstGeom prst="rect">
            <a:avLst/>
          </a:prstGeom>
          <a:solidFill>
            <a:srgbClr val="5B5BD6"/>
          </a:solidFill>
          <a:ln/>
        </p:spPr>
      </p:sp>
      <p:sp>
        <p:nvSpPr>
          <p:cNvPr id="75" name="Text 70"/>
          <p:cNvSpPr/>
          <p:nvPr/>
        </p:nvSpPr>
        <p:spPr>
          <a:xfrm>
            <a:off x="8046720" y="5486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76" name="Text 71"/>
          <p:cNvSpPr/>
          <p:nvPr/>
        </p:nvSpPr>
        <p:spPr>
          <a:xfrm>
            <a:off x="8458200" y="55138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5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72M</a:t>
            </a:r>
            <a:endParaRPr lang="en-US" sz="2200" dirty="0"/>
          </a:p>
        </p:txBody>
      </p:sp>
      <p:sp>
        <p:nvSpPr>
          <p:cNvPr id="77" name="Text 72"/>
          <p:cNvSpPr/>
          <p:nvPr/>
        </p:nvSpPr>
        <p:spPr>
          <a:xfrm>
            <a:off x="8046720" y="59436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Analyse avec Python</a:t>
            </a:r>
            <a:endParaRPr lang="en-US" sz="950" dirty="0"/>
          </a:p>
        </p:txBody>
      </p:sp>
      <p:sp>
        <p:nvSpPr>
          <p:cNvPr id="78" name="Text 73"/>
          <p:cNvSpPr/>
          <p:nvPr/>
        </p:nvSpPr>
        <p:spPr>
          <a:xfrm>
            <a:off x="8046720" y="64008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318 inscrits</a:t>
            </a:r>
            <a:endParaRPr lang="en-US" sz="900" dirty="0"/>
          </a:p>
        </p:txBody>
      </p:sp>
      <p:sp>
        <p:nvSpPr>
          <p:cNvPr id="79" name="Shape 74"/>
          <p:cNvSpPr/>
          <p:nvPr/>
        </p:nvSpPr>
        <p:spPr>
          <a:xfrm>
            <a:off x="9875520" y="5486400"/>
            <a:ext cx="18745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80" name="Shape 75"/>
          <p:cNvSpPr/>
          <p:nvPr/>
        </p:nvSpPr>
        <p:spPr>
          <a:xfrm>
            <a:off x="9875520" y="5486400"/>
            <a:ext cx="1874520" cy="45720"/>
          </a:xfrm>
          <a:prstGeom prst="rect">
            <a:avLst/>
          </a:prstGeom>
          <a:solidFill>
            <a:srgbClr val="1FA67D"/>
          </a:solidFill>
          <a:ln/>
        </p:spPr>
      </p:sp>
      <p:sp>
        <p:nvSpPr>
          <p:cNvPr id="81" name="Text 76"/>
          <p:cNvSpPr/>
          <p:nvPr/>
        </p:nvSpPr>
        <p:spPr>
          <a:xfrm>
            <a:off x="10012680" y="5577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A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82" name="Text 77"/>
          <p:cNvSpPr/>
          <p:nvPr/>
        </p:nvSpPr>
        <p:spPr>
          <a:xfrm>
            <a:off x="10424160" y="56052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A6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64M</a:t>
            </a:r>
            <a:endParaRPr lang="en-US" sz="2200" dirty="0"/>
          </a:p>
        </p:txBody>
      </p:sp>
      <p:sp>
        <p:nvSpPr>
          <p:cNvPr id="83" name="Text 78"/>
          <p:cNvSpPr/>
          <p:nvPr/>
        </p:nvSpPr>
        <p:spPr>
          <a:xfrm>
            <a:off x="10012680" y="6035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&amp; Dashboards</a:t>
            </a:r>
            <a:endParaRPr lang="en-US" sz="950" dirty="0"/>
          </a:p>
        </p:txBody>
      </p:sp>
      <p:sp>
        <p:nvSpPr>
          <p:cNvPr id="84" name="Text 79"/>
          <p:cNvSpPr/>
          <p:nvPr/>
        </p:nvSpPr>
        <p:spPr>
          <a:xfrm>
            <a:off x="10012680" y="64008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 inscrits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3A337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743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292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5486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1371600" cy="4572"/>
          </a:xfrm>
          <a:prstGeom prst="rect">
            <a:avLst/>
          </a:prstGeom>
          <a:solidFill>
            <a:srgbClr val="5B4FAA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18872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1887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executive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18288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Apprenants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24688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108960"/>
            <a:ext cx="457200" cy="45720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1089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3703320"/>
            <a:ext cx="36576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7490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7490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5623560"/>
            <a:ext cx="365760" cy="365760"/>
          </a:xfrm>
          <a:prstGeom prst="ellipse">
            <a:avLst/>
          </a:prstGeom>
          <a:solidFill>
            <a:srgbClr val="5B4FAA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5623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82880" y="6035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a l'accueil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6400800"/>
            <a:ext cx="1371600" cy="4572"/>
          </a:xfrm>
          <a:prstGeom prst="rect">
            <a:avLst/>
          </a:prstGeom>
          <a:solidFill>
            <a:srgbClr val="5B4FAA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4922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82880" y="66751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11680" y="365760"/>
            <a:ext cx="97840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0" y="365760"/>
            <a:ext cx="9784080" cy="73152"/>
          </a:xfrm>
          <a:prstGeom prst="rect">
            <a:avLst/>
          </a:prstGeom>
          <a:solidFill>
            <a:srgbClr val="E5494D"/>
          </a:solidFill>
          <a:ln/>
        </p:spPr>
      </p:sp>
      <p:sp>
        <p:nvSpPr>
          <p:cNvPr id="32" name="Shape 30"/>
          <p:cNvSpPr/>
          <p:nvPr/>
        </p:nvSpPr>
        <p:spPr>
          <a:xfrm>
            <a:off x="2240280" y="640080"/>
            <a:ext cx="640080" cy="640080"/>
          </a:xfrm>
          <a:prstGeom prst="ellipse">
            <a:avLst/>
          </a:prstGeom>
          <a:solidFill>
            <a:srgbClr val="E5494D"/>
          </a:solidFill>
          <a:ln/>
        </p:spPr>
      </p:sp>
      <p:sp>
        <p:nvSpPr>
          <p:cNvPr id="33" name="Text 31"/>
          <p:cNvSpPr/>
          <p:nvPr/>
        </p:nvSpPr>
        <p:spPr>
          <a:xfrm>
            <a:off x="22402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3108960" y="594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4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 ·  ALERTE DECROCHAGE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108960" y="868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1 613 apprenants en alerte de decrochage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108960" y="12801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2 095 apprenants en cours · 77,0% taux d'alerte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241280" y="59436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E5494D"/>
          </a:solidFill>
          <a:ln/>
        </p:spPr>
      </p:sp>
      <p:sp>
        <p:nvSpPr>
          <p:cNvPr id="38" name="Text 36"/>
          <p:cNvSpPr/>
          <p:nvPr/>
        </p:nvSpPr>
        <p:spPr>
          <a:xfrm>
            <a:off x="10241280" y="6400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77,0%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0241280" y="10789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alerte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011680" y="1783080"/>
            <a:ext cx="32004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011680" y="1783080"/>
            <a:ext cx="3200400" cy="45720"/>
          </a:xfrm>
          <a:prstGeom prst="rect">
            <a:avLst/>
          </a:prstGeom>
          <a:solidFill>
            <a:srgbClr val="E5494D"/>
          </a:solidFill>
          <a:ln/>
        </p:spPr>
      </p:sp>
      <p:sp>
        <p:nvSpPr>
          <p:cNvPr id="42" name="Shape 40"/>
          <p:cNvSpPr/>
          <p:nvPr/>
        </p:nvSpPr>
        <p:spPr>
          <a:xfrm>
            <a:off x="2194560" y="1920240"/>
            <a:ext cx="548640" cy="548640"/>
          </a:xfrm>
          <a:prstGeom prst="ellipse">
            <a:avLst/>
          </a:prstGeom>
          <a:solidFill>
            <a:srgbClr val="E5494D"/>
          </a:solidFill>
          <a:ln/>
        </p:spPr>
      </p:sp>
      <p:sp>
        <p:nvSpPr>
          <p:cNvPr id="43" name="Text 41"/>
          <p:cNvSpPr/>
          <p:nvPr/>
        </p:nvSpPr>
        <p:spPr>
          <a:xfrm>
            <a:off x="21945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2880360" y="19659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HUMAINE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880360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4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 0.80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19456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telephonique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2194560" y="2926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4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~150</a:t>
            </a:r>
            <a:endParaRPr lang="en-US" sz="3200" dirty="0"/>
          </a:p>
        </p:txBody>
      </p:sp>
      <p:sp>
        <p:nvSpPr>
          <p:cNvPr id="48" name="Text 46"/>
          <p:cNvSpPr/>
          <p:nvPr/>
        </p:nvSpPr>
        <p:spPr>
          <a:xfrm>
            <a:off x="2194560" y="3383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apprenants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703320" y="29260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DELAI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703320" y="31089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48h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703320" y="33101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EST.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703320" y="34930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A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-12% abandon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303520" y="1783080"/>
            <a:ext cx="32004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303520" y="1783080"/>
            <a:ext cx="3200400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5" name="Shape 53"/>
          <p:cNvSpPr/>
          <p:nvPr/>
        </p:nvSpPr>
        <p:spPr>
          <a:xfrm>
            <a:off x="5486400" y="192024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6" name="Text 54"/>
          <p:cNvSpPr/>
          <p:nvPr/>
        </p:nvSpPr>
        <p:spPr>
          <a:xfrm>
            <a:off x="54864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6172200" y="19659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 CIBLEE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172200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0.60–0.80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548640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personnalise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5486400" y="2926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~150</a:t>
            </a:r>
            <a:endParaRPr lang="en-US" sz="3200" dirty="0"/>
          </a:p>
        </p:txBody>
      </p:sp>
      <p:sp>
        <p:nvSpPr>
          <p:cNvPr id="61" name="Text 59"/>
          <p:cNvSpPr/>
          <p:nvPr/>
        </p:nvSpPr>
        <p:spPr>
          <a:xfrm>
            <a:off x="5486400" y="3383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apprenants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995160" y="29260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DELAI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995160" y="31089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7j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995160" y="33101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EST.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995160" y="34930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A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-8% abandon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595360" y="1783080"/>
            <a:ext cx="32004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8595360" y="1783080"/>
            <a:ext cx="3200400" cy="45720"/>
          </a:xfrm>
          <a:prstGeom prst="rect">
            <a:avLst/>
          </a:prstGeom>
          <a:solidFill>
            <a:srgbClr val="5B5BD6"/>
          </a:solidFill>
          <a:ln/>
        </p:spPr>
      </p:sp>
      <p:sp>
        <p:nvSpPr>
          <p:cNvPr id="68" name="Shape 66"/>
          <p:cNvSpPr/>
          <p:nvPr/>
        </p:nvSpPr>
        <p:spPr>
          <a:xfrm>
            <a:off x="8778240" y="1920240"/>
            <a:ext cx="548640" cy="548640"/>
          </a:xfrm>
          <a:prstGeom prst="ellipse">
            <a:avLst/>
          </a:prstGeom>
          <a:solidFill>
            <a:srgbClr val="5B5BD6"/>
          </a:solidFill>
          <a:ln/>
        </p:spPr>
      </p:sp>
      <p:sp>
        <p:nvSpPr>
          <p:cNvPr id="69" name="Text 67"/>
          <p:cNvSpPr/>
          <p:nvPr/>
        </p:nvSpPr>
        <p:spPr>
          <a:xfrm>
            <a:off x="87782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70" name="Text 68"/>
          <p:cNvSpPr/>
          <p:nvPr/>
        </p:nvSpPr>
        <p:spPr>
          <a:xfrm>
            <a:off x="9464040" y="19659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DOUX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9464040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0.30–0.60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877824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push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8778240" y="2926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5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~1 300</a:t>
            </a:r>
            <a:endParaRPr lang="en-US" sz="3200" dirty="0"/>
          </a:p>
        </p:txBody>
      </p:sp>
      <p:sp>
        <p:nvSpPr>
          <p:cNvPr id="74" name="Text 72"/>
          <p:cNvSpPr/>
          <p:nvPr/>
        </p:nvSpPr>
        <p:spPr>
          <a:xfrm>
            <a:off x="8778240" y="3383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apprenants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0287000" y="29260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DELAI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10287000" y="31089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10287000" y="33101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EST.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10287000" y="34930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A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-3% abandon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011680" y="4023360"/>
            <a:ext cx="97840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2194560" y="4160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APPRENANTS A RISQUE  ·  TABLEAU D'ALERTE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2194560" y="437083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 par score risque DESC · action recommandee dans la derniere colonne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4617720"/>
          <a:ext cx="96012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1188720"/>
                <a:gridCol w="1097280"/>
                <a:gridCol w="914400"/>
                <a:gridCol w="16459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100" kern="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APPRENANT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100" kern="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PARCOURS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spc="100" kern="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spc="100" kern="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INACTIVITE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spc="100" kern="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spc="100" kern="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 Adjoua Coulibaly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549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549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Appel urgent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494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  Serge Diop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&amp; Node.js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549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549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Appel urgent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494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YM  Yao Mbaye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perso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  Fatima Ndiaye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&amp; BDD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perso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  Eric Kone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Analyse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B5B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B5B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1F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5B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EduTrack Analytics — Mockup Expert</dc:title>
  <dc:subject>PptxGenJS Presentation</dc:subject>
  <dc:creator>DataProjectLab Academy</dc:creator>
  <cp:lastModifiedBy>DataProjectLab Academy</cp:lastModifiedBy>
  <cp:revision>1</cp:revision>
  <dcterms:created xsi:type="dcterms:W3CDTF">2026-05-03T01:21:37Z</dcterms:created>
  <dcterms:modified xsi:type="dcterms:W3CDTF">2026-05-03T01:21:37Z</dcterms:modified>
</cp:coreProperties>
</file>