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27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0676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280160"/>
            <a:ext cx="4572000" cy="4572000"/>
          </a:xfrm>
          <a:prstGeom prst="ellipse">
            <a:avLst/>
          </a:prstGeom>
          <a:solidFill>
            <a:srgbClr val="3C3489">
              <a:alpha val="45000"/>
            </a:srgbClr>
          </a:solidFill>
          <a:ln w="12700">
            <a:solidFill>
              <a:srgbClr val="3C3489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534AB7">
              <a:alpha val="30000"/>
            </a:srgbClr>
          </a:solidFill>
          <a:ln w="12700">
            <a:solidFill>
              <a:srgbClr val="534AB7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3474720"/>
            <a:ext cx="3474720" cy="3474720"/>
          </a:xfrm>
          <a:prstGeom prst="ellipse">
            <a:avLst/>
          </a:prstGeom>
          <a:solidFill>
            <a:srgbClr val="3C3489">
              <a:alpha val="40000"/>
            </a:srgbClr>
          </a:solidFill>
          <a:ln w="12700">
            <a:solidFill>
              <a:srgbClr val="3C3489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02920"/>
            <a:ext cx="2194560" cy="27432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02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  ·  2024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EduTrack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EEED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Power BI — 5 pages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530352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01752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4 500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" y="340156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Apprenants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49424" y="301752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6 460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249424" y="340156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950208" y="301752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33.3%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950208" y="340156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50992" y="301752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748 M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650992" y="340156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FCFA Rev.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51776" y="301752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pages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51776" y="340156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" y="4800600"/>
            <a:ext cx="16916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D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Vue executive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783080" y="4846320"/>
            <a:ext cx="0" cy="246888"/>
          </a:xfrm>
          <a:prstGeom prst="line">
            <a:avLst/>
          </a:prstGeom>
          <a:noFill/>
          <a:ln w="6350">
            <a:solidFill>
              <a:srgbClr val="5552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20240" y="4800600"/>
            <a:ext cx="16916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D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Apprenants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11880" y="4846320"/>
            <a:ext cx="0" cy="246888"/>
          </a:xfrm>
          <a:prstGeom prst="line">
            <a:avLst/>
          </a:prstGeom>
          <a:noFill/>
          <a:ln w="6350">
            <a:solidFill>
              <a:srgbClr val="5552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49040" y="4800600"/>
            <a:ext cx="16916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D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Parcours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40680" y="4846320"/>
            <a:ext cx="0" cy="246888"/>
          </a:xfrm>
          <a:prstGeom prst="line">
            <a:avLst/>
          </a:prstGeom>
          <a:noFill/>
          <a:ln w="6350">
            <a:solidFill>
              <a:srgbClr val="5552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4800600"/>
            <a:ext cx="16916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D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Revenus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269480" y="4846320"/>
            <a:ext cx="0" cy="246888"/>
          </a:xfrm>
          <a:prstGeom prst="line">
            <a:avLst/>
          </a:prstGeom>
          <a:noFill/>
          <a:ln w="6350">
            <a:solidFill>
              <a:srgbClr val="5552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06640" y="4800600"/>
            <a:ext cx="16916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D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Alertes ML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0" cy="51435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822960"/>
            <a:ext cx="2286000" cy="2286000"/>
          </a:xfrm>
          <a:prstGeom prst="ellipse">
            <a:avLst/>
          </a:prstGeom>
          <a:solidFill>
            <a:srgbClr val="3C3489">
              <a:alpha val="60000"/>
            </a:srgbClr>
          </a:solidFill>
          <a:ln w="12700">
            <a:solidFill>
              <a:srgbClr val="3C3489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74320" y="3931920"/>
            <a:ext cx="2103120" cy="2103120"/>
          </a:xfrm>
          <a:prstGeom prst="ellipse">
            <a:avLst/>
          </a:prstGeom>
          <a:solidFill>
            <a:srgbClr val="3C3489">
              <a:alpha val="50000"/>
            </a:srgbClr>
          </a:solidFill>
          <a:ln w="12700">
            <a:solidFill>
              <a:srgbClr val="3C3489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201168"/>
            <a:ext cx="347472" cy="34747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85216" y="23774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EduTrack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85216" y="402336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2880" y="713232"/>
            <a:ext cx="1188720" cy="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" y="822960"/>
            <a:ext cx="1408176" cy="475488"/>
          </a:xfrm>
          <a:prstGeom prst="rect">
            <a:avLst/>
          </a:prstGeom>
          <a:solidFill>
            <a:srgbClr val="534AB7">
              <a:alpha val="80000"/>
            </a:srgbClr>
          </a:solidFill>
          <a:ln w="12700">
            <a:solidFill>
              <a:srgbClr val="534AB7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822960"/>
            <a:ext cx="45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877824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" y="877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1208" y="8961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executive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64592" y="1563624"/>
            <a:ext cx="292608" cy="292608"/>
          </a:xfrm>
          <a:prstGeom prst="ellipse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" y="1563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21208" y="15819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Apprenants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64592" y="2249424"/>
            <a:ext cx="292608" cy="292608"/>
          </a:xfrm>
          <a:prstGeom prst="ellipse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4592" y="2249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1208" y="22677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64592" y="2935224"/>
            <a:ext cx="292608" cy="292608"/>
          </a:xfrm>
          <a:prstGeom prst="ellipse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4592" y="2935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1208" y="29535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64592" y="3621024"/>
            <a:ext cx="292608" cy="292608"/>
          </a:xfrm>
          <a:prstGeom prst="ellipse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4592" y="3621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21208" y="36393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ML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82880" y="4773168"/>
            <a:ext cx="1188720" cy="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0" y="486460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0" y="4992624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2022 - 2024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664208" y="109728"/>
            <a:ext cx="7315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B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664208" y="109728"/>
            <a:ext cx="54864" cy="5943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28800" y="109728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executive — EduTrack Analytics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58000" y="10972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Janv. 2022 – Juin 2024  ·  Tous domaines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755648" y="877824"/>
            <a:ext cx="1773936" cy="914400"/>
          </a:xfrm>
          <a:prstGeom prst="rect">
            <a:avLst/>
          </a:prstGeom>
          <a:solidFill>
            <a:srgbClr val="D4D2EC"/>
          </a:solidFill>
          <a:ln w="12700">
            <a:solidFill>
              <a:srgbClr val="D4D2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719072" y="841248"/>
            <a:ext cx="1773936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B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719072" y="841248"/>
            <a:ext cx="1773936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719072" y="841248"/>
            <a:ext cx="54864" cy="9144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56232" y="932688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6 460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1856232" y="1298448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inscriptions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856232" y="1463040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+12% vs periode prec.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02736" y="877824"/>
            <a:ext cx="1773936" cy="914400"/>
          </a:xfrm>
          <a:prstGeom prst="rect">
            <a:avLst/>
          </a:prstGeom>
          <a:solidFill>
            <a:srgbClr val="D4D2EC"/>
          </a:solidFill>
          <a:ln w="12700">
            <a:solidFill>
              <a:srgbClr val="D4D2E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66160" y="841248"/>
            <a:ext cx="1773936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B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66160" y="841248"/>
            <a:ext cx="1773936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566160" y="841248"/>
            <a:ext cx="54864" cy="9144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03320" y="932688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33.3%</a:t>
            </a:r>
            <a:endParaRPr lang="en-US" sz="2600" dirty="0"/>
          </a:p>
        </p:txBody>
      </p:sp>
      <p:sp>
        <p:nvSpPr>
          <p:cNvPr id="46" name="Text 44"/>
          <p:cNvSpPr/>
          <p:nvPr/>
        </p:nvSpPr>
        <p:spPr>
          <a:xfrm>
            <a:off x="3703320" y="1298448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completion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703320" y="1463040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: 40%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9824" y="877824"/>
            <a:ext cx="1773936" cy="914400"/>
          </a:xfrm>
          <a:prstGeom prst="rect">
            <a:avLst/>
          </a:prstGeom>
          <a:solidFill>
            <a:srgbClr val="D4D2EC"/>
          </a:solidFill>
          <a:ln w="12700">
            <a:solidFill>
              <a:srgbClr val="D4D2E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413248" y="841248"/>
            <a:ext cx="1773936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BE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13248" y="841248"/>
            <a:ext cx="1773936" cy="5029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413248" y="841248"/>
            <a:ext cx="54864" cy="91440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50408" y="932688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17.7%</a:t>
            </a:r>
            <a:endParaRPr lang="en-US" sz="2600" dirty="0"/>
          </a:p>
        </p:txBody>
      </p:sp>
      <p:sp>
        <p:nvSpPr>
          <p:cNvPr id="53" name="Text 51"/>
          <p:cNvSpPr/>
          <p:nvPr/>
        </p:nvSpPr>
        <p:spPr>
          <a:xfrm>
            <a:off x="5550408" y="1298448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abandon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550408" y="1463040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 mars 2023 : 25.5%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296912" y="877824"/>
            <a:ext cx="1719072" cy="914400"/>
          </a:xfrm>
          <a:prstGeom prst="rect">
            <a:avLst/>
          </a:prstGeom>
          <a:solidFill>
            <a:srgbClr val="D4D2EC"/>
          </a:solidFill>
          <a:ln w="12700">
            <a:solidFill>
              <a:srgbClr val="D4D2E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260336" y="841248"/>
            <a:ext cx="1719072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BE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260336" y="841248"/>
            <a:ext cx="1719072" cy="5029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260336" y="841248"/>
            <a:ext cx="54864" cy="91440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397496" y="932688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4.23</a:t>
            </a:r>
            <a:endParaRPr lang="en-US" sz="2600" dirty="0"/>
          </a:p>
        </p:txBody>
      </p:sp>
      <p:sp>
        <p:nvSpPr>
          <p:cNvPr id="60" name="Text 58"/>
          <p:cNvSpPr/>
          <p:nvPr/>
        </p:nvSpPr>
        <p:spPr>
          <a:xfrm>
            <a:off x="7397496" y="1298448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 moyen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397496" y="1463040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parcours termines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1755648" y="1920240"/>
            <a:ext cx="4663440" cy="1737360"/>
          </a:xfrm>
          <a:prstGeom prst="rect">
            <a:avLst/>
          </a:prstGeom>
          <a:solidFill>
            <a:srgbClr val="D4D2EC"/>
          </a:solidFill>
          <a:ln w="12700">
            <a:solidFill>
              <a:srgbClr val="D4D2E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719072" y="1883664"/>
            <a:ext cx="466344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BE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828800" y="1938528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Inscriptions mensuelles + taux abandon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1920240" y="3401568"/>
            <a:ext cx="42519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965960" y="3200400"/>
            <a:ext cx="274320" cy="0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240280" y="3063240"/>
            <a:ext cx="274320" cy="45720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514600" y="3108960"/>
            <a:ext cx="274320" cy="0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788920" y="2971800"/>
            <a:ext cx="274320" cy="45720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063240" y="3017520"/>
            <a:ext cx="274320" cy="0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337560" y="2907792"/>
            <a:ext cx="274320" cy="0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611880" y="2834640"/>
            <a:ext cx="274320" cy="91440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886200" y="2926080"/>
            <a:ext cx="274320" cy="1828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160520" y="2944368"/>
            <a:ext cx="274320" cy="0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434840" y="2816352"/>
            <a:ext cx="274320" cy="0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709160" y="2743200"/>
            <a:ext cx="274320" cy="0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983480" y="2697480"/>
            <a:ext cx="274320" cy="0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257800" y="2633472"/>
            <a:ext cx="274320" cy="0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532120" y="2578608"/>
            <a:ext cx="274320" cy="0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806440" y="2542032"/>
            <a:ext cx="274320" cy="0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929384" y="3163824"/>
            <a:ext cx="73152" cy="73152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203704" y="3026664"/>
            <a:ext cx="73152" cy="73152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478024" y="3072384"/>
            <a:ext cx="73152" cy="73152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752344" y="2935224"/>
            <a:ext cx="73152" cy="73152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026664" y="2980944"/>
            <a:ext cx="73152" cy="73152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300984" y="2871216"/>
            <a:ext cx="73152" cy="73152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575304" y="2798064"/>
            <a:ext cx="73152" cy="73152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849624" y="2889504"/>
            <a:ext cx="73152" cy="73152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123944" y="2907792"/>
            <a:ext cx="73152" cy="73152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398264" y="2779776"/>
            <a:ext cx="73152" cy="73152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672584" y="2706624"/>
            <a:ext cx="73152" cy="73152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946904" y="2660904"/>
            <a:ext cx="73152" cy="73152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221224" y="2596896"/>
            <a:ext cx="73152" cy="73152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495544" y="2542032"/>
            <a:ext cx="73152" cy="73152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769864" y="2505456"/>
            <a:ext cx="73152" cy="73152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044184" y="2450592"/>
            <a:ext cx="73152" cy="73152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965960" y="3310128"/>
            <a:ext cx="548640" cy="0"/>
          </a:xfrm>
          <a:prstGeom prst="line">
            <a:avLst/>
          </a:prstGeom>
          <a:noFill/>
          <a:ln w="19050">
            <a:solidFill>
              <a:srgbClr val="E24B4A"/>
            </a:solidFill>
            <a:prstDash val="dash"/>
          </a:ln>
        </p:spPr>
      </p:sp>
      <p:sp>
        <p:nvSpPr>
          <p:cNvPr id="98" name="Shape 96"/>
          <p:cNvSpPr/>
          <p:nvPr/>
        </p:nvSpPr>
        <p:spPr>
          <a:xfrm>
            <a:off x="2514600" y="3246120"/>
            <a:ext cx="548640" cy="0"/>
          </a:xfrm>
          <a:prstGeom prst="line">
            <a:avLst/>
          </a:prstGeom>
          <a:noFill/>
          <a:ln w="19050">
            <a:solidFill>
              <a:srgbClr val="E24B4A"/>
            </a:solidFill>
            <a:prstDash val="dash"/>
          </a:ln>
        </p:spPr>
      </p:sp>
      <p:sp>
        <p:nvSpPr>
          <p:cNvPr id="99" name="Shape 97"/>
          <p:cNvSpPr/>
          <p:nvPr/>
        </p:nvSpPr>
        <p:spPr>
          <a:xfrm>
            <a:off x="3063240" y="3182112"/>
            <a:ext cx="548640" cy="155448"/>
          </a:xfrm>
          <a:prstGeom prst="line">
            <a:avLst/>
          </a:prstGeom>
          <a:noFill/>
          <a:ln w="19050">
            <a:solidFill>
              <a:srgbClr val="E24B4A"/>
            </a:solidFill>
            <a:prstDash val="dash"/>
          </a:ln>
        </p:spPr>
      </p:sp>
      <p:sp>
        <p:nvSpPr>
          <p:cNvPr id="100" name="Shape 98"/>
          <p:cNvSpPr/>
          <p:nvPr/>
        </p:nvSpPr>
        <p:spPr>
          <a:xfrm>
            <a:off x="3611880" y="3337560"/>
            <a:ext cx="548640" cy="0"/>
          </a:xfrm>
          <a:prstGeom prst="line">
            <a:avLst/>
          </a:prstGeom>
          <a:noFill/>
          <a:ln w="19050">
            <a:solidFill>
              <a:srgbClr val="E24B4A"/>
            </a:solidFill>
            <a:prstDash val="dash"/>
          </a:ln>
        </p:spPr>
      </p:sp>
      <p:sp>
        <p:nvSpPr>
          <p:cNvPr id="101" name="Shape 99"/>
          <p:cNvSpPr/>
          <p:nvPr/>
        </p:nvSpPr>
        <p:spPr>
          <a:xfrm>
            <a:off x="4160520" y="3154680"/>
            <a:ext cx="548640" cy="64008"/>
          </a:xfrm>
          <a:prstGeom prst="line">
            <a:avLst/>
          </a:prstGeom>
          <a:noFill/>
          <a:ln w="19050">
            <a:solidFill>
              <a:srgbClr val="E24B4A"/>
            </a:solidFill>
            <a:prstDash val="dash"/>
          </a:ln>
        </p:spPr>
      </p:sp>
      <p:sp>
        <p:nvSpPr>
          <p:cNvPr id="102" name="Shape 100"/>
          <p:cNvSpPr/>
          <p:nvPr/>
        </p:nvSpPr>
        <p:spPr>
          <a:xfrm>
            <a:off x="4709160" y="3218688"/>
            <a:ext cx="548640" cy="0"/>
          </a:xfrm>
          <a:prstGeom prst="line">
            <a:avLst/>
          </a:prstGeom>
          <a:noFill/>
          <a:ln w="19050">
            <a:solidFill>
              <a:srgbClr val="E24B4A"/>
            </a:solidFill>
            <a:prstDash val="dash"/>
          </a:ln>
        </p:spPr>
      </p:sp>
      <p:sp>
        <p:nvSpPr>
          <p:cNvPr id="103" name="Shape 101"/>
          <p:cNvSpPr/>
          <p:nvPr/>
        </p:nvSpPr>
        <p:spPr>
          <a:xfrm>
            <a:off x="5257800" y="3127248"/>
            <a:ext cx="548640" cy="0"/>
          </a:xfrm>
          <a:prstGeom prst="line">
            <a:avLst/>
          </a:prstGeom>
          <a:noFill/>
          <a:ln w="19050">
            <a:solidFill>
              <a:srgbClr val="E24B4A"/>
            </a:solidFill>
            <a:prstDash val="dash"/>
          </a:ln>
        </p:spPr>
      </p:sp>
      <p:sp>
        <p:nvSpPr>
          <p:cNvPr id="104" name="Shape 102"/>
          <p:cNvSpPr/>
          <p:nvPr/>
        </p:nvSpPr>
        <p:spPr>
          <a:xfrm>
            <a:off x="5806440" y="3090672"/>
            <a:ext cx="274320" cy="0"/>
          </a:xfrm>
          <a:prstGeom prst="line">
            <a:avLst/>
          </a:prstGeom>
          <a:noFill/>
          <a:ln w="19050">
            <a:solidFill>
              <a:srgbClr val="E24B4A"/>
            </a:solidFill>
            <a:prstDash val="dash"/>
          </a:ln>
        </p:spPr>
      </p:sp>
      <p:sp>
        <p:nvSpPr>
          <p:cNvPr id="105" name="Text 103"/>
          <p:cNvSpPr/>
          <p:nvPr/>
        </p:nvSpPr>
        <p:spPr>
          <a:xfrm>
            <a:off x="1920240" y="34198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700" dirty="0"/>
          </a:p>
        </p:txBody>
      </p:sp>
      <p:sp>
        <p:nvSpPr>
          <p:cNvPr id="106" name="Text 104"/>
          <p:cNvSpPr/>
          <p:nvPr/>
        </p:nvSpPr>
        <p:spPr>
          <a:xfrm>
            <a:off x="2743200" y="34198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700" dirty="0"/>
          </a:p>
        </p:txBody>
      </p:sp>
      <p:sp>
        <p:nvSpPr>
          <p:cNvPr id="107" name="Text 105"/>
          <p:cNvSpPr/>
          <p:nvPr/>
        </p:nvSpPr>
        <p:spPr>
          <a:xfrm>
            <a:off x="3566160" y="34198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700" dirty="0"/>
          </a:p>
        </p:txBody>
      </p:sp>
      <p:sp>
        <p:nvSpPr>
          <p:cNvPr id="108" name="Text 106"/>
          <p:cNvSpPr/>
          <p:nvPr/>
        </p:nvSpPr>
        <p:spPr>
          <a:xfrm>
            <a:off x="4389120" y="34198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700" dirty="0"/>
          </a:p>
        </p:txBody>
      </p:sp>
      <p:sp>
        <p:nvSpPr>
          <p:cNvPr id="109" name="Text 107"/>
          <p:cNvSpPr/>
          <p:nvPr/>
        </p:nvSpPr>
        <p:spPr>
          <a:xfrm>
            <a:off x="5212080" y="34198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700" dirty="0"/>
          </a:p>
        </p:txBody>
      </p:sp>
      <p:sp>
        <p:nvSpPr>
          <p:cNvPr id="110" name="Text 108"/>
          <p:cNvSpPr/>
          <p:nvPr/>
        </p:nvSpPr>
        <p:spPr>
          <a:xfrm>
            <a:off x="6035040" y="34198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700" dirty="0"/>
          </a:p>
        </p:txBody>
      </p:sp>
      <p:sp>
        <p:nvSpPr>
          <p:cNvPr id="111" name="Shape 109"/>
          <p:cNvSpPr/>
          <p:nvPr/>
        </p:nvSpPr>
        <p:spPr>
          <a:xfrm>
            <a:off x="1920240" y="3584448"/>
            <a:ext cx="182880" cy="548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2139696" y="354787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Inscriptions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3063240" y="3602736"/>
            <a:ext cx="182880" cy="0"/>
          </a:xfrm>
          <a:prstGeom prst="line">
            <a:avLst/>
          </a:prstGeom>
          <a:noFill/>
          <a:ln w="19050">
            <a:solidFill>
              <a:srgbClr val="E24B4A"/>
            </a:solidFill>
            <a:prstDash val="dash"/>
          </a:ln>
        </p:spPr>
      </p:sp>
      <p:sp>
        <p:nvSpPr>
          <p:cNvPr id="114" name="Text 112"/>
          <p:cNvSpPr/>
          <p:nvPr/>
        </p:nvSpPr>
        <p:spPr>
          <a:xfrm>
            <a:off x="3291840" y="354787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abandon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6510528" y="1920240"/>
            <a:ext cx="2505456" cy="1737360"/>
          </a:xfrm>
          <a:prstGeom prst="rect">
            <a:avLst/>
          </a:prstGeom>
          <a:solidFill>
            <a:srgbClr val="D4D2EC"/>
          </a:solidFill>
          <a:ln w="12700">
            <a:solidFill>
              <a:srgbClr val="D4D2EC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473952" y="1883664"/>
            <a:ext cx="2505456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BE8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6565392" y="19385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Repartition domaines</a:t>
            </a:r>
            <a:endParaRPr lang="en-US" sz="1000" dirty="0"/>
          </a:p>
        </p:txBody>
      </p:sp>
      <p:sp>
        <p:nvSpPr>
          <p:cNvPr id="118" name="Shape 116"/>
          <p:cNvSpPr/>
          <p:nvPr/>
        </p:nvSpPr>
        <p:spPr>
          <a:xfrm>
            <a:off x="7265822" y="2264054"/>
            <a:ext cx="921715" cy="921715"/>
          </a:xfrm>
          <a:prstGeom prst="ellipse">
            <a:avLst/>
          </a:prstGeom>
          <a:solidFill>
            <a:srgbClr val="534AB7">
              <a:alpha val="80000"/>
            </a:srgbClr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265822" y="2264054"/>
            <a:ext cx="921715" cy="921715"/>
          </a:xfrm>
          <a:prstGeom prst="ellipse">
            <a:avLst/>
          </a:prstGeom>
          <a:solidFill>
            <a:srgbClr val="1D9E75">
              <a:alpha val="80000"/>
            </a:srgbClr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265822" y="2264054"/>
            <a:ext cx="921715" cy="921715"/>
          </a:xfrm>
          <a:prstGeom prst="ellipse">
            <a:avLst/>
          </a:prstGeom>
          <a:solidFill>
            <a:srgbClr val="EF9F27">
              <a:alpha val="80000"/>
            </a:srgbClr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265822" y="2264054"/>
            <a:ext cx="921715" cy="921715"/>
          </a:xfrm>
          <a:prstGeom prst="ellipse">
            <a:avLst/>
          </a:prstGeom>
          <a:solidFill>
            <a:srgbClr val="E24B4A">
              <a:alpha val="80000"/>
            </a:srgbClr>
          </a:solidFill>
          <a:ln w="6350">
            <a:solidFill>
              <a:srgbClr val="E24B4A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445045" y="2443277"/>
            <a:ext cx="563270" cy="563270"/>
          </a:xfrm>
          <a:prstGeom prst="ellipse">
            <a:avLst/>
          </a:prstGeom>
          <a:solidFill>
            <a:srgbClr val="FFFFFF"/>
          </a:solidFill>
          <a:ln w="6350">
            <a:solidFill>
              <a:srgbClr val="DDDBE8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7406640" y="25877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1200" dirty="0"/>
          </a:p>
        </p:txBody>
      </p:sp>
      <p:sp>
        <p:nvSpPr>
          <p:cNvPr id="124" name="Shape 122"/>
          <p:cNvSpPr/>
          <p:nvPr/>
        </p:nvSpPr>
        <p:spPr>
          <a:xfrm>
            <a:off x="6510528" y="3310128"/>
            <a:ext cx="109728" cy="10972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665976" y="325526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IA</a:t>
            </a: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7680960" y="3310128"/>
            <a:ext cx="109728" cy="10972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7836408" y="325526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Web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6510528" y="3529584"/>
            <a:ext cx="109728" cy="10972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6665976" y="347472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800" dirty="0"/>
          </a:p>
        </p:txBody>
      </p:sp>
      <p:sp>
        <p:nvSpPr>
          <p:cNvPr id="130" name="Shape 128"/>
          <p:cNvSpPr/>
          <p:nvPr/>
        </p:nvSpPr>
        <p:spPr>
          <a:xfrm>
            <a:off x="7680960" y="3529584"/>
            <a:ext cx="109728" cy="10972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7836408" y="347472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800" dirty="0"/>
          </a:p>
        </p:txBody>
      </p:sp>
      <p:sp>
        <p:nvSpPr>
          <p:cNvPr id="132" name="Shape 130"/>
          <p:cNvSpPr/>
          <p:nvPr/>
        </p:nvSpPr>
        <p:spPr>
          <a:xfrm>
            <a:off x="1755648" y="3739896"/>
            <a:ext cx="7260336" cy="1316736"/>
          </a:xfrm>
          <a:prstGeom prst="rect">
            <a:avLst/>
          </a:prstGeom>
          <a:solidFill>
            <a:srgbClr val="D4D2EC"/>
          </a:solidFill>
          <a:ln w="12700">
            <a:solidFill>
              <a:srgbClr val="D4D2EC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719072" y="3703320"/>
            <a:ext cx="7260336" cy="1316736"/>
          </a:xfrm>
          <a:prstGeom prst="rect">
            <a:avLst/>
          </a:prstGeom>
          <a:solidFill>
            <a:srgbClr val="FFFFFF"/>
          </a:solidFill>
          <a:ln w="6350">
            <a:solidFill>
              <a:srgbClr val="DDDBE8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1828800" y="37490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parcours — taux de completion</a:t>
            </a:r>
            <a:endParaRPr lang="en-US" sz="1000" dirty="0"/>
          </a:p>
        </p:txBody>
      </p:sp>
      <p:sp>
        <p:nvSpPr>
          <p:cNvPr id="135" name="Text 133"/>
          <p:cNvSpPr/>
          <p:nvPr/>
        </p:nvSpPr>
        <p:spPr>
          <a:xfrm>
            <a:off x="1828800" y="40416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CSS JavaScript</a:t>
            </a:r>
            <a:endParaRPr lang="en-US" sz="850" dirty="0"/>
          </a:p>
        </p:txBody>
      </p:sp>
      <p:sp>
        <p:nvSpPr>
          <p:cNvPr id="136" name="Shape 134"/>
          <p:cNvSpPr/>
          <p:nvPr/>
        </p:nvSpPr>
        <p:spPr>
          <a:xfrm>
            <a:off x="3886200" y="4069080"/>
            <a:ext cx="843534" cy="10972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3886200" y="4069080"/>
            <a:ext cx="2286000" cy="109728"/>
          </a:xfrm>
          <a:prstGeom prst="rect">
            <a:avLst/>
          </a:prstGeom>
          <a:solidFill>
            <a:srgbClr val="EEECF8"/>
          </a:solidFill>
          <a:ln w="12700">
            <a:solidFill>
              <a:srgbClr val="EEECF8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3886200" y="4069080"/>
            <a:ext cx="843534" cy="10972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6236208" y="40416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36.9%</a:t>
            </a:r>
            <a:endParaRPr lang="en-US" sz="850" dirty="0"/>
          </a:p>
        </p:txBody>
      </p:sp>
      <p:sp>
        <p:nvSpPr>
          <p:cNvPr id="140" name="Shape 138"/>
          <p:cNvSpPr/>
          <p:nvPr/>
        </p:nvSpPr>
        <p:spPr>
          <a:xfrm>
            <a:off x="6766560" y="4069080"/>
            <a:ext cx="746150" cy="109728"/>
          </a:xfrm>
          <a:prstGeom prst="rect">
            <a:avLst/>
          </a:prstGeom>
          <a:solidFill>
            <a:srgbClr val="E24B4A">
              <a:alpha val="60000"/>
            </a:srgbClr>
          </a:solidFill>
          <a:ln w="12700">
            <a:solidFill>
              <a:srgbClr val="E24B4A">
                <a:alpha val="60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766560" y="4069080"/>
            <a:ext cx="1097280" cy="109728"/>
          </a:xfrm>
          <a:prstGeom prst="rect">
            <a:avLst/>
          </a:prstGeom>
          <a:solidFill>
            <a:srgbClr val="FAEAEA"/>
          </a:solidFill>
          <a:ln w="12700">
            <a:solidFill>
              <a:srgbClr val="FAEAEA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766560" y="4069080"/>
            <a:ext cx="746150" cy="109728"/>
          </a:xfrm>
          <a:prstGeom prst="rect">
            <a:avLst/>
          </a:prstGeom>
          <a:solidFill>
            <a:srgbClr val="E24B4A">
              <a:alpha val="70000"/>
            </a:srgbClr>
          </a:solidFill>
          <a:ln w="12700">
            <a:solidFill>
              <a:srgbClr val="E24B4A">
                <a:alpha val="70000"/>
              </a:srgbClr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7918704" y="404164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850" dirty="0"/>
          </a:p>
        </p:txBody>
      </p:sp>
      <p:sp>
        <p:nvSpPr>
          <p:cNvPr id="144" name="Text 142"/>
          <p:cNvSpPr/>
          <p:nvPr/>
        </p:nvSpPr>
        <p:spPr>
          <a:xfrm>
            <a:off x="1828800" y="42108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&amp; Bases Donnees</a:t>
            </a:r>
            <a:endParaRPr lang="en-US" sz="850" dirty="0"/>
          </a:p>
        </p:txBody>
      </p:sp>
      <p:sp>
        <p:nvSpPr>
          <p:cNvPr id="145" name="Shape 143"/>
          <p:cNvSpPr/>
          <p:nvPr/>
        </p:nvSpPr>
        <p:spPr>
          <a:xfrm>
            <a:off x="3886200" y="4238244"/>
            <a:ext cx="832104" cy="10972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3886200" y="4238244"/>
            <a:ext cx="2286000" cy="109728"/>
          </a:xfrm>
          <a:prstGeom prst="rect">
            <a:avLst/>
          </a:prstGeom>
          <a:solidFill>
            <a:srgbClr val="EEECF8"/>
          </a:solidFill>
          <a:ln w="12700">
            <a:solidFill>
              <a:srgbClr val="EEECF8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3886200" y="4238244"/>
            <a:ext cx="832104" cy="10972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6236208" y="421081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36.4%</a:t>
            </a:r>
            <a:endParaRPr lang="en-US" sz="850" dirty="0"/>
          </a:p>
        </p:txBody>
      </p:sp>
      <p:sp>
        <p:nvSpPr>
          <p:cNvPr id="149" name="Shape 147"/>
          <p:cNvSpPr/>
          <p:nvPr/>
        </p:nvSpPr>
        <p:spPr>
          <a:xfrm>
            <a:off x="6766560" y="4238244"/>
            <a:ext cx="689092" cy="109728"/>
          </a:xfrm>
          <a:prstGeom prst="rect">
            <a:avLst/>
          </a:prstGeom>
          <a:solidFill>
            <a:srgbClr val="E24B4A">
              <a:alpha val="60000"/>
            </a:srgbClr>
          </a:solidFill>
          <a:ln w="12700">
            <a:solidFill>
              <a:srgbClr val="E24B4A">
                <a:alpha val="60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766560" y="4238244"/>
            <a:ext cx="1097280" cy="109728"/>
          </a:xfrm>
          <a:prstGeom prst="rect">
            <a:avLst/>
          </a:prstGeom>
          <a:solidFill>
            <a:srgbClr val="FAEAEA"/>
          </a:solidFill>
          <a:ln w="12700">
            <a:solidFill>
              <a:srgbClr val="FAEAEA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6766560" y="4238244"/>
            <a:ext cx="689092" cy="109728"/>
          </a:xfrm>
          <a:prstGeom prst="rect">
            <a:avLst/>
          </a:prstGeom>
          <a:solidFill>
            <a:srgbClr val="E24B4A">
              <a:alpha val="70000"/>
            </a:srgbClr>
          </a:solidFill>
          <a:ln w="12700">
            <a:solidFill>
              <a:srgbClr val="E24B4A">
                <a:alpha val="70000"/>
              </a:srgbClr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7918704" y="421081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15.7%</a:t>
            </a:r>
            <a:endParaRPr lang="en-US" sz="850" dirty="0"/>
          </a:p>
        </p:txBody>
      </p:sp>
      <p:sp>
        <p:nvSpPr>
          <p:cNvPr id="153" name="Text 151"/>
          <p:cNvSpPr/>
          <p:nvPr/>
        </p:nvSpPr>
        <p:spPr>
          <a:xfrm>
            <a:off x="1828800" y="437997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Web Django</a:t>
            </a:r>
            <a:endParaRPr lang="en-US" sz="850" dirty="0"/>
          </a:p>
        </p:txBody>
      </p:sp>
      <p:sp>
        <p:nvSpPr>
          <p:cNvPr id="154" name="Shape 152"/>
          <p:cNvSpPr/>
          <p:nvPr/>
        </p:nvSpPr>
        <p:spPr>
          <a:xfrm>
            <a:off x="3886200" y="4407408"/>
            <a:ext cx="809244" cy="10972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3886200" y="4407408"/>
            <a:ext cx="2286000" cy="109728"/>
          </a:xfrm>
          <a:prstGeom prst="rect">
            <a:avLst/>
          </a:prstGeom>
          <a:solidFill>
            <a:srgbClr val="EEECF8"/>
          </a:solidFill>
          <a:ln w="12700">
            <a:solidFill>
              <a:srgbClr val="EEECF8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3886200" y="4407408"/>
            <a:ext cx="809244" cy="10972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6236208" y="437997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35.4%</a:t>
            </a:r>
            <a:endParaRPr lang="en-US" sz="850" dirty="0"/>
          </a:p>
        </p:txBody>
      </p:sp>
      <p:sp>
        <p:nvSpPr>
          <p:cNvPr id="158" name="Shape 156"/>
          <p:cNvSpPr/>
          <p:nvPr/>
        </p:nvSpPr>
        <p:spPr>
          <a:xfrm>
            <a:off x="6766560" y="4407408"/>
            <a:ext cx="772485" cy="109728"/>
          </a:xfrm>
          <a:prstGeom prst="rect">
            <a:avLst/>
          </a:prstGeom>
          <a:solidFill>
            <a:srgbClr val="E24B4A">
              <a:alpha val="60000"/>
            </a:srgbClr>
          </a:solidFill>
          <a:ln w="12700">
            <a:solidFill>
              <a:srgbClr val="E24B4A">
                <a:alpha val="60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766560" y="4407408"/>
            <a:ext cx="1097280" cy="109728"/>
          </a:xfrm>
          <a:prstGeom prst="rect">
            <a:avLst/>
          </a:prstGeom>
          <a:solidFill>
            <a:srgbClr val="FAEAEA"/>
          </a:solidFill>
          <a:ln w="12700">
            <a:solidFill>
              <a:srgbClr val="FAEAEA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766560" y="4407408"/>
            <a:ext cx="772485" cy="109728"/>
          </a:xfrm>
          <a:prstGeom prst="rect">
            <a:avLst/>
          </a:prstGeom>
          <a:solidFill>
            <a:srgbClr val="E24B4A">
              <a:alpha val="70000"/>
            </a:srgbClr>
          </a:solidFill>
          <a:ln w="12700">
            <a:solidFill>
              <a:srgbClr val="E24B4A">
                <a:alpha val="70000"/>
              </a:srgbClr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7918704" y="437997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17.6%</a:t>
            </a:r>
            <a:endParaRPr lang="en-US" sz="850" dirty="0"/>
          </a:p>
        </p:txBody>
      </p:sp>
      <p:sp>
        <p:nvSpPr>
          <p:cNvPr id="162" name="Text 160"/>
          <p:cNvSpPr/>
          <p:nvPr/>
        </p:nvSpPr>
        <p:spPr>
          <a:xfrm>
            <a:off x="1828800" y="454914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850" dirty="0"/>
          </a:p>
        </p:txBody>
      </p:sp>
      <p:sp>
        <p:nvSpPr>
          <p:cNvPr id="163" name="Shape 161"/>
          <p:cNvSpPr/>
          <p:nvPr/>
        </p:nvSpPr>
        <p:spPr>
          <a:xfrm>
            <a:off x="3886200" y="4576572"/>
            <a:ext cx="781812" cy="10972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3886200" y="4576572"/>
            <a:ext cx="2286000" cy="109728"/>
          </a:xfrm>
          <a:prstGeom prst="rect">
            <a:avLst/>
          </a:prstGeom>
          <a:solidFill>
            <a:srgbClr val="EEECF8"/>
          </a:solidFill>
          <a:ln w="12700">
            <a:solidFill>
              <a:srgbClr val="EEECF8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3886200" y="4576572"/>
            <a:ext cx="781812" cy="10972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6236208" y="45491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34.2%</a:t>
            </a:r>
            <a:endParaRPr lang="en-US" sz="850" dirty="0"/>
          </a:p>
        </p:txBody>
      </p:sp>
      <p:sp>
        <p:nvSpPr>
          <p:cNvPr id="167" name="Shape 165"/>
          <p:cNvSpPr/>
          <p:nvPr/>
        </p:nvSpPr>
        <p:spPr>
          <a:xfrm>
            <a:off x="6766560" y="4576572"/>
            <a:ext cx="860268" cy="109728"/>
          </a:xfrm>
          <a:prstGeom prst="rect">
            <a:avLst/>
          </a:prstGeom>
          <a:solidFill>
            <a:srgbClr val="E24B4A">
              <a:alpha val="60000"/>
            </a:srgbClr>
          </a:solidFill>
          <a:ln w="12700">
            <a:solidFill>
              <a:srgbClr val="E24B4A">
                <a:alpha val="6000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766560" y="4576572"/>
            <a:ext cx="1097280" cy="109728"/>
          </a:xfrm>
          <a:prstGeom prst="rect">
            <a:avLst/>
          </a:prstGeom>
          <a:solidFill>
            <a:srgbClr val="FAEAEA"/>
          </a:solidFill>
          <a:ln w="12700">
            <a:solidFill>
              <a:srgbClr val="FAEAEA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766560" y="4576572"/>
            <a:ext cx="860268" cy="109728"/>
          </a:xfrm>
          <a:prstGeom prst="rect">
            <a:avLst/>
          </a:prstGeom>
          <a:solidFill>
            <a:srgbClr val="E24B4A">
              <a:alpha val="70000"/>
            </a:srgbClr>
          </a:solidFill>
          <a:ln w="12700">
            <a:solidFill>
              <a:srgbClr val="E24B4A">
                <a:alpha val="70000"/>
              </a:srgbClr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7918704" y="45491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19.6%</a:t>
            </a:r>
            <a:endParaRPr lang="en-US" sz="850" dirty="0"/>
          </a:p>
        </p:txBody>
      </p:sp>
      <p:sp>
        <p:nvSpPr>
          <p:cNvPr id="171" name="Text 169"/>
          <p:cNvSpPr/>
          <p:nvPr/>
        </p:nvSpPr>
        <p:spPr>
          <a:xfrm>
            <a:off x="1828800" y="47183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Dashboards</a:t>
            </a:r>
            <a:endParaRPr lang="en-US" sz="850" dirty="0"/>
          </a:p>
        </p:txBody>
      </p:sp>
      <p:sp>
        <p:nvSpPr>
          <p:cNvPr id="172" name="Shape 170"/>
          <p:cNvSpPr/>
          <p:nvPr/>
        </p:nvSpPr>
        <p:spPr>
          <a:xfrm>
            <a:off x="3886200" y="4745736"/>
            <a:ext cx="777240" cy="10972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3886200" y="4745736"/>
            <a:ext cx="2286000" cy="109728"/>
          </a:xfrm>
          <a:prstGeom prst="rect">
            <a:avLst/>
          </a:prstGeom>
          <a:solidFill>
            <a:srgbClr val="EEECF8"/>
          </a:solidFill>
          <a:ln w="12700">
            <a:solidFill>
              <a:srgbClr val="EEECF8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3886200" y="4745736"/>
            <a:ext cx="777240" cy="10972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6236208" y="47183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850" dirty="0"/>
          </a:p>
        </p:txBody>
      </p:sp>
      <p:sp>
        <p:nvSpPr>
          <p:cNvPr id="176" name="Shape 174"/>
          <p:cNvSpPr/>
          <p:nvPr/>
        </p:nvSpPr>
        <p:spPr>
          <a:xfrm>
            <a:off x="6766560" y="4745736"/>
            <a:ext cx="658368" cy="109728"/>
          </a:xfrm>
          <a:prstGeom prst="rect">
            <a:avLst/>
          </a:prstGeom>
          <a:solidFill>
            <a:srgbClr val="E24B4A">
              <a:alpha val="60000"/>
            </a:srgbClr>
          </a:solidFill>
          <a:ln w="12700">
            <a:solidFill>
              <a:srgbClr val="E24B4A">
                <a:alpha val="60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766560" y="4745736"/>
            <a:ext cx="1097280" cy="109728"/>
          </a:xfrm>
          <a:prstGeom prst="rect">
            <a:avLst/>
          </a:prstGeom>
          <a:solidFill>
            <a:srgbClr val="FAEAEA"/>
          </a:solidFill>
          <a:ln w="12700">
            <a:solidFill>
              <a:srgbClr val="FAEAEA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766560" y="4745736"/>
            <a:ext cx="658368" cy="109728"/>
          </a:xfrm>
          <a:prstGeom prst="rect">
            <a:avLst/>
          </a:prstGeom>
          <a:solidFill>
            <a:srgbClr val="E24B4A">
              <a:alpha val="70000"/>
            </a:srgbClr>
          </a:solidFill>
          <a:ln w="12700">
            <a:solidFill>
              <a:srgbClr val="E24B4A">
                <a:alpha val="70000"/>
              </a:srgbClr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7918704" y="47183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850" dirty="0"/>
          </a:p>
        </p:txBody>
      </p:sp>
      <p:sp>
        <p:nvSpPr>
          <p:cNvPr id="180" name="Text 178"/>
          <p:cNvSpPr/>
          <p:nvPr/>
        </p:nvSpPr>
        <p:spPr>
          <a:xfrm>
            <a:off x="3886200" y="37490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800" dirty="0"/>
          </a:p>
        </p:txBody>
      </p:sp>
      <p:sp>
        <p:nvSpPr>
          <p:cNvPr id="181" name="Text 179"/>
          <p:cNvSpPr/>
          <p:nvPr/>
        </p:nvSpPr>
        <p:spPr>
          <a:xfrm>
            <a:off x="6766560" y="3749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0" cy="51435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822960"/>
            <a:ext cx="2286000" cy="2286000"/>
          </a:xfrm>
          <a:prstGeom prst="ellipse">
            <a:avLst/>
          </a:prstGeom>
          <a:solidFill>
            <a:srgbClr val="3C3489">
              <a:alpha val="60000"/>
            </a:srgbClr>
          </a:solidFill>
          <a:ln w="12700">
            <a:solidFill>
              <a:srgbClr val="3C3489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74320" y="3931920"/>
            <a:ext cx="2103120" cy="2103120"/>
          </a:xfrm>
          <a:prstGeom prst="ellipse">
            <a:avLst/>
          </a:prstGeom>
          <a:solidFill>
            <a:srgbClr val="3C3489">
              <a:alpha val="50000"/>
            </a:srgbClr>
          </a:solidFill>
          <a:ln w="12700">
            <a:solidFill>
              <a:srgbClr val="3C3489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201168"/>
            <a:ext cx="347472" cy="34747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85216" y="23774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EduTrack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85216" y="402336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2880" y="713232"/>
            <a:ext cx="1188720" cy="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" y="877824"/>
            <a:ext cx="292608" cy="292608"/>
          </a:xfrm>
          <a:prstGeom prst="ellipse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877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21208" y="8961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executive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" y="1508760"/>
            <a:ext cx="1408176" cy="475488"/>
          </a:xfrm>
          <a:prstGeom prst="rect">
            <a:avLst/>
          </a:prstGeom>
          <a:solidFill>
            <a:srgbClr val="534AB7">
              <a:alpha val="80000"/>
            </a:srgbClr>
          </a:solidFill>
          <a:ln w="12700">
            <a:solidFill>
              <a:srgbClr val="534AB7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" y="1508760"/>
            <a:ext cx="45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1563624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" y="1563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21208" y="15819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Apprenants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64592" y="2249424"/>
            <a:ext cx="292608" cy="292608"/>
          </a:xfrm>
          <a:prstGeom prst="ellipse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4592" y="2249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1208" y="22677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64592" y="2935224"/>
            <a:ext cx="292608" cy="292608"/>
          </a:xfrm>
          <a:prstGeom prst="ellipse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4592" y="2935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1208" y="29535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64592" y="3621024"/>
            <a:ext cx="292608" cy="292608"/>
          </a:xfrm>
          <a:prstGeom prst="ellipse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4592" y="3621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21208" y="36393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ML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82880" y="4773168"/>
            <a:ext cx="1188720" cy="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0" y="486460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0" y="4992624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2022 - 2024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664208" y="109728"/>
            <a:ext cx="7315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B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664208" y="109728"/>
            <a:ext cx="54864" cy="5943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28800" y="109728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des apprenants EduTrack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58000" y="10972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4 497 apprenants uniques  ·  8 pays  ·  4 canaux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755648" y="859536"/>
            <a:ext cx="2286000" cy="777240"/>
          </a:xfrm>
          <a:prstGeom prst="rect">
            <a:avLst/>
          </a:prstGeom>
          <a:solidFill>
            <a:srgbClr val="D4D2EC"/>
          </a:solidFill>
          <a:ln w="12700">
            <a:solidFill>
              <a:srgbClr val="D4D2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719072" y="822960"/>
            <a:ext cx="22860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B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719072" y="822960"/>
            <a:ext cx="45720" cy="7772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56232" y="89611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4 497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1856232" y="122529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Apprenants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178808" y="859536"/>
            <a:ext cx="2286000" cy="777240"/>
          </a:xfrm>
          <a:prstGeom prst="rect">
            <a:avLst/>
          </a:prstGeom>
          <a:solidFill>
            <a:srgbClr val="D4D2EC"/>
          </a:solidFill>
          <a:ln w="12700">
            <a:solidFill>
              <a:srgbClr val="D4D2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42232" y="822960"/>
            <a:ext cx="22860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B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142232" y="822960"/>
            <a:ext cx="45720" cy="7772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79392" y="89611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4279392" y="122529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Cote d'Ivoire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601968" y="859536"/>
            <a:ext cx="2286000" cy="777240"/>
          </a:xfrm>
          <a:prstGeom prst="rect">
            <a:avLst/>
          </a:prstGeom>
          <a:solidFill>
            <a:srgbClr val="D4D2EC"/>
          </a:solidFill>
          <a:ln w="12700">
            <a:solidFill>
              <a:srgbClr val="D4D2E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65392" y="822960"/>
            <a:ext cx="22860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BE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65392" y="822960"/>
            <a:ext cx="45720" cy="7772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02552" y="89611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6702552" y="122529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755648" y="1773936"/>
            <a:ext cx="3474720" cy="1828800"/>
          </a:xfrm>
          <a:prstGeom prst="rect">
            <a:avLst/>
          </a:prstGeom>
          <a:solidFill>
            <a:srgbClr val="D4D2EC"/>
          </a:solidFill>
          <a:ln w="12700">
            <a:solidFill>
              <a:srgbClr val="D4D2E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719072" y="1737360"/>
            <a:ext cx="34747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B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828800" y="179222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Apprenants par pays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828800" y="21214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Cote d'Ivoire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246120" y="2167128"/>
            <a:ext cx="1691640" cy="118872"/>
          </a:xfrm>
          <a:prstGeom prst="rect">
            <a:avLst/>
          </a:prstGeom>
          <a:solidFill>
            <a:srgbClr val="EEECF8"/>
          </a:solidFill>
          <a:ln w="12700">
            <a:solidFill>
              <a:srgbClr val="EEECF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46120" y="2167128"/>
            <a:ext cx="1503680" cy="11887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83480" y="21214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828800" y="23500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Senegal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246120" y="2395728"/>
            <a:ext cx="1691640" cy="118872"/>
          </a:xfrm>
          <a:prstGeom prst="rect">
            <a:avLst/>
          </a:prstGeom>
          <a:solidFill>
            <a:srgbClr val="EEECF8"/>
          </a:solidFill>
          <a:ln w="12700">
            <a:solidFill>
              <a:srgbClr val="EEECF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246120" y="2395728"/>
            <a:ext cx="751840" cy="11887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83480" y="23500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828800" y="25786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Cameroun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246120" y="2624328"/>
            <a:ext cx="1691640" cy="118872"/>
          </a:xfrm>
          <a:prstGeom prst="rect">
            <a:avLst/>
          </a:prstGeom>
          <a:solidFill>
            <a:srgbClr val="EEECF8"/>
          </a:solidFill>
          <a:ln w="12700">
            <a:solidFill>
              <a:srgbClr val="EEECF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246120" y="2624328"/>
            <a:ext cx="601472" cy="11887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983480" y="25786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828800" y="28072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3246120" y="2852928"/>
            <a:ext cx="1691640" cy="118872"/>
          </a:xfrm>
          <a:prstGeom prst="rect">
            <a:avLst/>
          </a:prstGeom>
          <a:solidFill>
            <a:srgbClr val="EEECF8"/>
          </a:solidFill>
          <a:ln w="12700">
            <a:solidFill>
              <a:srgbClr val="EEECF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246120" y="2852928"/>
            <a:ext cx="300736" cy="118872"/>
          </a:xfrm>
          <a:prstGeom prst="rect">
            <a:avLst/>
          </a:prstGeom>
          <a:solidFill>
            <a:srgbClr val="A09BE0"/>
          </a:solidFill>
          <a:ln w="12700">
            <a:solidFill>
              <a:srgbClr val="A09BE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983480" y="28072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09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1828800" y="30358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Burkina Faso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246120" y="3081528"/>
            <a:ext cx="1691640" cy="118872"/>
          </a:xfrm>
          <a:prstGeom prst="rect">
            <a:avLst/>
          </a:prstGeom>
          <a:solidFill>
            <a:srgbClr val="EEECF8"/>
          </a:solidFill>
          <a:ln w="12700">
            <a:solidFill>
              <a:srgbClr val="EEECF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246120" y="3081528"/>
            <a:ext cx="263144" cy="118872"/>
          </a:xfrm>
          <a:prstGeom prst="rect">
            <a:avLst/>
          </a:prstGeom>
          <a:solidFill>
            <a:srgbClr val="888780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83480" y="30358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1828800" y="32644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3246120" y="3310128"/>
            <a:ext cx="1691640" cy="118872"/>
          </a:xfrm>
          <a:prstGeom prst="rect">
            <a:avLst/>
          </a:prstGeom>
          <a:solidFill>
            <a:srgbClr val="EEECF8"/>
          </a:solidFill>
          <a:ln w="12700">
            <a:solidFill>
              <a:srgbClr val="EEECF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246120" y="3310128"/>
            <a:ext cx="338328" cy="11887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983480" y="32644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5303520" y="1773936"/>
            <a:ext cx="3712464" cy="1828800"/>
          </a:xfrm>
          <a:prstGeom prst="rect">
            <a:avLst/>
          </a:prstGeom>
          <a:solidFill>
            <a:srgbClr val="D4D2EC"/>
          </a:solidFill>
          <a:ln w="12700">
            <a:solidFill>
              <a:srgbClr val="D4D2E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266944" y="1737360"/>
            <a:ext cx="3712464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BE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376672" y="179222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des ages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5394960" y="2933918"/>
            <a:ext cx="475488" cy="376210"/>
          </a:xfrm>
          <a:prstGeom prst="rect">
            <a:avLst/>
          </a:prstGeom>
          <a:solidFill>
            <a:srgbClr val="7B79CC"/>
          </a:solidFill>
          <a:ln w="12700">
            <a:solidFill>
              <a:srgbClr val="EEECF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394960" y="332841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18-22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5394960" y="273275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5971032" y="2338251"/>
            <a:ext cx="475488" cy="971877"/>
          </a:xfrm>
          <a:prstGeom prst="rect">
            <a:avLst/>
          </a:prstGeom>
          <a:solidFill>
            <a:srgbClr val="1D9E75"/>
          </a:solidFill>
          <a:ln w="12700">
            <a:solidFill>
              <a:srgbClr val="EEECF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971032" y="332841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23-27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5971032" y="2137083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6547104" y="2432304"/>
            <a:ext cx="475488" cy="877824"/>
          </a:xfrm>
          <a:prstGeom prst="rect">
            <a:avLst/>
          </a:prstGeom>
          <a:solidFill>
            <a:srgbClr val="1D9E75"/>
          </a:solidFill>
          <a:ln w="12700">
            <a:solidFill>
              <a:srgbClr val="EEECF8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547104" y="332841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28-32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6547104" y="223113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7123176" y="2808514"/>
            <a:ext cx="475488" cy="501614"/>
          </a:xfrm>
          <a:prstGeom prst="rect">
            <a:avLst/>
          </a:prstGeom>
          <a:solidFill>
            <a:srgbClr val="7B79CC"/>
          </a:solidFill>
          <a:ln w="12700">
            <a:solidFill>
              <a:srgbClr val="EEECF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123176" y="332841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33-37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7123176" y="260734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7699248" y="3059321"/>
            <a:ext cx="475488" cy="250807"/>
          </a:xfrm>
          <a:prstGeom prst="rect">
            <a:avLst/>
          </a:prstGeom>
          <a:solidFill>
            <a:srgbClr val="7B79CC"/>
          </a:solidFill>
          <a:ln w="12700">
            <a:solidFill>
              <a:srgbClr val="EEECF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699248" y="332841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38-42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7699248" y="2858153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8275320" y="3153374"/>
            <a:ext cx="475488" cy="156754"/>
          </a:xfrm>
          <a:prstGeom prst="rect">
            <a:avLst/>
          </a:prstGeom>
          <a:solidFill>
            <a:srgbClr val="7B79CC"/>
          </a:solidFill>
          <a:ln w="12700">
            <a:solidFill>
              <a:srgbClr val="EEECF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275320" y="332841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43+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8275320" y="295220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1755648" y="3694176"/>
            <a:ext cx="3474720" cy="1371600"/>
          </a:xfrm>
          <a:prstGeom prst="rect">
            <a:avLst/>
          </a:prstGeom>
          <a:solidFill>
            <a:srgbClr val="D4D2EC"/>
          </a:solidFill>
          <a:ln w="12700">
            <a:solidFill>
              <a:srgbClr val="D4D2EC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719072" y="3657600"/>
            <a:ext cx="34747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BE8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828800" y="371246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d'acquisition</a:t>
            </a:r>
            <a:endParaRPr lang="en-US" sz="1000" dirty="0"/>
          </a:p>
        </p:txBody>
      </p:sp>
      <p:sp>
        <p:nvSpPr>
          <p:cNvPr id="100" name="Text 98"/>
          <p:cNvSpPr/>
          <p:nvPr/>
        </p:nvSpPr>
        <p:spPr>
          <a:xfrm>
            <a:off x="1828800" y="40416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Organique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3154680" y="4078224"/>
            <a:ext cx="1463040" cy="128016"/>
          </a:xfrm>
          <a:prstGeom prst="rect">
            <a:avLst/>
          </a:prstGeom>
          <a:solidFill>
            <a:srgbClr val="EEECF8"/>
          </a:solidFill>
          <a:ln w="12700">
            <a:solidFill>
              <a:srgbClr val="EEECF8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154680" y="4078224"/>
            <a:ext cx="512064" cy="12801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645152" y="404164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1828800" y="42519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Reseaux sociaux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3154680" y="4288536"/>
            <a:ext cx="1463040" cy="128016"/>
          </a:xfrm>
          <a:prstGeom prst="rect">
            <a:avLst/>
          </a:prstGeom>
          <a:solidFill>
            <a:srgbClr val="EEECF8"/>
          </a:solidFill>
          <a:ln w="12700">
            <a:solidFill>
              <a:srgbClr val="EEECF8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154680" y="4288536"/>
            <a:ext cx="438912" cy="128016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645152" y="42519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1828800" y="44622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Partenaire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3154680" y="4498848"/>
            <a:ext cx="1463040" cy="128016"/>
          </a:xfrm>
          <a:prstGeom prst="rect">
            <a:avLst/>
          </a:prstGeom>
          <a:solidFill>
            <a:srgbClr val="EEECF8"/>
          </a:solidFill>
          <a:ln w="12700">
            <a:solidFill>
              <a:srgbClr val="EEECF8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154680" y="4498848"/>
            <a:ext cx="292608" cy="128016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645152" y="44622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1828800" y="46725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Publicite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3154680" y="4709160"/>
            <a:ext cx="1463040" cy="128016"/>
          </a:xfrm>
          <a:prstGeom prst="rect">
            <a:avLst/>
          </a:prstGeom>
          <a:solidFill>
            <a:srgbClr val="EEECF8"/>
          </a:solidFill>
          <a:ln w="12700">
            <a:solidFill>
              <a:srgbClr val="EEECF8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154680" y="4709160"/>
            <a:ext cx="219456" cy="128016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645152" y="467258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5303520" y="3694176"/>
            <a:ext cx="3712464" cy="1371600"/>
          </a:xfrm>
          <a:prstGeom prst="rect">
            <a:avLst/>
          </a:prstGeom>
          <a:solidFill>
            <a:srgbClr val="D4D2EC"/>
          </a:solidFill>
          <a:ln w="12700">
            <a:solidFill>
              <a:srgbClr val="D4D2EC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266944" y="3657600"/>
            <a:ext cx="3712464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BE8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376672" y="371246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Methode de paiement</a:t>
            </a:r>
            <a:endParaRPr lang="en-US" sz="1000" dirty="0"/>
          </a:p>
        </p:txBody>
      </p:sp>
      <p:sp>
        <p:nvSpPr>
          <p:cNvPr id="119" name="Text 117"/>
          <p:cNvSpPr/>
          <p:nvPr/>
        </p:nvSpPr>
        <p:spPr>
          <a:xfrm>
            <a:off x="5376672" y="40416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Money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6702552" y="4078224"/>
            <a:ext cx="1645920" cy="128016"/>
          </a:xfrm>
          <a:prstGeom prst="rect">
            <a:avLst/>
          </a:prstGeom>
          <a:solidFill>
            <a:srgbClr val="EEECF8"/>
          </a:solidFill>
          <a:ln w="12700">
            <a:solidFill>
              <a:srgbClr val="EEECF8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702552" y="4078224"/>
            <a:ext cx="806501" cy="12801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8375904" y="404164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</a:t>
            </a:r>
            <a:endParaRPr lang="en-US" sz="900" dirty="0"/>
          </a:p>
        </p:txBody>
      </p:sp>
      <p:sp>
        <p:nvSpPr>
          <p:cNvPr id="123" name="Text 121"/>
          <p:cNvSpPr/>
          <p:nvPr/>
        </p:nvSpPr>
        <p:spPr>
          <a:xfrm>
            <a:off x="5376672" y="42519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bancaire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6702552" y="4288536"/>
            <a:ext cx="1645920" cy="128016"/>
          </a:xfrm>
          <a:prstGeom prst="rect">
            <a:avLst/>
          </a:prstGeom>
          <a:solidFill>
            <a:srgbClr val="EEECF8"/>
          </a:solidFill>
          <a:ln w="12700">
            <a:solidFill>
              <a:srgbClr val="EEECF8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702552" y="4288536"/>
            <a:ext cx="411480" cy="128016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8375904" y="42519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5376672" y="44622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Virement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6702552" y="4498848"/>
            <a:ext cx="1645920" cy="128016"/>
          </a:xfrm>
          <a:prstGeom prst="rect">
            <a:avLst/>
          </a:prstGeom>
          <a:solidFill>
            <a:srgbClr val="EEECF8"/>
          </a:solidFill>
          <a:ln w="12700">
            <a:solidFill>
              <a:srgbClr val="EEECF8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702552" y="4498848"/>
            <a:ext cx="246888" cy="128016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8375904" y="44622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900" dirty="0"/>
          </a:p>
        </p:txBody>
      </p:sp>
      <p:sp>
        <p:nvSpPr>
          <p:cNvPr id="131" name="Text 129"/>
          <p:cNvSpPr/>
          <p:nvPr/>
        </p:nvSpPr>
        <p:spPr>
          <a:xfrm>
            <a:off x="5376672" y="46725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</a:t>
            </a:r>
            <a:endParaRPr lang="en-US" sz="900" dirty="0"/>
          </a:p>
        </p:txBody>
      </p:sp>
      <p:sp>
        <p:nvSpPr>
          <p:cNvPr id="132" name="Shape 130"/>
          <p:cNvSpPr/>
          <p:nvPr/>
        </p:nvSpPr>
        <p:spPr>
          <a:xfrm>
            <a:off x="6702552" y="4709160"/>
            <a:ext cx="1645920" cy="128016"/>
          </a:xfrm>
          <a:prstGeom prst="rect">
            <a:avLst/>
          </a:prstGeom>
          <a:solidFill>
            <a:srgbClr val="EEECF8"/>
          </a:solidFill>
          <a:ln w="12700">
            <a:solidFill>
              <a:srgbClr val="EEECF8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702552" y="4709160"/>
            <a:ext cx="181051" cy="128016"/>
          </a:xfrm>
          <a:prstGeom prst="rect">
            <a:avLst/>
          </a:prstGeom>
          <a:solidFill>
            <a:srgbClr val="888780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8375904" y="467258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0" cy="51435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822960"/>
            <a:ext cx="2286000" cy="2286000"/>
          </a:xfrm>
          <a:prstGeom prst="ellipse">
            <a:avLst/>
          </a:prstGeom>
          <a:solidFill>
            <a:srgbClr val="3C3489">
              <a:alpha val="60000"/>
            </a:srgbClr>
          </a:solidFill>
          <a:ln w="12700">
            <a:solidFill>
              <a:srgbClr val="3C3489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74320" y="3931920"/>
            <a:ext cx="2103120" cy="2103120"/>
          </a:xfrm>
          <a:prstGeom prst="ellipse">
            <a:avLst/>
          </a:prstGeom>
          <a:solidFill>
            <a:srgbClr val="3C3489">
              <a:alpha val="50000"/>
            </a:srgbClr>
          </a:solidFill>
          <a:ln w="12700">
            <a:solidFill>
              <a:srgbClr val="3C3489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201168"/>
            <a:ext cx="347472" cy="34747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85216" y="23774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EduTrack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85216" y="402336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2880" y="713232"/>
            <a:ext cx="1188720" cy="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" y="877824"/>
            <a:ext cx="292608" cy="292608"/>
          </a:xfrm>
          <a:prstGeom prst="ellipse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877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21208" y="8961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executive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64592" y="1563624"/>
            <a:ext cx="292608" cy="292608"/>
          </a:xfrm>
          <a:prstGeom prst="ellipse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" y="1563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21208" y="15819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Apprenants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" y="2194560"/>
            <a:ext cx="1408176" cy="475488"/>
          </a:xfrm>
          <a:prstGeom prst="rect">
            <a:avLst/>
          </a:prstGeom>
          <a:solidFill>
            <a:srgbClr val="534AB7">
              <a:alpha val="80000"/>
            </a:srgbClr>
          </a:solidFill>
          <a:ln w="12700">
            <a:solidFill>
              <a:srgbClr val="534AB7">
                <a:alpha val="7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" y="2194560"/>
            <a:ext cx="45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2249424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4592" y="2249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1208" y="22677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64592" y="2935224"/>
            <a:ext cx="292608" cy="292608"/>
          </a:xfrm>
          <a:prstGeom prst="ellipse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4592" y="2935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1208" y="29535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64592" y="3621024"/>
            <a:ext cx="292608" cy="292608"/>
          </a:xfrm>
          <a:prstGeom prst="ellipse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4592" y="3621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21208" y="36393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ML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82880" y="4773168"/>
            <a:ext cx="1188720" cy="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0" y="486460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0" y="4992624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2022 - 2024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664208" y="109728"/>
            <a:ext cx="7315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B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664208" y="109728"/>
            <a:ext cx="54864" cy="59436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28800" y="109728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&amp; Instructeurs — Performance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58000" y="10972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parcours  ·  8 instructeurs  ·  Quadrant CSAT x Completion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755648" y="859536"/>
            <a:ext cx="3749040" cy="2926080"/>
          </a:xfrm>
          <a:prstGeom prst="rect">
            <a:avLst/>
          </a:prstGeom>
          <a:solidFill>
            <a:srgbClr val="D4D2EC"/>
          </a:solidFill>
          <a:ln w="12700">
            <a:solidFill>
              <a:srgbClr val="D4D2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719072" y="822960"/>
            <a:ext cx="374904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B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28800" y="87782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performance instructeurs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011680" y="3438144"/>
            <a:ext cx="32004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011680" y="1225296"/>
            <a:ext cx="0" cy="2212848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11680" y="2331720"/>
            <a:ext cx="3200400" cy="0"/>
          </a:xfrm>
          <a:prstGeom prst="line">
            <a:avLst/>
          </a:prstGeom>
          <a:noFill/>
          <a:ln w="6350">
            <a:solidFill>
              <a:srgbClr val="888780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3611880" y="1225296"/>
            <a:ext cx="0" cy="2212848"/>
          </a:xfrm>
          <a:prstGeom prst="line">
            <a:avLst/>
          </a:prstGeom>
          <a:noFill/>
          <a:ln w="6350">
            <a:solidFill>
              <a:srgbClr val="888780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3639312" y="124358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029968" y="23591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accompagner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217172" y="2400883"/>
            <a:ext cx="979163" cy="979163"/>
          </a:xfrm>
          <a:prstGeom prst="ellipse">
            <a:avLst/>
          </a:prstGeom>
          <a:solidFill>
            <a:srgbClr val="1D9E75">
              <a:alpha val="75000"/>
            </a:srgbClr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86714" y="3398333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Clarisse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4359228" y="2346548"/>
            <a:ext cx="695051" cy="695051"/>
          </a:xfrm>
          <a:prstGeom prst="ellipse">
            <a:avLst/>
          </a:prstGeom>
          <a:solidFill>
            <a:srgbClr val="1D9E75">
              <a:alpha val="75000"/>
            </a:srgbClr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86714" y="3059887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Konaté Aida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3838216" y="1584027"/>
            <a:ext cx="726422" cy="726422"/>
          </a:xfrm>
          <a:prstGeom prst="ellipse">
            <a:avLst/>
          </a:prstGeom>
          <a:solidFill>
            <a:srgbClr val="EF9F27">
              <a:alpha val="75000"/>
            </a:srgbClr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81387" y="2328737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Traore Eric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3508110" y="1316964"/>
            <a:ext cx="712867" cy="712867"/>
          </a:xfrm>
          <a:prstGeom prst="ellipse">
            <a:avLst/>
          </a:prstGeom>
          <a:solidFill>
            <a:srgbClr val="534AB7">
              <a:alpha val="75000"/>
            </a:srgbClr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44503" y="2048119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Ndoye C.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3344589" y="1974675"/>
            <a:ext cx="703025" cy="703025"/>
          </a:xfrm>
          <a:prstGeom prst="ellipse">
            <a:avLst/>
          </a:prstGeom>
          <a:solidFill>
            <a:srgbClr val="534AB7">
              <a:alpha val="75000"/>
            </a:srgbClr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76061" y="269598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Diallo F.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2521032" y="2414058"/>
            <a:ext cx="1002602" cy="1002602"/>
          </a:xfrm>
          <a:prstGeom prst="ellipse">
            <a:avLst/>
          </a:prstGeom>
          <a:solidFill>
            <a:srgbClr val="888780">
              <a:alpha val="75000"/>
            </a:srgbClr>
          </a:solidFill>
          <a:ln w="6350">
            <a:solidFill>
              <a:srgbClr val="88878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02293" y="34349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Ouattara S.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2006978" y="2065105"/>
            <a:ext cx="1020056" cy="1020056"/>
          </a:xfrm>
          <a:prstGeom prst="ellipse">
            <a:avLst/>
          </a:prstGeom>
          <a:solidFill>
            <a:srgbClr val="888780">
              <a:alpha val="75000"/>
            </a:srgbClr>
          </a:solidFill>
          <a:ln w="6350">
            <a:solidFill>
              <a:srgbClr val="88878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196966" y="3103449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Kouassi Y.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2021062" y="1915991"/>
            <a:ext cx="991889" cy="991889"/>
          </a:xfrm>
          <a:prstGeom prst="ellipse">
            <a:avLst/>
          </a:prstGeom>
          <a:solidFill>
            <a:srgbClr val="888780">
              <a:alpha val="75000"/>
            </a:srgbClr>
          </a:solidFill>
          <a:ln w="6350">
            <a:solidFill>
              <a:srgbClr val="88878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196966" y="292616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Camara Luc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2011680" y="3493008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 moyen →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1508760" y="1828800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←Completion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5577840" y="859536"/>
            <a:ext cx="3438144" cy="2926080"/>
          </a:xfrm>
          <a:prstGeom prst="rect">
            <a:avLst/>
          </a:prstGeom>
          <a:solidFill>
            <a:srgbClr val="D4D2EC"/>
          </a:solidFill>
          <a:ln w="12700">
            <a:solidFill>
              <a:srgbClr val="D4D2E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541264" y="822960"/>
            <a:ext cx="3438144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B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632704" y="8778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activite — Sessions heure x jour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961888" y="118872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6382512" y="118872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6803136" y="118872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7223760" y="118872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7644384" y="118872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8065008" y="118872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8485632" y="118872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5577840" y="1426464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8h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5961888" y="1426464"/>
            <a:ext cx="393192" cy="237744"/>
          </a:xfrm>
          <a:prstGeom prst="rect">
            <a:avLst/>
          </a:prstGeom>
          <a:solidFill>
            <a:srgbClr val="EEEDFE"/>
          </a:solidFill>
          <a:ln w="6350">
            <a:solidFill>
              <a:srgbClr val="F5F5F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382512" y="1426464"/>
            <a:ext cx="393192" cy="237744"/>
          </a:xfrm>
          <a:prstGeom prst="rect">
            <a:avLst/>
          </a:prstGeom>
          <a:solidFill>
            <a:srgbClr val="EEEDFE"/>
          </a:solidFill>
          <a:ln w="6350">
            <a:solidFill>
              <a:srgbClr val="F5F5F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803136" y="1426464"/>
            <a:ext cx="393192" cy="237744"/>
          </a:xfrm>
          <a:prstGeom prst="rect">
            <a:avLst/>
          </a:prstGeom>
          <a:solidFill>
            <a:srgbClr val="D4D1F9"/>
          </a:solidFill>
          <a:ln w="6350">
            <a:solidFill>
              <a:srgbClr val="F5F5F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223760" y="1426464"/>
            <a:ext cx="393192" cy="237744"/>
          </a:xfrm>
          <a:prstGeom prst="rect">
            <a:avLst/>
          </a:prstGeom>
          <a:solidFill>
            <a:srgbClr val="EEEDFE"/>
          </a:solidFill>
          <a:ln w="6350">
            <a:solidFill>
              <a:srgbClr val="F5F5F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644384" y="1426464"/>
            <a:ext cx="393192" cy="237744"/>
          </a:xfrm>
          <a:prstGeom prst="rect">
            <a:avLst/>
          </a:prstGeom>
          <a:solidFill>
            <a:srgbClr val="EEEDFE"/>
          </a:solidFill>
          <a:ln w="6350">
            <a:solidFill>
              <a:srgbClr val="F5F5F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065008" y="1426464"/>
            <a:ext cx="393192" cy="237744"/>
          </a:xfrm>
          <a:prstGeom prst="rect">
            <a:avLst/>
          </a:prstGeom>
          <a:solidFill>
            <a:srgbClr val="A89EF0"/>
          </a:solidFill>
          <a:ln w="6350">
            <a:solidFill>
              <a:srgbClr val="F5F5F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485632" y="1426464"/>
            <a:ext cx="393192" cy="237744"/>
          </a:xfrm>
          <a:prstGeom prst="rect">
            <a:avLst/>
          </a:prstGeom>
          <a:solidFill>
            <a:srgbClr val="7B74E8"/>
          </a:solidFill>
          <a:ln w="6350">
            <a:solidFill>
              <a:srgbClr val="F5F5F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577840" y="1682496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10h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5961888" y="1682496"/>
            <a:ext cx="393192" cy="237744"/>
          </a:xfrm>
          <a:prstGeom prst="rect">
            <a:avLst/>
          </a:prstGeom>
          <a:solidFill>
            <a:srgbClr val="EEEDFE"/>
          </a:solidFill>
          <a:ln w="6350">
            <a:solidFill>
              <a:srgbClr val="F5F5F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382512" y="1682496"/>
            <a:ext cx="393192" cy="237744"/>
          </a:xfrm>
          <a:prstGeom prst="rect">
            <a:avLst/>
          </a:prstGeom>
          <a:solidFill>
            <a:srgbClr val="EEEDFE"/>
          </a:solidFill>
          <a:ln w="6350">
            <a:solidFill>
              <a:srgbClr val="F5F5F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803136" y="1682496"/>
            <a:ext cx="393192" cy="237744"/>
          </a:xfrm>
          <a:prstGeom prst="rect">
            <a:avLst/>
          </a:prstGeom>
          <a:solidFill>
            <a:srgbClr val="D4D1F9"/>
          </a:solidFill>
          <a:ln w="6350">
            <a:solidFill>
              <a:srgbClr val="F5F5F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223760" y="1682496"/>
            <a:ext cx="393192" cy="237744"/>
          </a:xfrm>
          <a:prstGeom prst="rect">
            <a:avLst/>
          </a:prstGeom>
          <a:solidFill>
            <a:srgbClr val="EEEDFE"/>
          </a:solidFill>
          <a:ln w="6350">
            <a:solidFill>
              <a:srgbClr val="F5F5F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644384" y="1682496"/>
            <a:ext cx="393192" cy="237744"/>
          </a:xfrm>
          <a:prstGeom prst="rect">
            <a:avLst/>
          </a:prstGeom>
          <a:solidFill>
            <a:srgbClr val="D4D1F9"/>
          </a:solidFill>
          <a:ln w="6350">
            <a:solidFill>
              <a:srgbClr val="F5F5F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065008" y="1682496"/>
            <a:ext cx="393192" cy="237744"/>
          </a:xfrm>
          <a:prstGeom prst="rect">
            <a:avLst/>
          </a:prstGeom>
          <a:solidFill>
            <a:srgbClr val="A89EF0"/>
          </a:solidFill>
          <a:ln w="6350">
            <a:solidFill>
              <a:srgbClr val="F5F5F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485632" y="1682496"/>
            <a:ext cx="393192" cy="237744"/>
          </a:xfrm>
          <a:prstGeom prst="rect">
            <a:avLst/>
          </a:prstGeom>
          <a:solidFill>
            <a:srgbClr val="7B74E8"/>
          </a:solidFill>
          <a:ln w="6350">
            <a:solidFill>
              <a:srgbClr val="F5F5F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577840" y="1938528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12h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5961888" y="1938528"/>
            <a:ext cx="393192" cy="237744"/>
          </a:xfrm>
          <a:prstGeom prst="rect">
            <a:avLst/>
          </a:prstGeom>
          <a:solidFill>
            <a:srgbClr val="D4D1F9"/>
          </a:solidFill>
          <a:ln w="6350">
            <a:solidFill>
              <a:srgbClr val="F5F5F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382512" y="1938528"/>
            <a:ext cx="393192" cy="237744"/>
          </a:xfrm>
          <a:prstGeom prst="rect">
            <a:avLst/>
          </a:prstGeom>
          <a:solidFill>
            <a:srgbClr val="D4D1F9"/>
          </a:solidFill>
          <a:ln w="6350">
            <a:solidFill>
              <a:srgbClr val="F5F5F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803136" y="1938528"/>
            <a:ext cx="393192" cy="237744"/>
          </a:xfrm>
          <a:prstGeom prst="rect">
            <a:avLst/>
          </a:prstGeom>
          <a:solidFill>
            <a:srgbClr val="A89EF0"/>
          </a:solidFill>
          <a:ln w="6350">
            <a:solidFill>
              <a:srgbClr val="F5F5F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223760" y="1938528"/>
            <a:ext cx="393192" cy="237744"/>
          </a:xfrm>
          <a:prstGeom prst="rect">
            <a:avLst/>
          </a:prstGeom>
          <a:solidFill>
            <a:srgbClr val="D4D1F9"/>
          </a:solidFill>
          <a:ln w="6350">
            <a:solidFill>
              <a:srgbClr val="F5F5F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644384" y="1938528"/>
            <a:ext cx="393192" cy="237744"/>
          </a:xfrm>
          <a:prstGeom prst="rect">
            <a:avLst/>
          </a:prstGeom>
          <a:solidFill>
            <a:srgbClr val="D4D1F9"/>
          </a:solidFill>
          <a:ln w="6350">
            <a:solidFill>
              <a:srgbClr val="F5F5FA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065008" y="1938528"/>
            <a:ext cx="393192" cy="237744"/>
          </a:xfrm>
          <a:prstGeom prst="rect">
            <a:avLst/>
          </a:prstGeom>
          <a:solidFill>
            <a:srgbClr val="A89EF0"/>
          </a:solidFill>
          <a:ln w="6350">
            <a:solidFill>
              <a:srgbClr val="F5F5F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485632" y="1938528"/>
            <a:ext cx="393192" cy="237744"/>
          </a:xfrm>
          <a:prstGeom prst="rect">
            <a:avLst/>
          </a:prstGeom>
          <a:solidFill>
            <a:srgbClr val="7B74E8"/>
          </a:solidFill>
          <a:ln w="6350">
            <a:solidFill>
              <a:srgbClr val="F5F5F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577840" y="2194560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14h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5961888" y="2194560"/>
            <a:ext cx="393192" cy="237744"/>
          </a:xfrm>
          <a:prstGeom prst="rect">
            <a:avLst/>
          </a:prstGeom>
          <a:solidFill>
            <a:srgbClr val="EEEDFE"/>
          </a:solidFill>
          <a:ln w="6350">
            <a:solidFill>
              <a:srgbClr val="F5F5F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382512" y="2194560"/>
            <a:ext cx="393192" cy="237744"/>
          </a:xfrm>
          <a:prstGeom prst="rect">
            <a:avLst/>
          </a:prstGeom>
          <a:solidFill>
            <a:srgbClr val="EEEDFE"/>
          </a:solidFill>
          <a:ln w="6350">
            <a:solidFill>
              <a:srgbClr val="F5F5F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803136" y="2194560"/>
            <a:ext cx="393192" cy="237744"/>
          </a:xfrm>
          <a:prstGeom prst="rect">
            <a:avLst/>
          </a:prstGeom>
          <a:solidFill>
            <a:srgbClr val="D4D1F9"/>
          </a:solidFill>
          <a:ln w="6350">
            <a:solidFill>
              <a:srgbClr val="F5F5F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223760" y="2194560"/>
            <a:ext cx="393192" cy="237744"/>
          </a:xfrm>
          <a:prstGeom prst="rect">
            <a:avLst/>
          </a:prstGeom>
          <a:solidFill>
            <a:srgbClr val="EEEDFE"/>
          </a:solidFill>
          <a:ln w="6350">
            <a:solidFill>
              <a:srgbClr val="F5F5FA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644384" y="2194560"/>
            <a:ext cx="393192" cy="237744"/>
          </a:xfrm>
          <a:prstGeom prst="rect">
            <a:avLst/>
          </a:prstGeom>
          <a:solidFill>
            <a:srgbClr val="D4D1F9"/>
          </a:solidFill>
          <a:ln w="6350">
            <a:solidFill>
              <a:srgbClr val="F5F5F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065008" y="2194560"/>
            <a:ext cx="393192" cy="237744"/>
          </a:xfrm>
          <a:prstGeom prst="rect">
            <a:avLst/>
          </a:prstGeom>
          <a:solidFill>
            <a:srgbClr val="A89EF0"/>
          </a:solidFill>
          <a:ln w="6350">
            <a:solidFill>
              <a:srgbClr val="F5F5FA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485632" y="2194560"/>
            <a:ext cx="393192" cy="237744"/>
          </a:xfrm>
          <a:prstGeom prst="rect">
            <a:avLst/>
          </a:prstGeom>
          <a:solidFill>
            <a:srgbClr val="7B74E8"/>
          </a:solidFill>
          <a:ln w="6350">
            <a:solidFill>
              <a:srgbClr val="F5F5F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577840" y="2450592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16h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5961888" y="2450592"/>
            <a:ext cx="393192" cy="237744"/>
          </a:xfrm>
          <a:prstGeom prst="rect">
            <a:avLst/>
          </a:prstGeom>
          <a:solidFill>
            <a:srgbClr val="EEEDFE"/>
          </a:solidFill>
          <a:ln w="6350">
            <a:solidFill>
              <a:srgbClr val="F5F5FA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382512" y="2450592"/>
            <a:ext cx="393192" cy="237744"/>
          </a:xfrm>
          <a:prstGeom prst="rect">
            <a:avLst/>
          </a:prstGeom>
          <a:solidFill>
            <a:srgbClr val="EEEDFE"/>
          </a:solidFill>
          <a:ln w="6350">
            <a:solidFill>
              <a:srgbClr val="F5F5F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803136" y="2450592"/>
            <a:ext cx="393192" cy="237744"/>
          </a:xfrm>
          <a:prstGeom prst="rect">
            <a:avLst/>
          </a:prstGeom>
          <a:solidFill>
            <a:srgbClr val="D4D1F9"/>
          </a:solidFill>
          <a:ln w="6350">
            <a:solidFill>
              <a:srgbClr val="F5F5FA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223760" y="2450592"/>
            <a:ext cx="393192" cy="237744"/>
          </a:xfrm>
          <a:prstGeom prst="rect">
            <a:avLst/>
          </a:prstGeom>
          <a:solidFill>
            <a:srgbClr val="EEEDFE"/>
          </a:solidFill>
          <a:ln w="6350">
            <a:solidFill>
              <a:srgbClr val="F5F5FA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644384" y="2450592"/>
            <a:ext cx="393192" cy="237744"/>
          </a:xfrm>
          <a:prstGeom prst="rect">
            <a:avLst/>
          </a:prstGeom>
          <a:solidFill>
            <a:srgbClr val="D4D1F9"/>
          </a:solidFill>
          <a:ln w="6350">
            <a:solidFill>
              <a:srgbClr val="F5F5FA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065008" y="2450592"/>
            <a:ext cx="393192" cy="237744"/>
          </a:xfrm>
          <a:prstGeom prst="rect">
            <a:avLst/>
          </a:prstGeom>
          <a:solidFill>
            <a:srgbClr val="7B74E8"/>
          </a:solidFill>
          <a:ln w="6350">
            <a:solidFill>
              <a:srgbClr val="F5F5FA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485632" y="2450592"/>
            <a:ext cx="393192" cy="237744"/>
          </a:xfrm>
          <a:prstGeom prst="rect">
            <a:avLst/>
          </a:prstGeom>
          <a:solidFill>
            <a:srgbClr val="534AB7"/>
          </a:solidFill>
          <a:ln w="6350">
            <a:solidFill>
              <a:srgbClr val="F5F5FA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577840" y="2706624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18h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5961888" y="2706624"/>
            <a:ext cx="393192" cy="237744"/>
          </a:xfrm>
          <a:prstGeom prst="rect">
            <a:avLst/>
          </a:prstGeom>
          <a:solidFill>
            <a:srgbClr val="D4D1F9"/>
          </a:solidFill>
          <a:ln w="6350">
            <a:solidFill>
              <a:srgbClr val="F5F5FA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382512" y="2706624"/>
            <a:ext cx="393192" cy="237744"/>
          </a:xfrm>
          <a:prstGeom prst="rect">
            <a:avLst/>
          </a:prstGeom>
          <a:solidFill>
            <a:srgbClr val="D4D1F9"/>
          </a:solidFill>
          <a:ln w="6350">
            <a:solidFill>
              <a:srgbClr val="F5F5FA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803136" y="2706624"/>
            <a:ext cx="393192" cy="237744"/>
          </a:xfrm>
          <a:prstGeom prst="rect">
            <a:avLst/>
          </a:prstGeom>
          <a:solidFill>
            <a:srgbClr val="A89EF0"/>
          </a:solidFill>
          <a:ln w="6350">
            <a:solidFill>
              <a:srgbClr val="F5F5FA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223760" y="2706624"/>
            <a:ext cx="393192" cy="237744"/>
          </a:xfrm>
          <a:prstGeom prst="rect">
            <a:avLst/>
          </a:prstGeom>
          <a:solidFill>
            <a:srgbClr val="D4D1F9"/>
          </a:solidFill>
          <a:ln w="6350">
            <a:solidFill>
              <a:srgbClr val="F5F5FA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644384" y="2706624"/>
            <a:ext cx="393192" cy="237744"/>
          </a:xfrm>
          <a:prstGeom prst="rect">
            <a:avLst/>
          </a:prstGeom>
          <a:solidFill>
            <a:srgbClr val="A89EF0"/>
          </a:solidFill>
          <a:ln w="6350">
            <a:solidFill>
              <a:srgbClr val="F5F5FA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8065008" y="2706624"/>
            <a:ext cx="393192" cy="237744"/>
          </a:xfrm>
          <a:prstGeom prst="rect">
            <a:avLst/>
          </a:prstGeom>
          <a:solidFill>
            <a:srgbClr val="7B74E8"/>
          </a:solidFill>
          <a:ln w="6350">
            <a:solidFill>
              <a:srgbClr val="F5F5F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8485632" y="2706624"/>
            <a:ext cx="393192" cy="237744"/>
          </a:xfrm>
          <a:prstGeom prst="rect">
            <a:avLst/>
          </a:prstGeom>
          <a:solidFill>
            <a:srgbClr val="534AB7"/>
          </a:solidFill>
          <a:ln w="6350">
            <a:solidFill>
              <a:srgbClr val="F5F5FA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577840" y="2962656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20h</a:t>
            </a:r>
            <a:endParaRPr lang="en-US" sz="750" dirty="0"/>
          </a:p>
        </p:txBody>
      </p:sp>
      <p:sp>
        <p:nvSpPr>
          <p:cNvPr id="120" name="Shape 118"/>
          <p:cNvSpPr/>
          <p:nvPr/>
        </p:nvSpPr>
        <p:spPr>
          <a:xfrm>
            <a:off x="5961888" y="2962656"/>
            <a:ext cx="393192" cy="237744"/>
          </a:xfrm>
          <a:prstGeom prst="rect">
            <a:avLst/>
          </a:prstGeom>
          <a:solidFill>
            <a:srgbClr val="D4D1F9"/>
          </a:solidFill>
          <a:ln w="6350">
            <a:solidFill>
              <a:srgbClr val="F5F5FA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382512" y="2962656"/>
            <a:ext cx="393192" cy="237744"/>
          </a:xfrm>
          <a:prstGeom prst="rect">
            <a:avLst/>
          </a:prstGeom>
          <a:solidFill>
            <a:srgbClr val="D4D1F9"/>
          </a:solidFill>
          <a:ln w="6350">
            <a:solidFill>
              <a:srgbClr val="F5F5FA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6803136" y="2962656"/>
            <a:ext cx="393192" cy="237744"/>
          </a:xfrm>
          <a:prstGeom prst="rect">
            <a:avLst/>
          </a:prstGeom>
          <a:solidFill>
            <a:srgbClr val="A89EF0"/>
          </a:solidFill>
          <a:ln w="6350">
            <a:solidFill>
              <a:srgbClr val="F5F5FA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223760" y="2962656"/>
            <a:ext cx="393192" cy="237744"/>
          </a:xfrm>
          <a:prstGeom prst="rect">
            <a:avLst/>
          </a:prstGeom>
          <a:solidFill>
            <a:srgbClr val="D4D1F9"/>
          </a:solidFill>
          <a:ln w="6350">
            <a:solidFill>
              <a:srgbClr val="F5F5F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644384" y="2962656"/>
            <a:ext cx="393192" cy="237744"/>
          </a:xfrm>
          <a:prstGeom prst="rect">
            <a:avLst/>
          </a:prstGeom>
          <a:solidFill>
            <a:srgbClr val="A89EF0"/>
          </a:solidFill>
          <a:ln w="6350">
            <a:solidFill>
              <a:srgbClr val="F5F5FA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8065008" y="2962656"/>
            <a:ext cx="393192" cy="237744"/>
          </a:xfrm>
          <a:prstGeom prst="rect">
            <a:avLst/>
          </a:prstGeom>
          <a:solidFill>
            <a:srgbClr val="7B74E8"/>
          </a:solidFill>
          <a:ln w="6350">
            <a:solidFill>
              <a:srgbClr val="F5F5FA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8485632" y="2962656"/>
            <a:ext cx="393192" cy="237744"/>
          </a:xfrm>
          <a:prstGeom prst="rect">
            <a:avLst/>
          </a:prstGeom>
          <a:solidFill>
            <a:srgbClr val="534AB7"/>
          </a:solidFill>
          <a:ln w="6350">
            <a:solidFill>
              <a:srgbClr val="F5F5FA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5577840" y="3218688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22h</a:t>
            </a:r>
            <a:endParaRPr lang="en-US" sz="750" dirty="0"/>
          </a:p>
        </p:txBody>
      </p:sp>
      <p:sp>
        <p:nvSpPr>
          <p:cNvPr id="128" name="Shape 126"/>
          <p:cNvSpPr/>
          <p:nvPr/>
        </p:nvSpPr>
        <p:spPr>
          <a:xfrm>
            <a:off x="5961888" y="3218688"/>
            <a:ext cx="393192" cy="237744"/>
          </a:xfrm>
          <a:prstGeom prst="rect">
            <a:avLst/>
          </a:prstGeom>
          <a:solidFill>
            <a:srgbClr val="EEEDFE"/>
          </a:solidFill>
          <a:ln w="6350">
            <a:solidFill>
              <a:srgbClr val="F5F5FA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382512" y="3218688"/>
            <a:ext cx="393192" cy="237744"/>
          </a:xfrm>
          <a:prstGeom prst="rect">
            <a:avLst/>
          </a:prstGeom>
          <a:solidFill>
            <a:srgbClr val="EEEDFE"/>
          </a:solidFill>
          <a:ln w="6350">
            <a:solidFill>
              <a:srgbClr val="F5F5F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803136" y="3218688"/>
            <a:ext cx="393192" cy="237744"/>
          </a:xfrm>
          <a:prstGeom prst="rect">
            <a:avLst/>
          </a:prstGeom>
          <a:solidFill>
            <a:srgbClr val="D4D1F9"/>
          </a:solidFill>
          <a:ln w="6350">
            <a:solidFill>
              <a:srgbClr val="F5F5FA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223760" y="3218688"/>
            <a:ext cx="393192" cy="237744"/>
          </a:xfrm>
          <a:prstGeom prst="rect">
            <a:avLst/>
          </a:prstGeom>
          <a:solidFill>
            <a:srgbClr val="EEEDFE"/>
          </a:solidFill>
          <a:ln w="6350">
            <a:solidFill>
              <a:srgbClr val="F5F5FA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7644384" y="3218688"/>
            <a:ext cx="393192" cy="237744"/>
          </a:xfrm>
          <a:prstGeom prst="rect">
            <a:avLst/>
          </a:prstGeom>
          <a:solidFill>
            <a:srgbClr val="D4D1F9"/>
          </a:solidFill>
          <a:ln w="6350">
            <a:solidFill>
              <a:srgbClr val="F5F5FA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8065008" y="3218688"/>
            <a:ext cx="393192" cy="237744"/>
          </a:xfrm>
          <a:prstGeom prst="rect">
            <a:avLst/>
          </a:prstGeom>
          <a:solidFill>
            <a:srgbClr val="7B74E8"/>
          </a:solidFill>
          <a:ln w="6350">
            <a:solidFill>
              <a:srgbClr val="F5F5FA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485632" y="3218688"/>
            <a:ext cx="393192" cy="237744"/>
          </a:xfrm>
          <a:prstGeom prst="rect">
            <a:avLst/>
          </a:prstGeom>
          <a:solidFill>
            <a:srgbClr val="534AB7"/>
          </a:solidFill>
          <a:ln w="6350">
            <a:solidFill>
              <a:srgbClr val="F5F5FA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8046720" y="334670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Pic: Dim 21h</a:t>
            </a:r>
            <a:endParaRPr lang="en-US" sz="750" dirty="0"/>
          </a:p>
        </p:txBody>
      </p:sp>
      <p:sp>
        <p:nvSpPr>
          <p:cNvPr id="136" name="Shape 134"/>
          <p:cNvSpPr/>
          <p:nvPr/>
        </p:nvSpPr>
        <p:spPr>
          <a:xfrm>
            <a:off x="1755648" y="3895344"/>
            <a:ext cx="7315200" cy="1170432"/>
          </a:xfrm>
          <a:prstGeom prst="rect">
            <a:avLst/>
          </a:prstGeom>
          <a:solidFill>
            <a:srgbClr val="D4D2EC"/>
          </a:solidFill>
          <a:ln w="12700">
            <a:solidFill>
              <a:srgbClr val="D4D2EC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1719072" y="3858768"/>
            <a:ext cx="73152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BE8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1828800" y="3913632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abandon par domaine &amp; parcours</a:t>
            </a:r>
            <a:endParaRPr lang="en-US" sz="1000" dirty="0"/>
          </a:p>
        </p:txBody>
      </p:sp>
      <p:sp>
        <p:nvSpPr>
          <p:cNvPr id="139" name="Shape 137"/>
          <p:cNvSpPr/>
          <p:nvPr/>
        </p:nvSpPr>
        <p:spPr>
          <a:xfrm>
            <a:off x="1865376" y="4206240"/>
            <a:ext cx="1554480" cy="713232"/>
          </a:xfrm>
          <a:prstGeom prst="rect">
            <a:avLst/>
          </a:prstGeom>
          <a:solidFill>
            <a:srgbClr val="D4D2EC"/>
          </a:solidFill>
          <a:ln w="12700">
            <a:solidFill>
              <a:srgbClr val="D4D2EC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828800" y="4169664"/>
            <a:ext cx="1554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BE8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828800" y="4169664"/>
            <a:ext cx="1554480" cy="5029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1901952" y="4242816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IA</a:t>
            </a:r>
            <a:endParaRPr lang="en-US" sz="900" dirty="0"/>
          </a:p>
        </p:txBody>
      </p:sp>
      <p:sp>
        <p:nvSpPr>
          <p:cNvPr id="143" name="Text 141"/>
          <p:cNvSpPr/>
          <p:nvPr/>
        </p:nvSpPr>
        <p:spPr>
          <a:xfrm>
            <a:off x="1901952" y="4443984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17.3% abandon moy.</a:t>
            </a:r>
            <a:endParaRPr lang="en-US" sz="800" dirty="0"/>
          </a:p>
        </p:txBody>
      </p:sp>
      <p:sp>
        <p:nvSpPr>
          <p:cNvPr id="144" name="Text 142"/>
          <p:cNvSpPr/>
          <p:nvPr/>
        </p:nvSpPr>
        <p:spPr>
          <a:xfrm>
            <a:off x="1901952" y="4608576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19.6%</a:t>
            </a:r>
            <a:endParaRPr lang="en-US" sz="750" dirty="0"/>
          </a:p>
        </p:txBody>
      </p:sp>
      <p:sp>
        <p:nvSpPr>
          <p:cNvPr id="145" name="Shape 143"/>
          <p:cNvSpPr/>
          <p:nvPr/>
        </p:nvSpPr>
        <p:spPr>
          <a:xfrm>
            <a:off x="3666744" y="4206240"/>
            <a:ext cx="1554480" cy="713232"/>
          </a:xfrm>
          <a:prstGeom prst="rect">
            <a:avLst/>
          </a:prstGeom>
          <a:solidFill>
            <a:srgbClr val="D4D2EC"/>
          </a:solidFill>
          <a:ln w="12700">
            <a:solidFill>
              <a:srgbClr val="D4D2EC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3630168" y="4169664"/>
            <a:ext cx="1554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BE8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3630168" y="4169664"/>
            <a:ext cx="1554480" cy="5029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3703320" y="4242816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Web</a:t>
            </a:r>
            <a:endParaRPr lang="en-US" sz="900" dirty="0"/>
          </a:p>
        </p:txBody>
      </p:sp>
      <p:sp>
        <p:nvSpPr>
          <p:cNvPr id="149" name="Text 147"/>
          <p:cNvSpPr/>
          <p:nvPr/>
        </p:nvSpPr>
        <p:spPr>
          <a:xfrm>
            <a:off x="3703320" y="4443984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17.5% abandon moy.</a:t>
            </a:r>
            <a:endParaRPr lang="en-US" sz="800" dirty="0"/>
          </a:p>
        </p:txBody>
      </p:sp>
      <p:sp>
        <p:nvSpPr>
          <p:cNvPr id="150" name="Text 148"/>
          <p:cNvSpPr/>
          <p:nvPr/>
        </p:nvSpPr>
        <p:spPr>
          <a:xfrm>
            <a:off x="3703320" y="4608576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&amp; Node.js 17.5%</a:t>
            </a:r>
            <a:endParaRPr lang="en-US" sz="750" dirty="0"/>
          </a:p>
        </p:txBody>
      </p:sp>
      <p:sp>
        <p:nvSpPr>
          <p:cNvPr id="151" name="Shape 149"/>
          <p:cNvSpPr/>
          <p:nvPr/>
        </p:nvSpPr>
        <p:spPr>
          <a:xfrm>
            <a:off x="5468112" y="4206240"/>
            <a:ext cx="1554480" cy="713232"/>
          </a:xfrm>
          <a:prstGeom prst="rect">
            <a:avLst/>
          </a:prstGeom>
          <a:solidFill>
            <a:srgbClr val="D4D2EC"/>
          </a:solidFill>
          <a:ln w="12700">
            <a:solidFill>
              <a:srgbClr val="D4D2EC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431536" y="4169664"/>
            <a:ext cx="1554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BE8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431536" y="4169664"/>
            <a:ext cx="1554480" cy="5029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5504688" y="4242816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Dig.</a:t>
            </a:r>
            <a:endParaRPr lang="en-US" sz="900" dirty="0"/>
          </a:p>
        </p:txBody>
      </p:sp>
      <p:sp>
        <p:nvSpPr>
          <p:cNvPr id="155" name="Text 153"/>
          <p:cNvSpPr/>
          <p:nvPr/>
        </p:nvSpPr>
        <p:spPr>
          <a:xfrm>
            <a:off x="5504688" y="4443984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18.8% abandon moy.</a:t>
            </a:r>
            <a:endParaRPr lang="en-US" sz="800" dirty="0"/>
          </a:p>
        </p:txBody>
      </p:sp>
      <p:sp>
        <p:nvSpPr>
          <p:cNvPr id="156" name="Text 154"/>
          <p:cNvSpPr/>
          <p:nvPr/>
        </p:nvSpPr>
        <p:spPr>
          <a:xfrm>
            <a:off x="5504688" y="4608576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&amp; Growth 19.0%</a:t>
            </a:r>
            <a:endParaRPr lang="en-US" sz="750" dirty="0"/>
          </a:p>
        </p:txBody>
      </p:sp>
      <p:sp>
        <p:nvSpPr>
          <p:cNvPr id="157" name="Shape 155"/>
          <p:cNvSpPr/>
          <p:nvPr/>
        </p:nvSpPr>
        <p:spPr>
          <a:xfrm>
            <a:off x="7269480" y="4206240"/>
            <a:ext cx="1554480" cy="713232"/>
          </a:xfrm>
          <a:prstGeom prst="rect">
            <a:avLst/>
          </a:prstGeom>
          <a:solidFill>
            <a:srgbClr val="D4D2EC"/>
          </a:solidFill>
          <a:ln w="12700">
            <a:solidFill>
              <a:srgbClr val="D4D2EC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7232904" y="4169664"/>
            <a:ext cx="1554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BE8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7232904" y="4169664"/>
            <a:ext cx="1554480" cy="5029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7306056" y="4242816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900" dirty="0"/>
          </a:p>
        </p:txBody>
      </p:sp>
      <p:sp>
        <p:nvSpPr>
          <p:cNvPr id="161" name="Text 159"/>
          <p:cNvSpPr/>
          <p:nvPr/>
        </p:nvSpPr>
        <p:spPr>
          <a:xfrm>
            <a:off x="7306056" y="4443984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18.5% abandon moy.</a:t>
            </a:r>
            <a:endParaRPr lang="en-US" sz="800" dirty="0"/>
          </a:p>
        </p:txBody>
      </p:sp>
      <p:sp>
        <p:nvSpPr>
          <p:cNvPr id="162" name="Text 160"/>
          <p:cNvSpPr/>
          <p:nvPr/>
        </p:nvSpPr>
        <p:spPr>
          <a:xfrm>
            <a:off x="7306056" y="4608576"/>
            <a:ext cx="1408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 Projet 19.2%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0" cy="51435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822960"/>
            <a:ext cx="2286000" cy="2286000"/>
          </a:xfrm>
          <a:prstGeom prst="ellipse">
            <a:avLst/>
          </a:prstGeom>
          <a:solidFill>
            <a:srgbClr val="3C3489">
              <a:alpha val="60000"/>
            </a:srgbClr>
          </a:solidFill>
          <a:ln w="12700">
            <a:solidFill>
              <a:srgbClr val="3C3489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74320" y="3931920"/>
            <a:ext cx="2103120" cy="2103120"/>
          </a:xfrm>
          <a:prstGeom prst="ellipse">
            <a:avLst/>
          </a:prstGeom>
          <a:solidFill>
            <a:srgbClr val="3C3489">
              <a:alpha val="50000"/>
            </a:srgbClr>
          </a:solidFill>
          <a:ln w="12700">
            <a:solidFill>
              <a:srgbClr val="3C3489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201168"/>
            <a:ext cx="347472" cy="34747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85216" y="23774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EduTrack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85216" y="402336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2880" y="713232"/>
            <a:ext cx="1188720" cy="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" y="877824"/>
            <a:ext cx="292608" cy="292608"/>
          </a:xfrm>
          <a:prstGeom prst="ellipse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877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21208" y="8961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executive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64592" y="1563624"/>
            <a:ext cx="292608" cy="292608"/>
          </a:xfrm>
          <a:prstGeom prst="ellipse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" y="1563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21208" y="15819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Apprenants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64592" y="2249424"/>
            <a:ext cx="292608" cy="292608"/>
          </a:xfrm>
          <a:prstGeom prst="ellipse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" y="2249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21208" y="22677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" y="2880360"/>
            <a:ext cx="1408176" cy="475488"/>
          </a:xfrm>
          <a:prstGeom prst="rect">
            <a:avLst/>
          </a:prstGeom>
          <a:solidFill>
            <a:srgbClr val="534AB7">
              <a:alpha val="80000"/>
            </a:srgbClr>
          </a:solidFill>
          <a:ln w="12700">
            <a:solidFill>
              <a:srgbClr val="534AB7">
                <a:alpha val="7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880360"/>
            <a:ext cx="45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4592" y="2935224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4592" y="2935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1208" y="29535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64592" y="3621024"/>
            <a:ext cx="292608" cy="292608"/>
          </a:xfrm>
          <a:prstGeom prst="ellipse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4592" y="3621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21208" y="36393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ML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82880" y="4773168"/>
            <a:ext cx="1188720" cy="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0" y="486460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0" y="4992624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2022 - 2024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664208" y="109728"/>
            <a:ext cx="7315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B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664208" y="109728"/>
            <a:ext cx="54864" cy="5943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28800" y="109728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 &amp; Paiements EduTrack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58000" y="10972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Paiements valides uniquement  ·  Mobile Money dominant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755648" y="859536"/>
            <a:ext cx="2350008" cy="777240"/>
          </a:xfrm>
          <a:prstGeom prst="rect">
            <a:avLst/>
          </a:prstGeom>
          <a:solidFill>
            <a:srgbClr val="D4D2EC"/>
          </a:solidFill>
          <a:ln w="12700">
            <a:solidFill>
              <a:srgbClr val="D4D2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719072" y="822960"/>
            <a:ext cx="235000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B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719072" y="822960"/>
            <a:ext cx="2350008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28800" y="8961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748.7 M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1828800" y="12435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FCFA Revenue total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242816" y="859536"/>
            <a:ext cx="2350008" cy="777240"/>
          </a:xfrm>
          <a:prstGeom prst="rect">
            <a:avLst/>
          </a:prstGeom>
          <a:solidFill>
            <a:srgbClr val="D4D2EC"/>
          </a:solidFill>
          <a:ln w="12700">
            <a:solidFill>
              <a:srgbClr val="D4D2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06240" y="822960"/>
            <a:ext cx="235000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B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206240" y="822960"/>
            <a:ext cx="2350008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15968" y="8961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 k€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4315968" y="12435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EUR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729984" y="859536"/>
            <a:ext cx="2350008" cy="777240"/>
          </a:xfrm>
          <a:prstGeom prst="rect">
            <a:avLst/>
          </a:prstGeom>
          <a:solidFill>
            <a:srgbClr val="D4D2EC"/>
          </a:solidFill>
          <a:ln w="12700">
            <a:solidFill>
              <a:srgbClr val="D4D2E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693408" y="822960"/>
            <a:ext cx="235000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BE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693408" y="822960"/>
            <a:ext cx="2350008" cy="5029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03136" y="8961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k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6803136" y="12435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FCFA panier moyen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755648" y="1773936"/>
            <a:ext cx="4663440" cy="1874520"/>
          </a:xfrm>
          <a:prstGeom prst="rect">
            <a:avLst/>
          </a:prstGeom>
          <a:solidFill>
            <a:srgbClr val="D4D2EC"/>
          </a:solidFill>
          <a:ln w="12700">
            <a:solidFill>
              <a:srgbClr val="D4D2E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719072" y="1737360"/>
            <a:ext cx="466344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B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828800" y="179222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 mensuels par domaine (FCFA)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920240" y="3337560"/>
            <a:ext cx="425196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965960" y="2920594"/>
            <a:ext cx="228600" cy="416966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65960" y="2635301"/>
            <a:ext cx="228600" cy="285293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65960" y="2393899"/>
            <a:ext cx="228600" cy="24140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65960" y="2240280"/>
            <a:ext cx="228600" cy="153619"/>
          </a:xfrm>
          <a:prstGeom prst="rect">
            <a:avLst/>
          </a:prstGeom>
          <a:solidFill>
            <a:srgbClr val="C8C4F0"/>
          </a:solidFill>
          <a:ln w="12700">
            <a:solidFill>
              <a:srgbClr val="C8C4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965960" y="3364992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J22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2212848" y="2920594"/>
            <a:ext cx="228600" cy="416966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212848" y="2635301"/>
            <a:ext cx="228600" cy="285293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212848" y="2393899"/>
            <a:ext cx="228600" cy="24140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212848" y="2240280"/>
            <a:ext cx="228600" cy="153619"/>
          </a:xfrm>
          <a:prstGeom prst="rect">
            <a:avLst/>
          </a:prstGeom>
          <a:solidFill>
            <a:srgbClr val="C8C4F0"/>
          </a:solidFill>
          <a:ln w="12700">
            <a:solidFill>
              <a:srgbClr val="C8C4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459736" y="2931566"/>
            <a:ext cx="228600" cy="40599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459736" y="2646274"/>
            <a:ext cx="228600" cy="285293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459736" y="2393899"/>
            <a:ext cx="228600" cy="252374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459736" y="2240280"/>
            <a:ext cx="228600" cy="153619"/>
          </a:xfrm>
          <a:prstGeom prst="rect">
            <a:avLst/>
          </a:prstGeom>
          <a:solidFill>
            <a:srgbClr val="C8C4F0"/>
          </a:solidFill>
          <a:ln w="12700">
            <a:solidFill>
              <a:srgbClr val="C8C4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706624" y="2942539"/>
            <a:ext cx="228600" cy="395021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06624" y="2646274"/>
            <a:ext cx="228600" cy="29626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706624" y="2393899"/>
            <a:ext cx="228600" cy="252374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706624" y="2240280"/>
            <a:ext cx="228600" cy="153619"/>
          </a:xfrm>
          <a:prstGeom prst="rect">
            <a:avLst/>
          </a:prstGeom>
          <a:solidFill>
            <a:srgbClr val="C8C4F0"/>
          </a:solidFill>
          <a:ln w="12700">
            <a:solidFill>
              <a:srgbClr val="C8C4F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953512" y="2942539"/>
            <a:ext cx="228600" cy="395021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953512" y="2646274"/>
            <a:ext cx="228600" cy="29626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953512" y="2393899"/>
            <a:ext cx="228600" cy="252374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953512" y="2240280"/>
            <a:ext cx="228600" cy="153619"/>
          </a:xfrm>
          <a:prstGeom prst="rect">
            <a:avLst/>
          </a:prstGeom>
          <a:solidFill>
            <a:srgbClr val="C8C4F0"/>
          </a:solidFill>
          <a:ln w="12700">
            <a:solidFill>
              <a:srgbClr val="C8C4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953512" y="3364992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A22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3200400" y="2953512"/>
            <a:ext cx="228600" cy="38404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200400" y="2657246"/>
            <a:ext cx="228600" cy="29626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200400" y="2393899"/>
            <a:ext cx="228600" cy="263347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200400" y="2240280"/>
            <a:ext cx="228600" cy="153619"/>
          </a:xfrm>
          <a:prstGeom prst="rect">
            <a:avLst/>
          </a:prstGeom>
          <a:solidFill>
            <a:srgbClr val="C8C4F0"/>
          </a:solidFill>
          <a:ln w="12700">
            <a:solidFill>
              <a:srgbClr val="C8C4F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447288" y="2964485"/>
            <a:ext cx="228600" cy="373075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447288" y="2657246"/>
            <a:ext cx="228600" cy="30723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447288" y="2393899"/>
            <a:ext cx="228600" cy="263347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447288" y="2240280"/>
            <a:ext cx="228600" cy="153619"/>
          </a:xfrm>
          <a:prstGeom prst="rect">
            <a:avLst/>
          </a:prstGeom>
          <a:solidFill>
            <a:srgbClr val="C8C4F0"/>
          </a:solidFill>
          <a:ln w="12700">
            <a:solidFill>
              <a:srgbClr val="C8C4F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694176" y="2964485"/>
            <a:ext cx="228600" cy="373075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694176" y="2657246"/>
            <a:ext cx="228600" cy="30723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694176" y="2382926"/>
            <a:ext cx="228600" cy="27432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694176" y="2240280"/>
            <a:ext cx="228600" cy="142646"/>
          </a:xfrm>
          <a:prstGeom prst="rect">
            <a:avLst/>
          </a:prstGeom>
          <a:solidFill>
            <a:srgbClr val="C8C4F0"/>
          </a:solidFill>
          <a:ln w="12700">
            <a:solidFill>
              <a:srgbClr val="C8C4F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941064" y="2975458"/>
            <a:ext cx="228600" cy="36210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941064" y="2657246"/>
            <a:ext cx="228600" cy="318211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941064" y="2382926"/>
            <a:ext cx="228600" cy="27432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941064" y="2240280"/>
            <a:ext cx="228600" cy="142646"/>
          </a:xfrm>
          <a:prstGeom prst="rect">
            <a:avLst/>
          </a:prstGeom>
          <a:solidFill>
            <a:srgbClr val="C8C4F0"/>
          </a:solidFill>
          <a:ln w="12700">
            <a:solidFill>
              <a:srgbClr val="C8C4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941064" y="3364992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J22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4187952" y="2986430"/>
            <a:ext cx="228600" cy="35113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187952" y="2668219"/>
            <a:ext cx="228600" cy="318211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187952" y="2382926"/>
            <a:ext cx="228600" cy="285293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187952" y="2240280"/>
            <a:ext cx="228600" cy="142646"/>
          </a:xfrm>
          <a:prstGeom prst="rect">
            <a:avLst/>
          </a:prstGeom>
          <a:solidFill>
            <a:srgbClr val="C8C4F0"/>
          </a:solidFill>
          <a:ln w="12700">
            <a:solidFill>
              <a:srgbClr val="C8C4F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434840" y="2997403"/>
            <a:ext cx="228600" cy="340157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434840" y="2668219"/>
            <a:ext cx="228600" cy="32918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434840" y="2382926"/>
            <a:ext cx="228600" cy="285293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434840" y="2240280"/>
            <a:ext cx="228600" cy="142646"/>
          </a:xfrm>
          <a:prstGeom prst="rect">
            <a:avLst/>
          </a:prstGeom>
          <a:solidFill>
            <a:srgbClr val="C8C4F0"/>
          </a:solidFill>
          <a:ln w="12700">
            <a:solidFill>
              <a:srgbClr val="C8C4F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681728" y="3008376"/>
            <a:ext cx="228600" cy="32918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681728" y="2668219"/>
            <a:ext cx="228600" cy="340157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681728" y="2382926"/>
            <a:ext cx="228600" cy="285293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681728" y="2240280"/>
            <a:ext cx="228600" cy="142646"/>
          </a:xfrm>
          <a:prstGeom prst="rect">
            <a:avLst/>
          </a:prstGeom>
          <a:solidFill>
            <a:srgbClr val="C8C4F0"/>
          </a:solidFill>
          <a:ln w="12700">
            <a:solidFill>
              <a:srgbClr val="C8C4F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928616" y="3019349"/>
            <a:ext cx="228600" cy="318211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928616" y="2679192"/>
            <a:ext cx="228600" cy="340157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928616" y="2382926"/>
            <a:ext cx="228600" cy="296266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928616" y="2240280"/>
            <a:ext cx="228600" cy="142646"/>
          </a:xfrm>
          <a:prstGeom prst="rect">
            <a:avLst/>
          </a:prstGeom>
          <a:solidFill>
            <a:srgbClr val="C8C4F0"/>
          </a:solidFill>
          <a:ln w="12700">
            <a:solidFill>
              <a:srgbClr val="C8C4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928616" y="3364992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O23</a:t>
            </a:r>
            <a:endParaRPr lang="en-US" sz="700" dirty="0"/>
          </a:p>
        </p:txBody>
      </p:sp>
      <p:sp>
        <p:nvSpPr>
          <p:cNvPr id="109" name="Shape 107"/>
          <p:cNvSpPr/>
          <p:nvPr/>
        </p:nvSpPr>
        <p:spPr>
          <a:xfrm>
            <a:off x="5175504" y="3030322"/>
            <a:ext cx="228600" cy="30723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175504" y="2679192"/>
            <a:ext cx="228600" cy="35113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175504" y="2382926"/>
            <a:ext cx="228600" cy="296266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175504" y="2240280"/>
            <a:ext cx="228600" cy="142646"/>
          </a:xfrm>
          <a:prstGeom prst="rect">
            <a:avLst/>
          </a:prstGeom>
          <a:solidFill>
            <a:srgbClr val="C8C4F0"/>
          </a:solidFill>
          <a:ln w="12700">
            <a:solidFill>
              <a:srgbClr val="C8C4F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422392" y="3041294"/>
            <a:ext cx="228600" cy="296266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422392" y="2679192"/>
            <a:ext cx="228600" cy="36210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422392" y="2382926"/>
            <a:ext cx="228600" cy="296266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422392" y="2240280"/>
            <a:ext cx="228600" cy="142646"/>
          </a:xfrm>
          <a:prstGeom prst="rect">
            <a:avLst/>
          </a:prstGeom>
          <a:solidFill>
            <a:srgbClr val="C8C4F0"/>
          </a:solidFill>
          <a:ln w="12700">
            <a:solidFill>
              <a:srgbClr val="C8C4F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669280" y="3041294"/>
            <a:ext cx="228600" cy="296266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669280" y="2679192"/>
            <a:ext cx="228600" cy="36210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669280" y="2371954"/>
            <a:ext cx="228600" cy="30723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669280" y="2240280"/>
            <a:ext cx="228600" cy="131674"/>
          </a:xfrm>
          <a:prstGeom prst="rect">
            <a:avLst/>
          </a:prstGeom>
          <a:solidFill>
            <a:srgbClr val="C8C4F0"/>
          </a:solidFill>
          <a:ln w="12700">
            <a:solidFill>
              <a:srgbClr val="C8C4F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920240" y="3529584"/>
            <a:ext cx="146304" cy="10972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2103120" y="3511296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IA</a:t>
            </a:r>
            <a:endParaRPr lang="en-US" sz="750" dirty="0"/>
          </a:p>
        </p:txBody>
      </p:sp>
      <p:sp>
        <p:nvSpPr>
          <p:cNvPr id="123" name="Shape 121"/>
          <p:cNvSpPr/>
          <p:nvPr/>
        </p:nvSpPr>
        <p:spPr>
          <a:xfrm>
            <a:off x="2944368" y="3529584"/>
            <a:ext cx="146304" cy="10972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3127248" y="3511296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Web</a:t>
            </a:r>
            <a:endParaRPr lang="en-US" sz="750" dirty="0"/>
          </a:p>
        </p:txBody>
      </p:sp>
      <p:sp>
        <p:nvSpPr>
          <p:cNvPr id="125" name="Shape 123"/>
          <p:cNvSpPr/>
          <p:nvPr/>
        </p:nvSpPr>
        <p:spPr>
          <a:xfrm>
            <a:off x="3968496" y="3529584"/>
            <a:ext cx="146304" cy="10972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4151376" y="3511296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750" dirty="0"/>
          </a:p>
        </p:txBody>
      </p:sp>
      <p:sp>
        <p:nvSpPr>
          <p:cNvPr id="127" name="Shape 125"/>
          <p:cNvSpPr/>
          <p:nvPr/>
        </p:nvSpPr>
        <p:spPr>
          <a:xfrm>
            <a:off x="4992624" y="3529584"/>
            <a:ext cx="146304" cy="109728"/>
          </a:xfrm>
          <a:prstGeom prst="rect">
            <a:avLst/>
          </a:prstGeom>
          <a:solidFill>
            <a:srgbClr val="C8C4F0"/>
          </a:solidFill>
          <a:ln w="12700">
            <a:solidFill>
              <a:srgbClr val="C8C4F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5175504" y="3511296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750" dirty="0"/>
          </a:p>
        </p:txBody>
      </p:sp>
      <p:sp>
        <p:nvSpPr>
          <p:cNvPr id="129" name="Shape 127"/>
          <p:cNvSpPr/>
          <p:nvPr/>
        </p:nvSpPr>
        <p:spPr>
          <a:xfrm>
            <a:off x="6492240" y="1773936"/>
            <a:ext cx="2523744" cy="1874520"/>
          </a:xfrm>
          <a:prstGeom prst="rect">
            <a:avLst/>
          </a:prstGeom>
          <a:solidFill>
            <a:srgbClr val="D4D2EC"/>
          </a:solidFill>
          <a:ln w="12700">
            <a:solidFill>
              <a:srgbClr val="D4D2EC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455664" y="1737360"/>
            <a:ext cx="2523744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BE8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6547104" y="17922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Methodes de paiement</a:t>
            </a:r>
            <a:endParaRPr lang="en-US" sz="1000" dirty="0"/>
          </a:p>
        </p:txBody>
      </p:sp>
      <p:sp>
        <p:nvSpPr>
          <p:cNvPr id="132" name="Shape 130"/>
          <p:cNvSpPr/>
          <p:nvPr/>
        </p:nvSpPr>
        <p:spPr>
          <a:xfrm>
            <a:off x="6547104" y="2139696"/>
            <a:ext cx="256032" cy="25603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6547104" y="2139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</a:t>
            </a:r>
            <a:endParaRPr lang="en-US" sz="900" dirty="0"/>
          </a:p>
        </p:txBody>
      </p:sp>
      <p:sp>
        <p:nvSpPr>
          <p:cNvPr id="134" name="Text 132"/>
          <p:cNvSpPr/>
          <p:nvPr/>
        </p:nvSpPr>
        <p:spPr>
          <a:xfrm>
            <a:off x="6858000" y="21762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Money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6858000" y="2386584"/>
            <a:ext cx="1920240" cy="54864"/>
          </a:xfrm>
          <a:prstGeom prst="rect">
            <a:avLst/>
          </a:prstGeom>
          <a:solidFill>
            <a:srgbClr val="EEECF8"/>
          </a:solidFill>
          <a:ln w="12700">
            <a:solidFill>
              <a:srgbClr val="EEECF8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858000" y="2386584"/>
            <a:ext cx="940918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547104" y="2505456"/>
            <a:ext cx="256032" cy="256032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6547104" y="25054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900" dirty="0"/>
          </a:p>
        </p:txBody>
      </p:sp>
      <p:sp>
        <p:nvSpPr>
          <p:cNvPr id="139" name="Text 137"/>
          <p:cNvSpPr/>
          <p:nvPr/>
        </p:nvSpPr>
        <p:spPr>
          <a:xfrm>
            <a:off x="6858000" y="25420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bancaire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6858000" y="2752344"/>
            <a:ext cx="1920240" cy="54864"/>
          </a:xfrm>
          <a:prstGeom prst="rect">
            <a:avLst/>
          </a:prstGeom>
          <a:solidFill>
            <a:srgbClr val="EEECF8"/>
          </a:solidFill>
          <a:ln w="12700">
            <a:solidFill>
              <a:srgbClr val="EEECF8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858000" y="2752344"/>
            <a:ext cx="480060" cy="548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547104" y="2871216"/>
            <a:ext cx="256032" cy="256032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6547104" y="28712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900" dirty="0"/>
          </a:p>
        </p:txBody>
      </p:sp>
      <p:sp>
        <p:nvSpPr>
          <p:cNvPr id="144" name="Text 142"/>
          <p:cNvSpPr/>
          <p:nvPr/>
        </p:nvSpPr>
        <p:spPr>
          <a:xfrm>
            <a:off x="6858000" y="29077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Virement</a:t>
            </a:r>
            <a:endParaRPr lang="en-US" sz="900" dirty="0"/>
          </a:p>
        </p:txBody>
      </p:sp>
      <p:sp>
        <p:nvSpPr>
          <p:cNvPr id="145" name="Shape 143"/>
          <p:cNvSpPr/>
          <p:nvPr/>
        </p:nvSpPr>
        <p:spPr>
          <a:xfrm>
            <a:off x="6858000" y="3118104"/>
            <a:ext cx="1920240" cy="54864"/>
          </a:xfrm>
          <a:prstGeom prst="rect">
            <a:avLst/>
          </a:prstGeom>
          <a:solidFill>
            <a:srgbClr val="EEECF8"/>
          </a:solidFill>
          <a:ln w="12700">
            <a:solidFill>
              <a:srgbClr val="EEECF8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6858000" y="3118104"/>
            <a:ext cx="288036" cy="54864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6547104" y="3236976"/>
            <a:ext cx="256032" cy="256032"/>
          </a:xfrm>
          <a:prstGeom prst="ellipse">
            <a:avLst/>
          </a:prstGeom>
          <a:solidFill>
            <a:srgbClr val="888780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6547104" y="3236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900" dirty="0"/>
          </a:p>
        </p:txBody>
      </p:sp>
      <p:sp>
        <p:nvSpPr>
          <p:cNvPr id="149" name="Text 147"/>
          <p:cNvSpPr/>
          <p:nvPr/>
        </p:nvSpPr>
        <p:spPr>
          <a:xfrm>
            <a:off x="6858000" y="32735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</a:t>
            </a:r>
            <a:endParaRPr lang="en-US" sz="900" dirty="0"/>
          </a:p>
        </p:txBody>
      </p:sp>
      <p:sp>
        <p:nvSpPr>
          <p:cNvPr id="150" name="Shape 148"/>
          <p:cNvSpPr/>
          <p:nvPr/>
        </p:nvSpPr>
        <p:spPr>
          <a:xfrm>
            <a:off x="6858000" y="3483864"/>
            <a:ext cx="1920240" cy="54864"/>
          </a:xfrm>
          <a:prstGeom prst="rect">
            <a:avLst/>
          </a:prstGeom>
          <a:solidFill>
            <a:srgbClr val="EEECF8"/>
          </a:solidFill>
          <a:ln w="12700">
            <a:solidFill>
              <a:srgbClr val="EEECF8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6858000" y="3483864"/>
            <a:ext cx="211226" cy="54864"/>
          </a:xfrm>
          <a:prstGeom prst="rect">
            <a:avLst/>
          </a:prstGeom>
          <a:solidFill>
            <a:srgbClr val="888780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1755648" y="3767328"/>
            <a:ext cx="7260336" cy="1298448"/>
          </a:xfrm>
          <a:prstGeom prst="rect">
            <a:avLst/>
          </a:prstGeom>
          <a:solidFill>
            <a:srgbClr val="D4D2EC"/>
          </a:solidFill>
          <a:ln w="12700">
            <a:solidFill>
              <a:srgbClr val="D4D2EC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1719072" y="3730752"/>
            <a:ext cx="7260336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BE8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1828800" y="3785616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parcours par revenu genere (FCFA)</a:t>
            </a:r>
            <a:endParaRPr lang="en-US" sz="1000" dirty="0"/>
          </a:p>
        </p:txBody>
      </p:sp>
      <p:sp>
        <p:nvSpPr>
          <p:cNvPr id="155" name="Shape 153"/>
          <p:cNvSpPr/>
          <p:nvPr/>
        </p:nvSpPr>
        <p:spPr>
          <a:xfrm>
            <a:off x="1865376" y="4114800"/>
            <a:ext cx="1353312" cy="822960"/>
          </a:xfrm>
          <a:prstGeom prst="rect">
            <a:avLst/>
          </a:prstGeom>
          <a:solidFill>
            <a:srgbClr val="D4D2EC"/>
          </a:solidFill>
          <a:ln w="12700">
            <a:solidFill>
              <a:srgbClr val="D4D2EC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828800" y="4078224"/>
            <a:ext cx="135331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BE8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1828800" y="4078224"/>
            <a:ext cx="1353312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1901952" y="4151376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&amp; Node.js Fullstack</a:t>
            </a:r>
            <a:endParaRPr lang="en-US" sz="750" dirty="0"/>
          </a:p>
        </p:txBody>
      </p:sp>
      <p:sp>
        <p:nvSpPr>
          <p:cNvPr id="159" name="Text 157"/>
          <p:cNvSpPr/>
          <p:nvPr/>
        </p:nvSpPr>
        <p:spPr>
          <a:xfrm>
            <a:off x="1901952" y="4425696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249k FCFA</a:t>
            </a:r>
            <a:endParaRPr lang="en-US" sz="900" dirty="0"/>
          </a:p>
        </p:txBody>
      </p:sp>
      <p:sp>
        <p:nvSpPr>
          <p:cNvPr id="160" name="Text 158"/>
          <p:cNvSpPr/>
          <p:nvPr/>
        </p:nvSpPr>
        <p:spPr>
          <a:xfrm>
            <a:off x="1901952" y="4590288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525 inscrits</a:t>
            </a:r>
            <a:endParaRPr lang="en-US" sz="800" dirty="0"/>
          </a:p>
        </p:txBody>
      </p:sp>
      <p:sp>
        <p:nvSpPr>
          <p:cNvPr id="161" name="Shape 159"/>
          <p:cNvSpPr/>
          <p:nvPr/>
        </p:nvSpPr>
        <p:spPr>
          <a:xfrm>
            <a:off x="3291840" y="4114800"/>
            <a:ext cx="1353312" cy="822960"/>
          </a:xfrm>
          <a:prstGeom prst="rect">
            <a:avLst/>
          </a:prstGeom>
          <a:solidFill>
            <a:srgbClr val="D4D2EC"/>
          </a:solidFill>
          <a:ln w="12700">
            <a:solidFill>
              <a:srgbClr val="D4D2EC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3255264" y="4078224"/>
            <a:ext cx="135331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BE8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3255264" y="4078224"/>
            <a:ext cx="1353312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3328416" y="4151376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Applique</a:t>
            </a:r>
            <a:endParaRPr lang="en-US" sz="750" dirty="0"/>
          </a:p>
        </p:txBody>
      </p:sp>
      <p:sp>
        <p:nvSpPr>
          <p:cNvPr id="165" name="Text 163"/>
          <p:cNvSpPr/>
          <p:nvPr/>
        </p:nvSpPr>
        <p:spPr>
          <a:xfrm>
            <a:off x="3328416" y="4425696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199k FCFA</a:t>
            </a:r>
            <a:endParaRPr lang="en-US" sz="900" dirty="0"/>
          </a:p>
        </p:txBody>
      </p:sp>
      <p:sp>
        <p:nvSpPr>
          <p:cNvPr id="166" name="Text 164"/>
          <p:cNvSpPr/>
          <p:nvPr/>
        </p:nvSpPr>
        <p:spPr>
          <a:xfrm>
            <a:off x="3328416" y="4590288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591 inscrits</a:t>
            </a:r>
            <a:endParaRPr lang="en-US" sz="800" dirty="0"/>
          </a:p>
        </p:txBody>
      </p:sp>
      <p:sp>
        <p:nvSpPr>
          <p:cNvPr id="167" name="Shape 165"/>
          <p:cNvSpPr/>
          <p:nvPr/>
        </p:nvSpPr>
        <p:spPr>
          <a:xfrm>
            <a:off x="4718304" y="4114800"/>
            <a:ext cx="1353312" cy="822960"/>
          </a:xfrm>
          <a:prstGeom prst="rect">
            <a:avLst/>
          </a:prstGeom>
          <a:solidFill>
            <a:srgbClr val="D4D2EC"/>
          </a:solidFill>
          <a:ln w="12700">
            <a:solidFill>
              <a:srgbClr val="D4D2EC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4681728" y="4078224"/>
            <a:ext cx="135331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BE8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4681728" y="4078224"/>
            <a:ext cx="1353312" cy="5029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4754880" y="4151376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Web avec Django</a:t>
            </a:r>
            <a:endParaRPr lang="en-US" sz="750" dirty="0"/>
          </a:p>
        </p:txBody>
      </p:sp>
      <p:sp>
        <p:nvSpPr>
          <p:cNvPr id="171" name="Text 169"/>
          <p:cNvSpPr/>
          <p:nvPr/>
        </p:nvSpPr>
        <p:spPr>
          <a:xfrm>
            <a:off x="4754880" y="4425696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179k FCFA</a:t>
            </a:r>
            <a:endParaRPr lang="en-US" sz="900" dirty="0"/>
          </a:p>
        </p:txBody>
      </p:sp>
      <p:sp>
        <p:nvSpPr>
          <p:cNvPr id="172" name="Text 170"/>
          <p:cNvSpPr/>
          <p:nvPr/>
        </p:nvSpPr>
        <p:spPr>
          <a:xfrm>
            <a:off x="4754880" y="4590288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568 inscrits</a:t>
            </a:r>
            <a:endParaRPr lang="en-US" sz="800" dirty="0"/>
          </a:p>
        </p:txBody>
      </p:sp>
      <p:sp>
        <p:nvSpPr>
          <p:cNvPr id="173" name="Shape 171"/>
          <p:cNvSpPr/>
          <p:nvPr/>
        </p:nvSpPr>
        <p:spPr>
          <a:xfrm>
            <a:off x="6144768" y="4114800"/>
            <a:ext cx="1353312" cy="822960"/>
          </a:xfrm>
          <a:prstGeom prst="rect">
            <a:avLst/>
          </a:prstGeom>
          <a:solidFill>
            <a:srgbClr val="D4D2EC"/>
          </a:solidFill>
          <a:ln w="12700">
            <a:solidFill>
              <a:srgbClr val="D4D2EC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108192" y="4078224"/>
            <a:ext cx="135331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BE8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108192" y="4078224"/>
            <a:ext cx="1353312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6181344" y="4151376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Analyse avec Python</a:t>
            </a:r>
            <a:endParaRPr lang="en-US" sz="750" dirty="0"/>
          </a:p>
        </p:txBody>
      </p:sp>
      <p:sp>
        <p:nvSpPr>
          <p:cNvPr id="177" name="Text 175"/>
          <p:cNvSpPr/>
          <p:nvPr/>
        </p:nvSpPr>
        <p:spPr>
          <a:xfrm>
            <a:off x="6181344" y="4425696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149k FCFA</a:t>
            </a:r>
            <a:endParaRPr lang="en-US" sz="900" dirty="0"/>
          </a:p>
        </p:txBody>
      </p:sp>
      <p:sp>
        <p:nvSpPr>
          <p:cNvPr id="178" name="Text 176"/>
          <p:cNvSpPr/>
          <p:nvPr/>
        </p:nvSpPr>
        <p:spPr>
          <a:xfrm>
            <a:off x="6181344" y="4590288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529 inscrits</a:t>
            </a:r>
            <a:endParaRPr lang="en-US" sz="800" dirty="0"/>
          </a:p>
        </p:txBody>
      </p:sp>
      <p:sp>
        <p:nvSpPr>
          <p:cNvPr id="179" name="Shape 177"/>
          <p:cNvSpPr/>
          <p:nvPr/>
        </p:nvSpPr>
        <p:spPr>
          <a:xfrm>
            <a:off x="7571232" y="4114800"/>
            <a:ext cx="1353312" cy="822960"/>
          </a:xfrm>
          <a:prstGeom prst="rect">
            <a:avLst/>
          </a:prstGeom>
          <a:solidFill>
            <a:srgbClr val="D4D2EC"/>
          </a:solidFill>
          <a:ln w="12700">
            <a:solidFill>
              <a:srgbClr val="D4D2EC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7534656" y="4078224"/>
            <a:ext cx="135331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BE8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7534656" y="4078224"/>
            <a:ext cx="1353312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7607808" y="4151376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&amp; Dashboards</a:t>
            </a:r>
            <a:endParaRPr lang="en-US" sz="750" dirty="0"/>
          </a:p>
        </p:txBody>
      </p:sp>
      <p:sp>
        <p:nvSpPr>
          <p:cNvPr id="183" name="Text 181"/>
          <p:cNvSpPr/>
          <p:nvPr/>
        </p:nvSpPr>
        <p:spPr>
          <a:xfrm>
            <a:off x="7607808" y="4425696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129k FCFA</a:t>
            </a:r>
            <a:endParaRPr lang="en-US" sz="900" dirty="0"/>
          </a:p>
        </p:txBody>
      </p:sp>
      <p:sp>
        <p:nvSpPr>
          <p:cNvPr id="184" name="Text 182"/>
          <p:cNvSpPr/>
          <p:nvPr/>
        </p:nvSpPr>
        <p:spPr>
          <a:xfrm>
            <a:off x="7607808" y="4590288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532 inscrits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0" cy="51435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822960"/>
            <a:ext cx="2286000" cy="2286000"/>
          </a:xfrm>
          <a:prstGeom prst="ellipse">
            <a:avLst/>
          </a:prstGeom>
          <a:solidFill>
            <a:srgbClr val="3C3489">
              <a:alpha val="60000"/>
            </a:srgbClr>
          </a:solidFill>
          <a:ln w="12700">
            <a:solidFill>
              <a:srgbClr val="3C3489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74320" y="3931920"/>
            <a:ext cx="2103120" cy="2103120"/>
          </a:xfrm>
          <a:prstGeom prst="ellipse">
            <a:avLst/>
          </a:prstGeom>
          <a:solidFill>
            <a:srgbClr val="3C3489">
              <a:alpha val="50000"/>
            </a:srgbClr>
          </a:solidFill>
          <a:ln w="12700">
            <a:solidFill>
              <a:srgbClr val="3C3489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201168"/>
            <a:ext cx="347472" cy="34747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85216" y="23774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EduTrack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85216" y="402336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2880" y="713232"/>
            <a:ext cx="1188720" cy="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" y="877824"/>
            <a:ext cx="292608" cy="292608"/>
          </a:xfrm>
          <a:prstGeom prst="ellipse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877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21208" y="8961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executive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64592" y="1563624"/>
            <a:ext cx="292608" cy="292608"/>
          </a:xfrm>
          <a:prstGeom prst="ellipse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" y="1563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21208" y="15819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Apprenants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64592" y="2249424"/>
            <a:ext cx="292608" cy="292608"/>
          </a:xfrm>
          <a:prstGeom prst="ellipse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" y="2249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21208" y="22677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64592" y="2935224"/>
            <a:ext cx="292608" cy="292608"/>
          </a:xfrm>
          <a:prstGeom prst="ellipse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" y="2935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21208" y="29535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" y="3566160"/>
            <a:ext cx="1408176" cy="475488"/>
          </a:xfrm>
          <a:prstGeom prst="rect">
            <a:avLst/>
          </a:prstGeom>
          <a:solidFill>
            <a:srgbClr val="534AB7">
              <a:alpha val="80000"/>
            </a:srgbClr>
          </a:solidFill>
          <a:ln w="12700">
            <a:solidFill>
              <a:srgbClr val="534AB7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" y="3566160"/>
            <a:ext cx="45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3621024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4592" y="3621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21208" y="36393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ML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82880" y="4773168"/>
            <a:ext cx="1188720" cy="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0" y="486460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0" y="4992624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2022 - 2024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664208" y="109728"/>
            <a:ext cx="7315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B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664208" y="109728"/>
            <a:ext cx="54864" cy="59436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28800" y="109728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ML — Detection du decrochage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58000" y="10972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 ·  Seuil 0.30  ·  Recall 95.8%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719072" y="822960"/>
            <a:ext cx="7315200" cy="640080"/>
          </a:xfrm>
          <a:prstGeom prst="rect">
            <a:avLst/>
          </a:prstGeom>
          <a:solidFill>
            <a:srgbClr val="FCEBEB"/>
          </a:solidFill>
          <a:ln w="6350">
            <a:solidFill>
              <a:srgbClr val="E24B4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719072" y="822960"/>
            <a:ext cx="54864" cy="64008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83664" y="8229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1 613 apprenants en alerte de decrochage sur 2 095 en cours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931152" y="896112"/>
            <a:ext cx="1993392" cy="50292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31152" y="896112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77.0% taux d'alerte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719072" y="1609344"/>
            <a:ext cx="2340864" cy="987552"/>
          </a:xfrm>
          <a:prstGeom prst="rect">
            <a:avLst/>
          </a:prstGeom>
          <a:solidFill>
            <a:srgbClr val="FCEBEB"/>
          </a:solidFill>
          <a:ln w="6350">
            <a:solidFill>
              <a:srgbClr val="E24B4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828800" y="1700784"/>
            <a:ext cx="384048" cy="384048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28800" y="1700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286000" y="1682496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&gt; 0.80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286000" y="1901952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telephonique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828800" y="2176272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~400 apprenants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719072" y="1609344"/>
            <a:ext cx="2340864" cy="5029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187952" y="1609344"/>
            <a:ext cx="2340864" cy="987552"/>
          </a:xfrm>
          <a:prstGeom prst="rect">
            <a:avLst/>
          </a:prstGeom>
          <a:solidFill>
            <a:srgbClr val="FEF3E3"/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297680" y="1700784"/>
            <a:ext cx="384048" cy="384048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97680" y="1700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754880" y="1682496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0.60 – 0.80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754880" y="1901952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personnalise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297680" y="2176272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~600 apprenants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187952" y="1609344"/>
            <a:ext cx="2340864" cy="5029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656832" y="1609344"/>
            <a:ext cx="2340864" cy="987552"/>
          </a:xfrm>
          <a:prstGeom prst="rect">
            <a:avLst/>
          </a:prstGeom>
          <a:solidFill>
            <a:srgbClr val="EEEDFE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766560" y="1700784"/>
            <a:ext cx="384048" cy="384048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66560" y="1700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223760" y="1682496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0.30 – 0.60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223760" y="1901952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push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766560" y="2176272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~600 apprenants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656832" y="1609344"/>
            <a:ext cx="2340864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755648" y="2761488"/>
            <a:ext cx="7315200" cy="2322576"/>
          </a:xfrm>
          <a:prstGeom prst="rect">
            <a:avLst/>
          </a:prstGeom>
          <a:solidFill>
            <a:srgbClr val="D4D2EC"/>
          </a:solidFill>
          <a:ln w="12700">
            <a:solidFill>
              <a:srgbClr val="D4D2E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719072" y="2724912"/>
            <a:ext cx="7315200" cy="23225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BE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828800" y="2779776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apprenants a risque — Tableau d'alerte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1719072" y="3054096"/>
            <a:ext cx="7315200" cy="27432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755648" y="30540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Apprenant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2871216" y="30540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4535424" y="305409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5422392" y="305409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6309360" y="305409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Inactivite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7196328" y="30540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risque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8129016" y="305409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1719072" y="3346704"/>
            <a:ext cx="7315200" cy="265176"/>
          </a:xfrm>
          <a:prstGeom prst="rect">
            <a:avLst/>
          </a:prstGeom>
          <a:solidFill>
            <a:srgbClr val="FAFAF8"/>
          </a:solidFill>
          <a:ln w="6350">
            <a:solidFill>
              <a:srgbClr val="EEECF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755648" y="339242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Aminata Diallo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2871216" y="339242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&amp; Node.js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4535424" y="33924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5422392" y="33924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6309360" y="33924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68j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7196328" y="33924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8129016" y="3401568"/>
            <a:ext cx="822960" cy="16459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129016" y="340156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urgent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1719072" y="3621024"/>
            <a:ext cx="73152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CF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755648" y="366674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Moussa Kone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2871216" y="366674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4535424" y="366674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5422392" y="366674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6309360" y="366674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55j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7196328" y="366674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8129016" y="3675888"/>
            <a:ext cx="822960" cy="16459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129016" y="367588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urgent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1719072" y="3895344"/>
            <a:ext cx="7315200" cy="265176"/>
          </a:xfrm>
          <a:prstGeom prst="rect">
            <a:avLst/>
          </a:prstGeom>
          <a:solidFill>
            <a:srgbClr val="FAFAF8"/>
          </a:solidFill>
          <a:ln w="6350">
            <a:solidFill>
              <a:srgbClr val="EEECF8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755648" y="39410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Fatoumata Ba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2871216" y="39410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Digital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4535424" y="394106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5422392" y="394106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6309360" y="394106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72j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7196328" y="394106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8129016" y="3950208"/>
            <a:ext cx="822960" cy="16459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8129016" y="395020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urgent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1719072" y="4169664"/>
            <a:ext cx="73152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CF8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755648" y="42153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Ibrahim Traore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2871216" y="42153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Analyse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4535424" y="421538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5422392" y="421538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309360" y="421538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42j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7196328" y="421538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8129016" y="4224528"/>
            <a:ext cx="822960" cy="16459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129016" y="4224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perso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1719072" y="4443984"/>
            <a:ext cx="7315200" cy="265176"/>
          </a:xfrm>
          <a:prstGeom prst="rect">
            <a:avLst/>
          </a:prstGeom>
          <a:solidFill>
            <a:srgbClr val="FAFAF8"/>
          </a:solidFill>
          <a:ln w="6350">
            <a:solidFill>
              <a:srgbClr val="EEECF8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1755648" y="44897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 Camara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2871216" y="448970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Web</a:t>
            </a:r>
            <a:endParaRPr lang="en-US" sz="900" dirty="0"/>
          </a:p>
        </p:txBody>
      </p:sp>
      <p:sp>
        <p:nvSpPr>
          <p:cNvPr id="110" name="Text 108"/>
          <p:cNvSpPr/>
          <p:nvPr/>
        </p:nvSpPr>
        <p:spPr>
          <a:xfrm>
            <a:off x="4535424" y="448970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5422392" y="448970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6309360" y="448970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35j</a:t>
            </a:r>
            <a:endParaRPr lang="en-US" sz="900" dirty="0"/>
          </a:p>
        </p:txBody>
      </p:sp>
      <p:sp>
        <p:nvSpPr>
          <p:cNvPr id="113" name="Text 111"/>
          <p:cNvSpPr/>
          <p:nvPr/>
        </p:nvSpPr>
        <p:spPr>
          <a:xfrm>
            <a:off x="7196328" y="448970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8129016" y="4498848"/>
            <a:ext cx="822960" cy="16459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8129016" y="449884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perso</a:t>
            </a:r>
            <a:endParaRPr lang="en-US" sz="700" dirty="0"/>
          </a:p>
        </p:txBody>
      </p:sp>
      <p:sp>
        <p:nvSpPr>
          <p:cNvPr id="116" name="Shape 114"/>
          <p:cNvSpPr/>
          <p:nvPr/>
        </p:nvSpPr>
        <p:spPr>
          <a:xfrm>
            <a:off x="1719072" y="4718304"/>
            <a:ext cx="73152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CF8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755648" y="476402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Adjoua Bamba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2871216" y="476402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</a:t>
            </a:r>
            <a:endParaRPr lang="en-US" sz="900" dirty="0"/>
          </a:p>
        </p:txBody>
      </p:sp>
      <p:sp>
        <p:nvSpPr>
          <p:cNvPr id="119" name="Text 117"/>
          <p:cNvSpPr/>
          <p:nvPr/>
        </p:nvSpPr>
        <p:spPr>
          <a:xfrm>
            <a:off x="4535424" y="47640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900" dirty="0"/>
          </a:p>
        </p:txBody>
      </p:sp>
      <p:sp>
        <p:nvSpPr>
          <p:cNvPr id="120" name="Text 118"/>
          <p:cNvSpPr/>
          <p:nvPr/>
        </p:nvSpPr>
        <p:spPr>
          <a:xfrm>
            <a:off x="5422392" y="47640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6309360" y="47640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48j</a:t>
            </a:r>
            <a:endParaRPr lang="en-US" sz="900" dirty="0"/>
          </a:p>
        </p:txBody>
      </p:sp>
      <p:sp>
        <p:nvSpPr>
          <p:cNvPr id="122" name="Text 120"/>
          <p:cNvSpPr/>
          <p:nvPr/>
        </p:nvSpPr>
        <p:spPr>
          <a:xfrm>
            <a:off x="7196328" y="47640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8129016" y="4773168"/>
            <a:ext cx="822960" cy="16459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8129016" y="477316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perso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0" cy="51435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822960"/>
            <a:ext cx="2286000" cy="2286000"/>
          </a:xfrm>
          <a:prstGeom prst="ellipse">
            <a:avLst/>
          </a:prstGeom>
          <a:solidFill>
            <a:srgbClr val="3C3489">
              <a:alpha val="60000"/>
            </a:srgbClr>
          </a:solidFill>
          <a:ln w="12700">
            <a:solidFill>
              <a:srgbClr val="3C3489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74320" y="3931920"/>
            <a:ext cx="2103120" cy="2103120"/>
          </a:xfrm>
          <a:prstGeom prst="ellipse">
            <a:avLst/>
          </a:prstGeom>
          <a:solidFill>
            <a:srgbClr val="3C3489">
              <a:alpha val="50000"/>
            </a:srgbClr>
          </a:solidFill>
          <a:ln w="12700">
            <a:solidFill>
              <a:srgbClr val="3C3489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201168"/>
            <a:ext cx="347472" cy="34747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85216" y="23774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EduTrack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85216" y="402336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2880" y="713232"/>
            <a:ext cx="1188720" cy="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" y="822960"/>
            <a:ext cx="1408176" cy="475488"/>
          </a:xfrm>
          <a:prstGeom prst="rect">
            <a:avLst/>
          </a:prstGeom>
          <a:solidFill>
            <a:srgbClr val="534AB7">
              <a:alpha val="80000"/>
            </a:srgbClr>
          </a:solidFill>
          <a:ln w="12700">
            <a:solidFill>
              <a:srgbClr val="534AB7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822960"/>
            <a:ext cx="45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877824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" y="877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1208" y="8961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executive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64592" y="1563624"/>
            <a:ext cx="292608" cy="292608"/>
          </a:xfrm>
          <a:prstGeom prst="ellipse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" y="1563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21208" y="15819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Apprenants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64592" y="2249424"/>
            <a:ext cx="292608" cy="292608"/>
          </a:xfrm>
          <a:prstGeom prst="ellipse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4592" y="2249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1208" y="22677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64592" y="2935224"/>
            <a:ext cx="292608" cy="292608"/>
          </a:xfrm>
          <a:prstGeom prst="ellipse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4592" y="2935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1208" y="29535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64592" y="3621024"/>
            <a:ext cx="292608" cy="292608"/>
          </a:xfrm>
          <a:prstGeom prst="ellipse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4592" y="3621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21208" y="36393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ML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82880" y="4773168"/>
            <a:ext cx="1188720" cy="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0" y="486460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0" y="4992624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2022 - 2024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664208" y="109728"/>
            <a:ext cx="7315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B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664208" y="109728"/>
            <a:ext cx="54864" cy="5943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28800" y="109728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DAX — 14 mesures  ·  Table _Mesures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58000" y="10972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 ·  EduTrack Analytics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755648" y="905256"/>
            <a:ext cx="3566160" cy="502920"/>
          </a:xfrm>
          <a:prstGeom prst="rect">
            <a:avLst/>
          </a:prstGeom>
          <a:solidFill>
            <a:srgbClr val="D4D2EC"/>
          </a:solidFill>
          <a:ln w="12700">
            <a:solidFill>
              <a:srgbClr val="D4D2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719072" y="868680"/>
            <a:ext cx="3566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B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719072" y="868680"/>
            <a:ext cx="45720" cy="5029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47088" y="9235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[Total Inscriptions]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279392" y="960120"/>
            <a:ext cx="841248" cy="182880"/>
          </a:xfrm>
          <a:prstGeom prst="rect">
            <a:avLst/>
          </a:prstGeom>
          <a:solidFill>
            <a:srgbClr val="1D9E75">
              <a:alpha val="80000"/>
            </a:srgbClr>
          </a:solidFill>
          <a:ln w="12700">
            <a:solidFill>
              <a:srgbClr val="1D9E75">
                <a:alpha val="7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79392" y="960120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847088" y="114300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COUNTROWS(inscriptions_analytics)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504688" y="905256"/>
            <a:ext cx="3566160" cy="502920"/>
          </a:xfrm>
          <a:prstGeom prst="rect">
            <a:avLst/>
          </a:prstGeom>
          <a:solidFill>
            <a:srgbClr val="D4D2EC"/>
          </a:solidFill>
          <a:ln w="12700">
            <a:solidFill>
              <a:srgbClr val="D4D2E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68112" y="868680"/>
            <a:ext cx="3566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B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68112" y="868680"/>
            <a:ext cx="45720" cy="5029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96128" y="9235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[Taux Completion]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028432" y="960120"/>
            <a:ext cx="841248" cy="182880"/>
          </a:xfrm>
          <a:prstGeom prst="rect">
            <a:avLst/>
          </a:prstGeom>
          <a:solidFill>
            <a:srgbClr val="1D9E75">
              <a:alpha val="80000"/>
            </a:srgbClr>
          </a:solidFill>
          <a:ln w="12700">
            <a:solidFill>
              <a:srgbClr val="1D9E75">
                <a:alpha val="7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28432" y="960120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596128" y="114300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DIVIDE(Termine, Total)  →  33.3%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755648" y="1472184"/>
            <a:ext cx="3566160" cy="502920"/>
          </a:xfrm>
          <a:prstGeom prst="rect">
            <a:avLst/>
          </a:prstGeom>
          <a:solidFill>
            <a:srgbClr val="D4D2EC"/>
          </a:solidFill>
          <a:ln w="12700">
            <a:solidFill>
              <a:srgbClr val="D4D2E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719072" y="1435608"/>
            <a:ext cx="3566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BE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719072" y="1435608"/>
            <a:ext cx="45720" cy="5029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847088" y="14904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[Taux Abandon]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279392" y="1527048"/>
            <a:ext cx="841248" cy="182880"/>
          </a:xfrm>
          <a:prstGeom prst="rect">
            <a:avLst/>
          </a:prstGeom>
          <a:solidFill>
            <a:srgbClr val="1D9E75">
              <a:alpha val="80000"/>
            </a:srgbClr>
          </a:solidFill>
          <a:ln w="12700">
            <a:solidFill>
              <a:srgbClr val="1D9E75">
                <a:alpha val="7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79392" y="152704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1847088" y="170992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DIVIDE(Abandonne, Total)  →  17.7%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504688" y="1472184"/>
            <a:ext cx="3566160" cy="502920"/>
          </a:xfrm>
          <a:prstGeom prst="rect">
            <a:avLst/>
          </a:prstGeom>
          <a:solidFill>
            <a:srgbClr val="D4D2EC"/>
          </a:solidFill>
          <a:ln w="12700">
            <a:solidFill>
              <a:srgbClr val="D4D2E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468112" y="1435608"/>
            <a:ext cx="3566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BE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468112" y="1435608"/>
            <a:ext cx="45720" cy="5029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596128" y="14904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[CSAT Moyen]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8028432" y="1527048"/>
            <a:ext cx="841248" cy="182880"/>
          </a:xfrm>
          <a:prstGeom prst="rect">
            <a:avLst/>
          </a:prstGeom>
          <a:solidFill>
            <a:srgbClr val="1D9E75">
              <a:alpha val="80000"/>
            </a:srgbClr>
          </a:solidFill>
          <a:ln w="12700">
            <a:solidFill>
              <a:srgbClr val="1D9E75">
                <a:alpha val="7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028432" y="152704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5596128" y="170992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csat sur Termine  →  4.23/5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1755648" y="2039112"/>
            <a:ext cx="3566160" cy="502920"/>
          </a:xfrm>
          <a:prstGeom prst="rect">
            <a:avLst/>
          </a:prstGeom>
          <a:solidFill>
            <a:srgbClr val="D4D2EC"/>
          </a:solidFill>
          <a:ln w="12700">
            <a:solidFill>
              <a:srgbClr val="D4D2E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719072" y="2002536"/>
            <a:ext cx="3566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BE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719072" y="2002536"/>
            <a:ext cx="45720" cy="5029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847088" y="20574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[Revenu Total]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279392" y="2093976"/>
            <a:ext cx="841248" cy="182880"/>
          </a:xfrm>
          <a:prstGeom prst="rect">
            <a:avLst/>
          </a:prstGeom>
          <a:solidFill>
            <a:srgbClr val="1D9E75">
              <a:alpha val="80000"/>
            </a:srgbClr>
          </a:solidFill>
          <a:ln w="12700">
            <a:solidFill>
              <a:srgbClr val="1D9E75">
                <a:alpha val="70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279392" y="2093976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1847088" y="227685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paiements valides  →  748.7M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5504688" y="2039112"/>
            <a:ext cx="3566160" cy="502920"/>
          </a:xfrm>
          <a:prstGeom prst="rect">
            <a:avLst/>
          </a:prstGeom>
          <a:solidFill>
            <a:srgbClr val="D4D2EC"/>
          </a:solidFill>
          <a:ln w="12700">
            <a:solidFill>
              <a:srgbClr val="D4D2E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468112" y="2002536"/>
            <a:ext cx="3566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BE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468112" y="2002536"/>
            <a:ext cx="45720" cy="50292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596128" y="20574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[Nb Apprenants Risque]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8028432" y="2093976"/>
            <a:ext cx="841248" cy="182880"/>
          </a:xfrm>
          <a:prstGeom prst="rect">
            <a:avLst/>
          </a:prstGeom>
          <a:solidFill>
            <a:srgbClr val="E24B4A">
              <a:alpha val="80000"/>
            </a:srgbClr>
          </a:solidFill>
          <a:ln w="12700">
            <a:solidFill>
              <a:srgbClr val="E24B4A">
                <a:alpha val="70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028432" y="2093976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5596128" y="227685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at_risk=1 + ISBLANK→0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1755648" y="2606040"/>
            <a:ext cx="3566160" cy="502920"/>
          </a:xfrm>
          <a:prstGeom prst="rect">
            <a:avLst/>
          </a:prstGeom>
          <a:solidFill>
            <a:srgbClr val="D4D2EC"/>
          </a:solidFill>
          <a:ln w="12700">
            <a:solidFill>
              <a:srgbClr val="D4D2E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719072" y="2569464"/>
            <a:ext cx="3566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BE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719072" y="2569464"/>
            <a:ext cx="45720" cy="50292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847088" y="26243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[Taux Risque]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4279392" y="2660904"/>
            <a:ext cx="841248" cy="182880"/>
          </a:xfrm>
          <a:prstGeom prst="rect">
            <a:avLst/>
          </a:prstGeom>
          <a:solidFill>
            <a:srgbClr val="E24B4A">
              <a:alpha val="80000"/>
            </a:srgbClr>
          </a:solidFill>
          <a:ln w="12700">
            <a:solidFill>
              <a:srgbClr val="E24B4A">
                <a:alpha val="70000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279392" y="2660904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1847088" y="284378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DIVIDE([Risque],[Total])  →  47.9%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5504688" y="2606040"/>
            <a:ext cx="3566160" cy="502920"/>
          </a:xfrm>
          <a:prstGeom prst="rect">
            <a:avLst/>
          </a:prstGeom>
          <a:solidFill>
            <a:srgbClr val="D4D2EC"/>
          </a:solidFill>
          <a:ln w="12700">
            <a:solidFill>
              <a:srgbClr val="D4D2E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468112" y="2569464"/>
            <a:ext cx="3566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BE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468112" y="2569464"/>
            <a:ext cx="45720" cy="5029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596128" y="26243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[Engagement Moyen]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8028432" y="2660904"/>
            <a:ext cx="841248" cy="182880"/>
          </a:xfrm>
          <a:prstGeom prst="rect">
            <a:avLst/>
          </a:prstGeom>
          <a:solidFill>
            <a:srgbClr val="1D9E75">
              <a:alpha val="80000"/>
            </a:srgbClr>
          </a:solidFill>
          <a:ln w="12700">
            <a:solidFill>
              <a:srgbClr val="1D9E75">
                <a:alpha val="70000"/>
              </a:srgbClr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028432" y="2660904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5596128" y="284378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engagement_score  →  7.88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1755648" y="3172968"/>
            <a:ext cx="3566160" cy="502920"/>
          </a:xfrm>
          <a:prstGeom prst="rect">
            <a:avLst/>
          </a:prstGeom>
          <a:solidFill>
            <a:srgbClr val="D4D2EC"/>
          </a:solidFill>
          <a:ln w="12700">
            <a:solidFill>
              <a:srgbClr val="D4D2E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719072" y="3136392"/>
            <a:ext cx="3566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BE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719072" y="3136392"/>
            <a:ext cx="45720" cy="50292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847088" y="319125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[Inscriptions Mois Prec]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4279392" y="3227832"/>
            <a:ext cx="841248" cy="182880"/>
          </a:xfrm>
          <a:prstGeom prst="rect">
            <a:avLst/>
          </a:prstGeom>
          <a:solidFill>
            <a:srgbClr val="534AB7">
              <a:alpha val="80000"/>
            </a:srgbClr>
          </a:solidFill>
          <a:ln w="12700">
            <a:solidFill>
              <a:srgbClr val="534AB7">
                <a:alpha val="70000"/>
              </a:srgbClr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279392" y="3227832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1847088" y="341071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PREVIOUSMONTH(Calendrier[Date])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5504688" y="3172968"/>
            <a:ext cx="3566160" cy="502920"/>
          </a:xfrm>
          <a:prstGeom prst="rect">
            <a:avLst/>
          </a:prstGeom>
          <a:solidFill>
            <a:srgbClr val="D4D2EC"/>
          </a:solidFill>
          <a:ln w="12700">
            <a:solidFill>
              <a:srgbClr val="D4D2EC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468112" y="3136392"/>
            <a:ext cx="3566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BE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468112" y="3136392"/>
            <a:ext cx="45720" cy="50292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596128" y="319125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[Variation Inscriptions]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8028432" y="3227832"/>
            <a:ext cx="841248" cy="182880"/>
          </a:xfrm>
          <a:prstGeom prst="rect">
            <a:avLst/>
          </a:prstGeom>
          <a:solidFill>
            <a:srgbClr val="534AB7">
              <a:alpha val="80000"/>
            </a:srgbClr>
          </a:solidFill>
          <a:ln w="12700">
            <a:solidFill>
              <a:srgbClr val="534AB7">
                <a:alpha val="70000"/>
              </a:srgbClr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028432" y="3227832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750" dirty="0"/>
          </a:p>
        </p:txBody>
      </p:sp>
      <p:sp>
        <p:nvSpPr>
          <p:cNvPr id="103" name="Text 101"/>
          <p:cNvSpPr/>
          <p:nvPr/>
        </p:nvSpPr>
        <p:spPr>
          <a:xfrm>
            <a:off x="5596128" y="341071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DIVIDE(actuel-precedent, precedent)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1755648" y="3739896"/>
            <a:ext cx="3566160" cy="502920"/>
          </a:xfrm>
          <a:prstGeom prst="rect">
            <a:avLst/>
          </a:prstGeom>
          <a:solidFill>
            <a:srgbClr val="D4D2EC"/>
          </a:solidFill>
          <a:ln w="12700">
            <a:solidFill>
              <a:srgbClr val="D4D2EC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719072" y="3703320"/>
            <a:ext cx="3566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BE8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719072" y="3703320"/>
            <a:ext cx="45720" cy="50292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847088" y="37581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[Panier Moyen]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4279392" y="3794760"/>
            <a:ext cx="841248" cy="182880"/>
          </a:xfrm>
          <a:prstGeom prst="rect">
            <a:avLst/>
          </a:prstGeom>
          <a:solidFill>
            <a:srgbClr val="EF9F27">
              <a:alpha val="80000"/>
            </a:srgbClr>
          </a:solidFill>
          <a:ln w="12700">
            <a:solidFill>
              <a:srgbClr val="EF9F27">
                <a:alpha val="70000"/>
              </a:srgbClr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279392" y="3794760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Rev.</a:t>
            </a:r>
            <a:endParaRPr lang="en-US" sz="750" dirty="0"/>
          </a:p>
        </p:txBody>
      </p:sp>
      <p:sp>
        <p:nvSpPr>
          <p:cNvPr id="110" name="Text 108"/>
          <p:cNvSpPr/>
          <p:nvPr/>
        </p:nvSpPr>
        <p:spPr>
          <a:xfrm>
            <a:off x="1847088" y="397764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DIVIDE([Revenu Total], nb paiements)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5504688" y="3739896"/>
            <a:ext cx="3566160" cy="502920"/>
          </a:xfrm>
          <a:prstGeom prst="rect">
            <a:avLst/>
          </a:prstGeom>
          <a:solidFill>
            <a:srgbClr val="D4D2EC"/>
          </a:solidFill>
          <a:ln w="12700">
            <a:solidFill>
              <a:srgbClr val="D4D2EC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468112" y="3703320"/>
            <a:ext cx="3566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BE8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468112" y="3703320"/>
            <a:ext cx="45720" cy="50292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596128" y="37581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[Quadrant Instructeur]</a:t>
            </a:r>
            <a:endParaRPr lang="en-US" sz="950" dirty="0"/>
          </a:p>
        </p:txBody>
      </p:sp>
      <p:sp>
        <p:nvSpPr>
          <p:cNvPr id="115" name="Shape 113"/>
          <p:cNvSpPr/>
          <p:nvPr/>
        </p:nvSpPr>
        <p:spPr>
          <a:xfrm>
            <a:off x="8028432" y="3794760"/>
            <a:ext cx="841248" cy="182880"/>
          </a:xfrm>
          <a:prstGeom prst="rect">
            <a:avLst/>
          </a:prstGeom>
          <a:solidFill>
            <a:srgbClr val="EF9F27">
              <a:alpha val="80000"/>
            </a:srgbClr>
          </a:solidFill>
          <a:ln w="12700">
            <a:solidFill>
              <a:srgbClr val="EF9F27">
                <a:alpha val="70000"/>
              </a:srgbClr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8028432" y="3794760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</a:t>
            </a:r>
            <a:endParaRPr lang="en-US" sz="750" dirty="0"/>
          </a:p>
        </p:txBody>
      </p:sp>
      <p:sp>
        <p:nvSpPr>
          <p:cNvPr id="117" name="Text 115"/>
          <p:cNvSpPr/>
          <p:nvPr/>
        </p:nvSpPr>
        <p:spPr>
          <a:xfrm>
            <a:off x="5596128" y="397764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TRUE() CSAT x Completion</a:t>
            </a:r>
            <a:endParaRPr lang="en-US" sz="850" dirty="0"/>
          </a:p>
        </p:txBody>
      </p:sp>
      <p:sp>
        <p:nvSpPr>
          <p:cNvPr id="118" name="Shape 116"/>
          <p:cNvSpPr/>
          <p:nvPr/>
        </p:nvSpPr>
        <p:spPr>
          <a:xfrm>
            <a:off x="1755648" y="4306824"/>
            <a:ext cx="3566160" cy="502920"/>
          </a:xfrm>
          <a:prstGeom prst="rect">
            <a:avLst/>
          </a:prstGeom>
          <a:solidFill>
            <a:srgbClr val="D4D2EC"/>
          </a:solidFill>
          <a:ln w="12700">
            <a:solidFill>
              <a:srgbClr val="D4D2EC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719072" y="4270248"/>
            <a:ext cx="3566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BE8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719072" y="4270248"/>
            <a:ext cx="45720" cy="5029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847088" y="43251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[Nb Certificats]</a:t>
            </a:r>
            <a:endParaRPr lang="en-US" sz="950" dirty="0"/>
          </a:p>
        </p:txBody>
      </p:sp>
      <p:sp>
        <p:nvSpPr>
          <p:cNvPr id="122" name="Shape 120"/>
          <p:cNvSpPr/>
          <p:nvPr/>
        </p:nvSpPr>
        <p:spPr>
          <a:xfrm>
            <a:off x="4279392" y="4361688"/>
            <a:ext cx="841248" cy="182880"/>
          </a:xfrm>
          <a:prstGeom prst="rect">
            <a:avLst/>
          </a:prstGeom>
          <a:solidFill>
            <a:srgbClr val="1D9E75">
              <a:alpha val="80000"/>
            </a:srgbClr>
          </a:solidFill>
          <a:ln w="12700">
            <a:solidFill>
              <a:srgbClr val="1D9E75">
                <a:alpha val="70000"/>
              </a:srgbClr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279392" y="436168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750" dirty="0"/>
          </a:p>
        </p:txBody>
      </p:sp>
      <p:sp>
        <p:nvSpPr>
          <p:cNvPr id="124" name="Text 122"/>
          <p:cNvSpPr/>
          <p:nvPr/>
        </p:nvSpPr>
        <p:spPr>
          <a:xfrm>
            <a:off x="1847088" y="454456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certificat_obtenu=1</a:t>
            </a:r>
            <a:endParaRPr lang="en-US" sz="850" dirty="0"/>
          </a:p>
        </p:txBody>
      </p:sp>
      <p:sp>
        <p:nvSpPr>
          <p:cNvPr id="125" name="Shape 123"/>
          <p:cNvSpPr/>
          <p:nvPr/>
        </p:nvSpPr>
        <p:spPr>
          <a:xfrm>
            <a:off x="5504688" y="4306824"/>
            <a:ext cx="3566160" cy="502920"/>
          </a:xfrm>
          <a:prstGeom prst="rect">
            <a:avLst/>
          </a:prstGeom>
          <a:solidFill>
            <a:srgbClr val="D4D2EC"/>
          </a:solidFill>
          <a:ln w="12700">
            <a:solidFill>
              <a:srgbClr val="D4D2EC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468112" y="4270248"/>
            <a:ext cx="3566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BE8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468112" y="4270248"/>
            <a:ext cx="45720" cy="502920"/>
          </a:xfrm>
          <a:prstGeom prst="rect">
            <a:avLst/>
          </a:prstGeom>
          <a:solidFill>
            <a:srgbClr val="9B99C8"/>
          </a:solidFill>
          <a:ln w="12700">
            <a:solidFill>
              <a:srgbClr val="9B99C8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5596128" y="43251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B9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[Sous Titre Page 1]</a:t>
            </a:r>
            <a:endParaRPr lang="en-US" sz="950" dirty="0"/>
          </a:p>
        </p:txBody>
      </p:sp>
      <p:sp>
        <p:nvSpPr>
          <p:cNvPr id="129" name="Shape 127"/>
          <p:cNvSpPr/>
          <p:nvPr/>
        </p:nvSpPr>
        <p:spPr>
          <a:xfrm>
            <a:off x="8028432" y="4361688"/>
            <a:ext cx="841248" cy="182880"/>
          </a:xfrm>
          <a:prstGeom prst="rect">
            <a:avLst/>
          </a:prstGeom>
          <a:solidFill>
            <a:srgbClr val="9B99C8">
              <a:alpha val="80000"/>
            </a:srgbClr>
          </a:solidFill>
          <a:ln w="12700">
            <a:solidFill>
              <a:srgbClr val="9B99C8">
                <a:alpha val="70000"/>
              </a:srgbClr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8028432" y="436168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</a:t>
            </a:r>
            <a:endParaRPr lang="en-US" sz="750" dirty="0"/>
          </a:p>
        </p:txBody>
      </p:sp>
      <p:sp>
        <p:nvSpPr>
          <p:cNvPr id="131" name="Text 129"/>
          <p:cNvSpPr/>
          <p:nvPr/>
        </p:nvSpPr>
        <p:spPr>
          <a:xfrm>
            <a:off x="5596128" y="454456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SELECTEDVALUE Annee + Domaine</a:t>
            </a:r>
            <a:endParaRPr lang="en-US" sz="850" dirty="0"/>
          </a:p>
        </p:txBody>
      </p:sp>
      <p:sp>
        <p:nvSpPr>
          <p:cNvPr id="132" name="Shape 130"/>
          <p:cNvSpPr/>
          <p:nvPr/>
        </p:nvSpPr>
        <p:spPr>
          <a:xfrm>
            <a:off x="1719072" y="4846320"/>
            <a:ext cx="73152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DDBE8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828800" y="4910328"/>
            <a:ext cx="502920" cy="11887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2377440" y="488289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800" dirty="0"/>
          </a:p>
        </p:txBody>
      </p:sp>
      <p:sp>
        <p:nvSpPr>
          <p:cNvPr id="135" name="Shape 133"/>
          <p:cNvSpPr/>
          <p:nvPr/>
        </p:nvSpPr>
        <p:spPr>
          <a:xfrm>
            <a:off x="3017520" y="4910328"/>
            <a:ext cx="502920" cy="11887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3566160" y="488289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</a:t>
            </a:r>
            <a:endParaRPr lang="en-US" sz="800" dirty="0"/>
          </a:p>
        </p:txBody>
      </p:sp>
      <p:sp>
        <p:nvSpPr>
          <p:cNvPr id="137" name="Shape 135"/>
          <p:cNvSpPr/>
          <p:nvPr/>
        </p:nvSpPr>
        <p:spPr>
          <a:xfrm>
            <a:off x="4206240" y="4910328"/>
            <a:ext cx="502920" cy="11887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4754880" y="488289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800" dirty="0"/>
          </a:p>
        </p:txBody>
      </p:sp>
      <p:sp>
        <p:nvSpPr>
          <p:cNvPr id="139" name="Shape 137"/>
          <p:cNvSpPr/>
          <p:nvPr/>
        </p:nvSpPr>
        <p:spPr>
          <a:xfrm>
            <a:off x="5394960" y="4910328"/>
            <a:ext cx="502920" cy="11887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5943600" y="488289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Rev.</a:t>
            </a:r>
            <a:endParaRPr lang="en-US" sz="800" dirty="0"/>
          </a:p>
        </p:txBody>
      </p:sp>
      <p:sp>
        <p:nvSpPr>
          <p:cNvPr id="141" name="Shape 139"/>
          <p:cNvSpPr/>
          <p:nvPr/>
        </p:nvSpPr>
        <p:spPr>
          <a:xfrm>
            <a:off x="6583680" y="4910328"/>
            <a:ext cx="502920" cy="11887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7132320" y="488289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</a:t>
            </a:r>
            <a:endParaRPr lang="en-US" sz="800" dirty="0"/>
          </a:p>
        </p:txBody>
      </p:sp>
      <p:sp>
        <p:nvSpPr>
          <p:cNvPr id="143" name="Shape 141"/>
          <p:cNvSpPr/>
          <p:nvPr/>
        </p:nvSpPr>
        <p:spPr>
          <a:xfrm>
            <a:off x="7772400" y="4910328"/>
            <a:ext cx="502920" cy="118872"/>
          </a:xfrm>
          <a:prstGeom prst="rect">
            <a:avLst/>
          </a:prstGeom>
          <a:solidFill>
            <a:srgbClr val="9B99C8"/>
          </a:solidFill>
          <a:ln w="12700">
            <a:solidFill>
              <a:srgbClr val="9B99C8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8321040" y="488289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955</Words>
  <Application>Microsoft Office PowerPoint</Application>
  <PresentationFormat>Affichage à l'écran (16:9)</PresentationFormat>
  <Paragraphs>418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EduTrack Analytics — Dashboard Power BI Mockup</dc:title>
  <dc:subject>PptxGenJS Presentation</dc:subject>
  <dc:creator>PptxGenJS</dc:creator>
  <cp:lastModifiedBy>fab</cp:lastModifiedBy>
  <cp:revision>2</cp:revision>
  <dcterms:created xsi:type="dcterms:W3CDTF">2026-04-13T13:21:46Z</dcterms:created>
  <dcterms:modified xsi:type="dcterms:W3CDTF">2026-04-15T01:02:36Z</dcterms:modified>
</cp:coreProperties>
</file>