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457200"/>
            <a:ext cx="4114800" cy="4114800"/>
          </a:xfrm>
          <a:prstGeom prst="ellips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4114800"/>
            <a:ext cx="2286000" cy="2286000"/>
          </a:xfrm>
          <a:prstGeom prst="ellipse">
            <a:avLst/>
          </a:prstGeom>
          <a:solidFill>
            <a:srgbClr val="3C34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640080"/>
            <a:ext cx="2194560" cy="365760"/>
          </a:xfrm>
          <a:prstGeom prst="roundRect">
            <a:avLst>
              <a:gd name="adj" fmla="val 40000"/>
            </a:avLst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21945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DATAPROJECTLAB · ACADEMY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10058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i="0">
                <a:solidFill>
                  <a:srgbClr val="FFFFFF"/>
                </a:solidFill>
                <a:latin typeface="Georgia"/>
              </a:rPr>
              <a:t>EduTrack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5176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0" i="1">
                <a:solidFill>
                  <a:srgbClr val="EEEDFE"/>
                </a:solidFill>
                <a:latin typeface="Georgia"/>
              </a:rPr>
              <a:t>Synthèse exécutive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5760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CBD5E0"/>
                </a:solidFill>
                <a:latin typeface="Calibri"/>
              </a:rPr>
              <a:t>Le pilotage data de DataProjectLab Academy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114800"/>
            <a:ext cx="731520" cy="25400"/>
          </a:xfrm>
          <a:prstGeom prst="rect">
            <a:avLst/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4 500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52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EEDFE"/>
                </a:solidFill>
                <a:latin typeface="Calibri"/>
              </a:rPr>
              <a:t>Apprenants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5120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6 456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5852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EEDFE"/>
                </a:solidFill>
                <a:latin typeface="Calibri"/>
              </a:rPr>
              <a:t>Inscriptions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5120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33,3 %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5852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EEDFE"/>
                </a:solidFill>
                <a:latin typeface="Calibri"/>
              </a:rPr>
              <a:t>Complétion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5120640"/>
            <a:ext cx="2286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Georgia"/>
              </a:rPr>
              <a:t>778M FCFA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852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EEEDFE"/>
                </a:solidFill>
                <a:latin typeface="Calibri"/>
              </a:rPr>
              <a:t>Revenu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41280" y="6309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9AB6E0"/>
                </a:solidFill>
                <a:latin typeface="Calibri"/>
              </a:rPr>
              <a:t>Mai 2026  ·  v1.0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01  ·  L'ENJEU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200" b="1" i="0">
                <a:solidFill>
                  <a:srgbClr val="1E3A5F"/>
                </a:solidFill>
                <a:latin typeface="Georgia"/>
              </a:rPr>
              <a:t>EduTrack croît, mais perd 1 apprenant sur 6.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1">
                <a:solidFill>
                  <a:srgbClr val="6B7280"/>
                </a:solidFill>
                <a:latin typeface="Calibri"/>
              </a:rPr>
              <a:t>Et le modèle ML signale un risque de décrochage massif sur les apprenants en cours.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10896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3108960"/>
            <a:ext cx="3657600" cy="508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INSCRIPTIONS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E3A5F"/>
                </a:solidFill>
                <a:latin typeface="Georgia"/>
              </a:rPr>
              <a:t>+21 %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vs N-1  ·  6 456 inscriptions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02920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11827"/>
                </a:solidFill>
                <a:latin typeface="Calibri"/>
              </a:rPr>
              <a:t>La demande est là. La promesse de marque fonctionne.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310896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3108960"/>
            <a:ext cx="3657600" cy="50800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494D"/>
                </a:solidFill>
                <a:latin typeface="Calibri"/>
              </a:rPr>
              <a:t>ABANDONS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365760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E3A5F"/>
                </a:solidFill>
                <a:latin typeface="Georgia"/>
              </a:rPr>
              <a:t>17,7 %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4572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1 142 apprenants perdus / 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502920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11827"/>
                </a:solidFill>
                <a:latin typeface="Calibri"/>
              </a:rPr>
              <a:t>Stable depuis 12 mois. Le succès ne corrige pas le problème.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3108960"/>
            <a:ext cx="365760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3108960"/>
            <a:ext cx="36576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29184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2A93B"/>
                </a:solidFill>
                <a:latin typeface="Calibri"/>
              </a:rPr>
              <a:t>ALERTES 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3657600"/>
            <a:ext cx="338328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600" b="1" i="0">
                <a:solidFill>
                  <a:srgbClr val="1E3A5F"/>
                </a:solidFill>
                <a:latin typeface="Georgia"/>
              </a:rPr>
              <a:t>1 613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72000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Calibri"/>
              </a:rPr>
              <a:t>77 % des apprenants actifs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5029200"/>
            <a:ext cx="3383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11827"/>
                </a:solidFill>
                <a:latin typeface="Calibri"/>
              </a:rPr>
              <a:t>Le modèle voit venir une vague que les KPIs ne montrent pas encore.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02  ·  CE QUE LA DATA RÉVÈLE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Georgia"/>
              </a:rPr>
              <a:t>Trois paradoxes que les KPIs cachent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28800"/>
            <a:ext cx="3657600" cy="508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534AB7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Satisfaits, mais ils partent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LE FAIT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3375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CSAT 4,23/5 (élevé) ET 17,7 % d'abandon. Les apprenants apprécient le contenu mais ne le terminent pas.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534AB7"/>
                </a:solidFill>
                <a:latin typeface="Calibri"/>
              </a:rPr>
              <a:t>LECTURE 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E3A5F"/>
                </a:solidFill>
                <a:latin typeface="Calibri"/>
              </a:rPr>
              <a:t>Ce n'est pas un problème de qualité — c'est un problème de friction. Charge, cadence, prérequis manquants.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34840" y="1828800"/>
            <a:ext cx="3657600" cy="50800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1965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E5494D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2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Concentration en haut, fragilité en 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5494D"/>
                </a:solidFill>
                <a:latin typeface="Calibri"/>
              </a:rPr>
              <a:t>LE FAIT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3375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Les Top 5 parcours portent 60 % du revenu. Mais 4 instructeurs sur 12 sont en zone « À coacher ».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E5494D"/>
                </a:solidFill>
                <a:latin typeface="Calibri"/>
              </a:rPr>
              <a:t>LECTURE BUSINESS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177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E3A5F"/>
                </a:solidFill>
                <a:latin typeface="Calibri"/>
              </a:rPr>
              <a:t>Si un instructeur clé part, jusqu'à 12 % du revenu est à risque. Le talent pédagogique est notre actif n°1.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82880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1828800"/>
            <a:ext cx="36576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19659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2A93B"/>
                </a:solidFill>
                <a:latin typeface="Georgia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205740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Les pires parcours sont les plus avancés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3017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LE FAIT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337560"/>
            <a:ext cx="3200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Pire abandon par domaine : Machine Learning (16,9 %), Fullstack React (17,3 %), Growth Hacking (18,6 %), Mgmt Projet (18,4 %).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29768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F2A93B"/>
                </a:solidFill>
                <a:latin typeface="Calibri"/>
              </a:rPr>
              <a:t>LECTURE BUSINESS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61772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1E3A5F"/>
                </a:solidFill>
                <a:latin typeface="Calibri"/>
              </a:rPr>
              <a:t>Les apprenants surévaluent leur niveau au moment de l'inscription. Aucun système de prérequis ne filtre.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03  ·  LE MODÈLE DE RISQUE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Sur 100 apprenants en cours, 77 sont à risque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Le modèle ML segmente le portefeuille en 3 zones d'action et 1 zone neutre. Recall mesuré : 79,6 %.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468880"/>
            <a:ext cx="3657600" cy="50800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651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5494D"/>
                </a:solidFill>
                <a:latin typeface="Calibri"/>
              </a:rPr>
              <a:t>ROUGE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6517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Score &gt; 0,80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3A5F"/>
                </a:solidFill>
                <a:latin typeface="Georgia"/>
              </a:rPr>
              <a:t>~150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apprenants concernés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5494D"/>
                </a:solidFill>
                <a:latin typeface="Calibri"/>
              </a:rPr>
              <a:t>Intervention humaine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Appel téléphonique du tuteur sous 48h.
Probabilité d'abandon &gt; 80 %.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4688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468880"/>
            <a:ext cx="365760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2651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F2A93B"/>
                </a:solidFill>
                <a:latin typeface="Calibri"/>
              </a:rPr>
              <a:t>ORANGE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26517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0,60 – 0,80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200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3A5F"/>
                </a:solidFill>
                <a:latin typeface="Georgia"/>
              </a:rPr>
              <a:t>~150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apprenants concernés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2A93B"/>
                </a:solidFill>
                <a:latin typeface="Calibri"/>
              </a:rPr>
              <a:t>Relance ciblée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983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Email personnalisé avec recommandation de parcours adapté.
Probabilité 60–80 %.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0" y="2468880"/>
            <a:ext cx="3657600" cy="3108960"/>
          </a:xfrm>
          <a:prstGeom prst="roundRect">
            <a:avLst>
              <a:gd name="adj" fmla="val 4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0" y="2468880"/>
            <a:ext cx="3657600" cy="508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6517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534AB7"/>
                </a:solidFill>
                <a:latin typeface="Calibri"/>
              </a:rPr>
              <a:t>VIOLET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0" y="26517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0,30 – 0,60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200400"/>
            <a:ext cx="3200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1E3A5F"/>
                </a:solidFill>
                <a:latin typeface="Georgia"/>
              </a:rPr>
              <a:t>~1 300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58200" y="41605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6B7280"/>
                </a:solidFill>
                <a:latin typeface="Calibri"/>
              </a:rPr>
              <a:t>apprenants concernés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200" y="4617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534AB7"/>
                </a:solidFill>
                <a:latin typeface="Calibri"/>
              </a:rPr>
              <a:t>Rappel doux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4983480"/>
            <a:ext cx="3200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11827"/>
                </a:solidFill>
                <a:latin typeface="Calibri"/>
              </a:rPr>
              <a:t>Push notification de réengagement.
Probabilité 30–60 %.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5760720"/>
            <a:ext cx="11247120" cy="50292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1E3A5F"/>
                </a:solidFill>
                <a:latin typeface="Calibri"/>
              </a:rPr>
              <a:t>⚠ Recall 79,6 % : sur 100 apprenants qui décrocheront vraiment, le modèle en flag 80. La zone aveugle (20 %) doit être surveillée par un suivi qualitatif complémentaire.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04  ·  CE QUE LA DATA NE CRIE 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Trois actifs business qu'on n'a pas vus venir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1FA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Mobile Money = passeport régional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50 % · des paiements en Mobile Money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Le marché ouest-africain est natif Mobile Money. Wave (Sénégal), Orange Money, MTN MoMo (Cameroun) : l'infra est déjà compatible.
Le paiement n'est plus un frein à l'expansion — c'est notre tête de pont.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4840" y="182880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60" y="21031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103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LTV apprenant = 173 000 FCFA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264 € · revenu généré par apprenant actif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32004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778 M FCFA / 4 500 apprenants. Et seulement 16 % d'acquisition payante.
La LTV est saine, le coût d'acquisition est faible : il y a de la place pour scaler le marketing payant sans détruire l'unit economics.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828800"/>
            <a:ext cx="36576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503920" y="2103120"/>
            <a:ext cx="731520" cy="73152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10312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Georgia"/>
              </a:rPr>
              <a:t>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0" y="210312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E3A5F"/>
                </a:solidFill>
                <a:latin typeface="Calibri"/>
              </a:rPr>
              <a:t>Le SEO est un canal sous-exploité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4688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6B7280"/>
                </a:solidFill>
                <a:latin typeface="Calibri"/>
              </a:rPr>
              <a:t>35 % · des apprenants viennent de l'organique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3200400"/>
            <a:ext cx="3200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11827"/>
                </a:solidFill>
                <a:latin typeface="Calibri"/>
              </a:rPr>
              <a:t>Le bouche-à-oreille et le SEO ramènent 1 apprenant sur 3, gratuitement. C'est notre canal le plus rentable.
Doubler l'investissement contenu (blog, témoignages, SEO technique) peut amplifier ce levier sans gonfler le CAC.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05  ·  RECOMMANDATION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Georgia"/>
              </a:rPr>
              <a:t>Réduire la friction d'entrée sur les parcours avancés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1247120" cy="640080"/>
          </a:xfrm>
          <a:prstGeom prst="roundRect">
            <a:avLst>
              <a:gd name="adj" fmla="val 10000"/>
            </a:avLst>
          </a:prstGeom>
          <a:solidFill>
            <a:srgbClr val="EEE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Les apprenants quittent ML, Fullstack et Growth car ils sous-estiment la marche d'entrée. Pas par manque de qualité.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55848"/>
            <a:ext cx="73152" cy="7315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Test de prérequis obligatoire avant inscription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10 questions techniques + 5 questions de motivation. Score &lt; seuil → orientation vers le parcours fondations.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33088"/>
            <a:ext cx="73152" cy="7315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Onboarding séquencé sur 5 jours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Mini-modules quotidiens pour acclimater au rythme. CTA quotidien de 15 minutes.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910328"/>
            <a:ext cx="73152" cy="7315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Buddy system entre apprenants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Pairer chaque nouvel inscrit avec un alumni du même parcours. 1 contact / semaine pendant 4 semaines.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73152" cy="73152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Refonte du syllabus des 4 pires parcours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Découper les chapitres lourds, ajouter des micro-livrables, retirer les contenus à faible CSAT identifiés.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834640"/>
            <a:ext cx="3931920" cy="3291840"/>
          </a:xfrm>
          <a:prstGeom prst="roundRect">
            <a:avLst>
              <a:gd name="adj" fmla="val 4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0175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B6E0"/>
                </a:solidFill>
                <a:latin typeface="Calibri"/>
              </a:rPr>
              <a:t>IMPACT ATTENDU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38328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+5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617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5E0"/>
                </a:solidFill>
                <a:latin typeface="Calibri"/>
              </a:rPr>
              <a:t>complétion sur les 4 parcours ciblés (33,3 % → 38 %)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5212080"/>
            <a:ext cx="457200" cy="25400"/>
          </a:xfrm>
          <a:prstGeom prst="rect">
            <a:avLst/>
          </a:prstGeom>
          <a:solidFill>
            <a:srgbClr val="4A5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5349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B6E0"/>
                </a:solidFill>
                <a:latin typeface="Calibri"/>
              </a:rPr>
              <a:t>Délai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577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349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B6E0"/>
                </a:solidFill>
                <a:latin typeface="Calibri"/>
              </a:rPr>
              <a:t>Investissement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12 M FCFA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494D"/>
                </a:solidFill>
                <a:latin typeface="Calibri"/>
              </a:rPr>
              <a:t>05  ·  RECOMMANDATION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Georgia"/>
              </a:rPr>
              <a:t>Activer une cellule de rétention 3 niveaux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1247120" cy="640080"/>
          </a:xfrm>
          <a:prstGeom prst="roundRect">
            <a:avLst>
              <a:gd name="adj" fmla="val 10000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Le modèle ML identifie déjà les apprenants à risque. Il manque le bras opérationnel qui agit sur le signal.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E5494D"/>
                </a:solidFill>
                <a:latin typeface="Calibri"/>
              </a:rPr>
              <a:t>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55848"/>
            <a:ext cx="73152" cy="73152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Niveau ROUGE — Cellule humaine de tutorat (~150 apprenants)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1 tuteur dédié, appel sous 48h, plan de remédiation personnalisé sur 2 semaines.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33088"/>
            <a:ext cx="73152" cy="73152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Niveau ORANGE — Email perso + visio collective (~150 apprenants)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Recommandation de parcours adapté ou bascule vers un parcours fondations. Visio mensuelle de cohorte.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910328"/>
            <a:ext cx="73152" cy="73152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Niveau VIOLET — Push automatisé contextuel (~1 300 apprenants)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Notifications déclenchées par le score ML : J+3 inactivité, J+7, J+14, avec contenu pertinent.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73152" cy="73152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Mesure obsessionnelle de la conversion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Re-engagement à 7 et 30 jours. Si une zone ne convertit pas, on coupe et on réalloue le budget.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834640"/>
            <a:ext cx="3931920" cy="3291840"/>
          </a:xfrm>
          <a:prstGeom prst="roundRect">
            <a:avLst>
              <a:gd name="adj" fmla="val 4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0175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B6E0"/>
                </a:solidFill>
                <a:latin typeface="Calibri"/>
              </a:rPr>
              <a:t>IMPACT ATTENDU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38328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−4 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617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5E0"/>
                </a:solidFill>
                <a:latin typeface="Calibri"/>
              </a:rPr>
              <a:t>abandon (17,7 % → 13,7 %)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5212080"/>
            <a:ext cx="457200" cy="25400"/>
          </a:xfrm>
          <a:prstGeom prst="rect">
            <a:avLst/>
          </a:prstGeom>
          <a:solidFill>
            <a:srgbClr val="4A5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5349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B6E0"/>
                </a:solidFill>
                <a:latin typeface="Calibri"/>
              </a:rPr>
              <a:t>Délai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577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3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349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B6E0"/>
                </a:solidFill>
                <a:latin typeface="Calibri"/>
              </a:rPr>
              <a:t>Investissement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8 M FCFA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A67D"/>
                </a:solidFill>
                <a:latin typeface="Calibri"/>
              </a:rPr>
              <a:t>05  ·  RECOMMANDATION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1E3A5F"/>
                </a:solidFill>
                <a:latin typeface="Georgia"/>
              </a:rPr>
              <a:t>Passer de 1,44 à 2,5 inscriptions par apprenant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1247120" cy="640080"/>
          </a:xfrm>
          <a:prstGeom prst="roundRect">
            <a:avLst>
              <a:gd name="adj" fmla="val 1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 i="1">
                <a:solidFill>
                  <a:srgbClr val="1E3A5F"/>
                </a:solidFill>
                <a:latin typeface="Calibri"/>
              </a:rPr>
              <a:t>Le cross-sell est quasi nul. Doubler la LTV ne demande pas de nouveaux apprenants — il suffit de mieux servir les existants.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1FA67D"/>
                </a:solidFill>
                <a:latin typeface="Calibri"/>
              </a:rPr>
              <a:t>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355848"/>
            <a:ext cx="73152" cy="73152"/>
          </a:xfrm>
          <a:prstGeom prst="rect">
            <a:avLst/>
          </a:prstGeom>
          <a:solidFill>
            <a:srgbClr val="1FA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4612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Bundle de parcours par carrière (4 packs)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56616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Data Analyst (Python + SQL + Power BI), Dev Web (HTML/CSS/JS + React + Node), Growth (SEO + Content + Ads), Manager (Leadership + Mgmt Projet + Soft Skills).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4133088"/>
            <a:ext cx="73152" cy="73152"/>
          </a:xfrm>
          <a:prstGeom prst="rect">
            <a:avLst/>
          </a:prstGeom>
          <a:solidFill>
            <a:srgbClr val="1FA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Réduction de 25 % sur le 2ᵉ parcours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Activée automatiquement à la complétion d'un premier parcours. Mobile Money en facilitateur (paiement en 3 fois).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4910328"/>
            <a:ext cx="73152" cy="73152"/>
          </a:xfrm>
          <a:prstGeom prst="rect">
            <a:avLst/>
          </a:prstGeom>
          <a:solidFill>
            <a:srgbClr val="1FA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80060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Recommandations IA personnalisées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12064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À la complétion, suggérer 2 parcours complémentaires basés sur le profil + similarités d'apprenants ayant réussi.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5687568"/>
            <a:ext cx="73152" cy="73152"/>
          </a:xfrm>
          <a:prstGeom prst="rect">
            <a:avLst/>
          </a:prstGeom>
          <a:solidFill>
            <a:srgbClr val="1FA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77840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E3A5F"/>
                </a:solidFill>
                <a:latin typeface="Calibri"/>
              </a:rPr>
              <a:t>Programme alumni avec parcours masterclasses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  <a:latin typeface="Calibri"/>
              </a:rPr>
              <a:t>Accès payant à des masterclasses trimestrielles animées par les Top Performers. Récurrence revenu.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55279" y="2834640"/>
            <a:ext cx="3931920" cy="3291840"/>
          </a:xfrm>
          <a:prstGeom prst="roundRect">
            <a:avLst>
              <a:gd name="adj" fmla="val 4000"/>
            </a:avLst>
          </a:prstGeom>
          <a:solidFill>
            <a:srgbClr val="0F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83879" y="301752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AB6E0"/>
                </a:solidFill>
                <a:latin typeface="Calibri"/>
              </a:rPr>
              <a:t>IMPACT ATTENDU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83879" y="3383280"/>
            <a:ext cx="3474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Georgia"/>
              </a:rPr>
              <a:t>+220M FCFA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461772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1">
                <a:solidFill>
                  <a:srgbClr val="CBD5E0"/>
                </a:solidFill>
                <a:latin typeface="Calibri"/>
              </a:rPr>
              <a:t>+28 % de revenu (778M → ~1 Md FCFA)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83879" y="5212080"/>
            <a:ext cx="457200" cy="25400"/>
          </a:xfrm>
          <a:prstGeom prst="rect">
            <a:avLst/>
          </a:prstGeom>
          <a:solidFill>
            <a:srgbClr val="4A5F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53492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B6E0"/>
                </a:solidFill>
                <a:latin typeface="Calibri"/>
              </a:rPr>
              <a:t>Délai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55778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6 mois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0" y="53492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9AB6E0"/>
                </a:solidFill>
                <a:latin typeface="Calibri"/>
              </a:rPr>
              <a:t>Investissement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0" y="557784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5 M FCFA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06  ·  EXÉCUTION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Roadmap 6 mois — focus sur les jalons mesurables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514600"/>
            <a:ext cx="10972800" cy="25400"/>
          </a:xfrm>
          <a:prstGeom prst="rect">
            <a:avLst/>
          </a:prstGeom>
          <a:solidFill>
            <a:srgbClr val="E5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2331720"/>
            <a:ext cx="457200" cy="457200"/>
          </a:xfrm>
          <a:prstGeom prst="ellipse">
            <a:avLst/>
          </a:prstGeom>
          <a:solidFill>
            <a:srgbClr val="1FA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M+1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-457200" y="3108960"/>
            <a:ext cx="26517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-457200" y="3108960"/>
            <a:ext cx="2651760" cy="50800"/>
          </a:xfrm>
          <a:prstGeom prst="rect">
            <a:avLst/>
          </a:prstGeom>
          <a:solidFill>
            <a:srgbClr val="1FA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-274320" y="3291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Georgia"/>
              </a:rPr>
              <a:t>Lancement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274320" y="3749039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Cellule ROUGE active.
Test de prérequis en ligne.
Premiers bundles vendus.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2331720"/>
            <a:ext cx="457200" cy="457200"/>
          </a:xfrm>
          <a:prstGeom prst="ellipse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M+3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0" y="3108960"/>
            <a:ext cx="26517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108960"/>
            <a:ext cx="2651760" cy="508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3291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Georgia"/>
              </a:rPr>
              <a:t>Premier bilan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749039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ORANGE et VIOLET activés.
Revue pédagogique des 4 instructeurs.
Mesure abandon trimestriel.</a:t>
            </a:r>
          </a:p>
        </p:txBody>
      </p:sp>
      <p:sp>
        <p:nvSpPr>
          <p:cNvPr id="18" name="Oval 17"/>
          <p:cNvSpPr/>
          <p:nvPr/>
        </p:nvSpPr>
        <p:spPr>
          <a:xfrm>
            <a:off x="9784080" y="2331720"/>
            <a:ext cx="457200" cy="457200"/>
          </a:xfrm>
          <a:prstGeom prst="ellipse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0" y="233172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M+6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0" y="3108960"/>
            <a:ext cx="2651760" cy="2468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0" y="3108960"/>
            <a:ext cx="2651760" cy="5080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291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E3A5F"/>
                </a:solidFill>
                <a:latin typeface="Georgia"/>
              </a:rPr>
              <a:t>Évaluation finale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3749039"/>
            <a:ext cx="237744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11827"/>
                </a:solidFill>
                <a:latin typeface="Calibri"/>
              </a:rPr>
              <a:t>Cible complétion +5 pp.
Cible abandon −4 pp.
Cible revenu +220M FCFA.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5216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89788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Impact agrégé à 6 mois : +5 pp complétion · −4 pp abandon · +220 M FCFA de revenu pour 25 M FCFA d'investissement total. ROI ≈ x9.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A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534AB7"/>
                </a:solidFill>
                <a:latin typeface="Calibri"/>
              </a:rPr>
              <a:t>07  ·  CONDITIONS DE RÉUSSITE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E3A5F"/>
                </a:solidFill>
                <a:latin typeface="Georgia"/>
              </a:rPr>
              <a:t>Ce qu'il faut décider, ce qu'on ne sait pas encore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E5494D"/>
                </a:solidFill>
                <a:latin typeface="Calibri"/>
              </a:rPr>
              <a:t>LIMITES DU MODÈLE &amp; DES DONNÉES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423160"/>
            <a:ext cx="38100" cy="777240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Recall 79,6 %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20 % des futurs abandons ne sont pas détectés. À compenser par une enquête qualitative à 30 jours.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383279"/>
            <a:ext cx="38100" cy="777240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329183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Saisonnalité partiellement modélisée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66159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Le pic de juin est expliqué à 60 % seulement. Le reste tient à des facteurs externes non capturés.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343400"/>
            <a:ext cx="38100" cy="777240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251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Pas de feedback post-abandon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52628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On ne sait pas pourquoi un apprenant arrête. Mettre en place un mini-questionnaire à J+30 après abandon.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303520"/>
            <a:ext cx="38100" cy="777240"/>
          </a:xfrm>
          <a:prstGeom prst="rect">
            <a:avLst/>
          </a:prstGeom>
          <a:solidFill>
            <a:srgbClr val="E549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5212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Réentraînement trimestriel nécessaire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4864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Les comportements évoluent. Sans réentraînement, le recall chutera de 5 pp tous les 6 mois.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9202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534AB7"/>
                </a:solidFill>
                <a:latin typeface="Calibri"/>
              </a:rPr>
              <a:t>DÉCISIONS ATTENDUES DU COMITÉ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423160"/>
            <a:ext cx="38100" cy="77724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233172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Validation du budget 25 M FCFA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260604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Ouverture des 3 chantiers en parallèle ou séquencé. Préférence : parallèle (économies d'échelle sur le coaching).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383279"/>
            <a:ext cx="38100" cy="77724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291839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Désignation d'un sponsor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566159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Membre du COMEX porteur des 3 recommandations. Reporting mensuel obligatoire.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343400"/>
            <a:ext cx="38100" cy="77724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37960" y="42519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Choix du KPI nord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452628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Complétion (orienté pédago) ou Revenu/apprenant (orienté business) ? Une seule étoile polaire pour l'équipe.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0" y="5303520"/>
            <a:ext cx="38100" cy="777240"/>
          </a:xfrm>
          <a:prstGeom prst="rect">
            <a:avLst/>
          </a:prstGeom>
          <a:solidFill>
            <a:srgbClr val="534A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5212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E3A5F"/>
                </a:solidFill>
                <a:latin typeface="Calibri"/>
              </a:rPr>
              <a:t>Communication interne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486400"/>
            <a:ext cx="53035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6B7280"/>
                </a:solidFill>
                <a:latin typeface="Calibri"/>
              </a:rPr>
              <a:t>Annonce aux instructeurs « À coacher » : posture d'accompagnement, pas de sanction. Tonalité critique.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1">
                <a:solidFill>
                  <a:srgbClr val="6B7280"/>
                </a:solidFill>
                <a:latin typeface="Calibri"/>
              </a:rPr>
              <a:t>DataProjectLab — Academy   ·   EduTrack Analytics — Synthèse exécutive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5379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0" i="0">
                <a:solidFill>
                  <a:srgbClr val="6B7280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