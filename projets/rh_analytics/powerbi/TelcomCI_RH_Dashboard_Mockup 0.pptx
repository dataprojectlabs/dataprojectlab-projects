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5" autoAdjust="0"/>
    <p:restoredTop sz="88966" autoAdjust="0"/>
  </p:normalViewPr>
  <p:slideViewPr>
    <p:cSldViewPr snapToGrid="0" snapToObjects="1">
      <p:cViewPr>
        <p:scale>
          <a:sx n="98" d="100"/>
          <a:sy n="98" d="100"/>
        </p:scale>
        <p:origin x="231" y="-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687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280160"/>
            <a:ext cx="4754880" cy="4754880"/>
          </a:xfrm>
          <a:prstGeom prst="ellipse">
            <a:avLst/>
          </a:prstGeom>
          <a:solidFill>
            <a:srgbClr val="1D3461">
              <a:alpha val="50000"/>
            </a:srgbClr>
          </a:solidFill>
          <a:ln w="12700">
            <a:solidFill>
              <a:srgbClr val="1D3461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365760"/>
            <a:ext cx="2560320" cy="2560320"/>
          </a:xfrm>
          <a:prstGeom prst="ellipse">
            <a:avLst/>
          </a:prstGeom>
          <a:solidFill>
            <a:srgbClr val="F47C20">
              <a:alpha val="30000"/>
            </a:srgbClr>
          </a:solidFill>
          <a:ln w="12700">
            <a:solidFill>
              <a:srgbClr val="F47C2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91840"/>
            <a:ext cx="2926080" cy="2926080"/>
          </a:xfrm>
          <a:prstGeom prst="ellipse">
            <a:avLst/>
          </a:prstGeom>
          <a:solidFill>
            <a:srgbClr val="1D3461">
              <a:alpha val="40000"/>
            </a:srgbClr>
          </a:solidFill>
          <a:ln w="12700">
            <a:solidFill>
              <a:srgbClr val="1D346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75488"/>
            <a:ext cx="2560320" cy="292608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  ·  TelcomCI RH Analytics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&amp; Masse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Salariale Analytics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 ·  5 pages  ·  12 mesures DAX  ·  SQL Server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71216"/>
            <a:ext cx="5669280" cy="0"/>
          </a:xfrm>
          <a:prstGeom prst="line">
            <a:avLst/>
          </a:prstGeom>
          <a:noFill/>
          <a:ln w="19050">
            <a:solidFill>
              <a:srgbClr val="F47C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3580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EMPLOYES ACTIFS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3852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303580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011680" y="34747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TURNOVER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40156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03580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3.83/5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474720" y="34747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PERF. MOY.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86460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03580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ABS. INJUSTIFIEES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32764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03580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1 366k F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00800" y="34747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RECRUTEMENT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79068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303580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M F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863840" y="34747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TURNOVER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Vue DRH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7739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3664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Masse Salariale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027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Turnover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315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41264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Absenteisme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603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70064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Performance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" y="78638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" y="78638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736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— Jun 2024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10972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 — TelcomCI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10972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– Jun 2024  ·  Tous departements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73936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3664" y="95097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883664" y="133502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 ACTIF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83664" y="148132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506 employes propres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39312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02736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02736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95097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3749040" y="133502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TURNOVER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49040" y="148132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departs / 506 total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95544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58968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58968" y="859536"/>
            <a:ext cx="54864" cy="89611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05272" y="95097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3.83/5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5605272" y="133502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PERF. MOY.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05272" y="148132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2023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278624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42048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42048" y="859536"/>
            <a:ext cx="54864" cy="89611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88352" y="95097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M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7388352" y="133502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TURNOVER (FCFA)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88352" y="148132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 salaire x 60 departs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773936" y="1920240"/>
            <a:ext cx="4206240" cy="175564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37360" y="1883664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65376" y="193852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 actif vs cible par departement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865376" y="22311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Client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017520" y="2286000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17520" y="2286000"/>
            <a:ext cx="2345788" cy="109728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69280" y="2249424"/>
            <a:ext cx="0" cy="182880"/>
          </a:xfrm>
          <a:prstGeom prst="line">
            <a:avLst/>
          </a:prstGeom>
          <a:noFill/>
          <a:ln w="15240">
            <a:solidFill>
              <a:srgbClr val="F47C20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724144" y="223113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115/130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865376" y="24871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017520" y="2542032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17520" y="2542032"/>
            <a:ext cx="1958223" cy="109728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61317" y="2505456"/>
            <a:ext cx="0" cy="182880"/>
          </a:xfrm>
          <a:prstGeom prst="line">
            <a:avLst/>
          </a:prstGeom>
          <a:noFill/>
          <a:ln w="15240">
            <a:solidFill>
              <a:srgbClr val="F47C20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5724144" y="248716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96/110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865376" y="27432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017520" y="2798064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17520" y="2798064"/>
            <a:ext cx="1652250" cy="109728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55345" y="2761488"/>
            <a:ext cx="0" cy="182880"/>
          </a:xfrm>
          <a:prstGeom prst="line">
            <a:avLst/>
          </a:prstGeom>
          <a:noFill/>
          <a:ln w="15240">
            <a:solidFill>
              <a:srgbClr val="F47C20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5724144" y="274320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81/95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865376" y="29992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017520" y="3054096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17520" y="3054096"/>
            <a:ext cx="836324" cy="109728"/>
          </a:xfrm>
          <a:prstGeom prst="rect">
            <a:avLst/>
          </a:prstGeom>
          <a:solidFill>
            <a:srgbClr val="253E72"/>
          </a:solidFill>
          <a:ln w="12700">
            <a:solidFill>
              <a:srgbClr val="253E7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935437" y="3017520"/>
            <a:ext cx="0" cy="182880"/>
          </a:xfrm>
          <a:prstGeom prst="line">
            <a:avLst/>
          </a:prstGeom>
          <a:noFill/>
          <a:ln w="15240">
            <a:solidFill>
              <a:srgbClr val="F47C20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5724144" y="299923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41/45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865376" y="325526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017520" y="3310128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17520" y="3310128"/>
            <a:ext cx="632343" cy="109728"/>
          </a:xfrm>
          <a:prstGeom prst="rect">
            <a:avLst/>
          </a:prstGeom>
          <a:solidFill>
            <a:srgbClr val="253E72"/>
          </a:solidFill>
          <a:ln w="12700">
            <a:solidFill>
              <a:srgbClr val="253E7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31455" y="3273552"/>
            <a:ext cx="0" cy="182880"/>
          </a:xfrm>
          <a:prstGeom prst="line">
            <a:avLst/>
          </a:prstGeom>
          <a:noFill/>
          <a:ln w="15240">
            <a:solidFill>
              <a:srgbClr val="F47C20"/>
            </a:solidFill>
            <a:prstDash val="dash"/>
          </a:ln>
        </p:spPr>
      </p:sp>
      <p:sp>
        <p:nvSpPr>
          <p:cNvPr id="79" name="Text 77"/>
          <p:cNvSpPr/>
          <p:nvPr/>
        </p:nvSpPr>
        <p:spPr>
          <a:xfrm>
            <a:off x="5724144" y="32552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31/35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865376" y="3538728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orange = cible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053328" y="1920240"/>
            <a:ext cx="3054096" cy="175564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6752" y="1883664"/>
            <a:ext cx="3054096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44768" y="1938528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 contrats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455664" y="2231136"/>
            <a:ext cx="1316736" cy="1316736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56832" y="2432304"/>
            <a:ext cx="914400" cy="914400"/>
          </a:xfrm>
          <a:prstGeom prst="ellipse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55664" y="2231136"/>
            <a:ext cx="658368" cy="1316736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55664" y="2231136"/>
            <a:ext cx="1316736" cy="1316736"/>
          </a:xfrm>
          <a:prstGeom prst="ellipse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55664" y="2231136"/>
            <a:ext cx="1316736" cy="131673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56832" y="2432304"/>
            <a:ext cx="914400" cy="914400"/>
          </a:xfrm>
          <a:prstGeom prst="ellipse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863840" y="2304288"/>
            <a:ext cx="164592" cy="109728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065008" y="2267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  81.4%  (415)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863840" y="2633472"/>
            <a:ext cx="164592" cy="109728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065008" y="2596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CDD  13.9%  (71)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863840" y="2962656"/>
            <a:ext cx="164592" cy="10972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065008" y="2926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 4.7%  (24)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773936" y="3803904"/>
            <a:ext cx="7333488" cy="129844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737360" y="3767328"/>
            <a:ext cx="733348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865376" y="382219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masse salariale mensuelle — brut + primes (FCFA)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1920240" y="4828032"/>
            <a:ext cx="6949440" cy="0"/>
          </a:xfrm>
          <a:prstGeom prst="line">
            <a:avLst/>
          </a:prstGeom>
          <a:noFill/>
          <a:ln w="6350">
            <a:solidFill>
              <a:srgbClr val="D8E2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938528" y="4809744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108606" y="4750139"/>
            <a:ext cx="170078" cy="29803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278685" y="4779941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448763" y="4720336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618842" y="4690533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788920" y="4601125"/>
            <a:ext cx="170078" cy="149013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958998" y="4750139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129077" y="4720336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299155" y="4690533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469234" y="4660731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639312" y="4630928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809390" y="4213691"/>
            <a:ext cx="170078" cy="44704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79469" y="4660731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49547" y="4630928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19626" y="4601125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489704" y="4571323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59782" y="4541520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829861" y="4481915"/>
            <a:ext cx="170078" cy="119211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999939" y="4601125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170018" y="4571323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40096" y="4541520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10174" y="4511717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680253" y="4481915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850331" y="4154085"/>
            <a:ext cx="170078" cy="298027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20410" y="4452112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90488" y="4422309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360566" y="4392507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530645" y="4332901"/>
            <a:ext cx="170078" cy="29803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00723" y="4362704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870802" y="4303099"/>
            <a:ext cx="170078" cy="119211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040880" y="4422309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10958" y="4392507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381037" y="4362704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551115" y="4332901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721194" y="4303099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891272" y="4005072"/>
            <a:ext cx="170078" cy="566251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061350" y="4571323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231429" y="4526619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401507" y="4481915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571586" y="4452112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741664" y="4422309"/>
            <a:ext cx="170078" cy="0"/>
          </a:xfrm>
          <a:prstGeom prst="line">
            <a:avLst/>
          </a:prstGeom>
          <a:noFill/>
          <a:ln w="22860">
            <a:solidFill>
              <a:srgbClr val="1D346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736238" y="4140539"/>
            <a:ext cx="146304" cy="146304"/>
          </a:xfrm>
          <a:prstGeom prst="ellipse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777179" y="4080933"/>
            <a:ext cx="146304" cy="146304"/>
          </a:xfrm>
          <a:prstGeom prst="ellipse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818120" y="3931920"/>
            <a:ext cx="146304" cy="146304"/>
          </a:xfrm>
          <a:prstGeom prst="ellipse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883664" y="48463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21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4206240" y="48463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22</a:t>
            </a:r>
            <a:endParaRPr lang="en-US" sz="750" dirty="0"/>
          </a:p>
        </p:txBody>
      </p:sp>
      <p:sp>
        <p:nvSpPr>
          <p:cNvPr id="146" name="Text 144"/>
          <p:cNvSpPr/>
          <p:nvPr/>
        </p:nvSpPr>
        <p:spPr>
          <a:xfrm>
            <a:off x="6528816" y="48463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23</a:t>
            </a:r>
            <a:endParaRPr lang="en-US" sz="750" dirty="0"/>
          </a:p>
        </p:txBody>
      </p:sp>
      <p:sp>
        <p:nvSpPr>
          <p:cNvPr id="147" name="Text 145"/>
          <p:cNvSpPr/>
          <p:nvPr/>
        </p:nvSpPr>
        <p:spPr>
          <a:xfrm>
            <a:off x="8851392" y="48463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24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1865376" y="499262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Pics decembre = primes annuelles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" y="151790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" y="151790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736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— Jun 2024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10972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 — Structure &amp; Evolution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10972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complete  ·  Valides et payes uniquement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73936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3664" y="95097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568.6 M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883664" y="133502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BRUTE JUIN 2024 (FCFA)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83664" y="14813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568 593 915 FCFA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06240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9664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9664" y="859536"/>
            <a:ext cx="54864" cy="89611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95097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869 250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315968" y="133502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NET MOYEN (FCFA)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15968" y="14813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periode complete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565392" y="896112"/>
            <a:ext cx="2505456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859536"/>
            <a:ext cx="250545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8816" y="859536"/>
            <a:ext cx="54864" cy="89611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9509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+22.8%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675120" y="1335024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JUIN vs MAI 2024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0" y="148132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Mai: 462.9 M → Juin: 568.6 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773936" y="1920240"/>
            <a:ext cx="4572000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0" y="1883664"/>
            <a:ext cx="457200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65376" y="19385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 brute + primes — Juin 2024 (FCFA)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865376" y="22494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&amp; Reseau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364992" y="2313432"/>
            <a:ext cx="2706624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64992" y="2313432"/>
            <a:ext cx="2706624" cy="109728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22494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127.6 M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865376" y="25237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Client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364992" y="2587752"/>
            <a:ext cx="2706624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64992" y="2587752"/>
            <a:ext cx="2297829" cy="109728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25237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108.4 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865376" y="27980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Ventes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364992" y="2862072"/>
            <a:ext cx="2706624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64992" y="2862072"/>
            <a:ext cx="2141769" cy="109728"/>
          </a:xfrm>
          <a:prstGeom prst="rect">
            <a:avLst/>
          </a:prstGeom>
          <a:solidFill>
            <a:srgbClr val="253E72"/>
          </a:solidFill>
          <a:ln w="12700">
            <a:solidFill>
              <a:srgbClr val="253E7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27980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101.0 M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865376" y="30723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364992" y="3136392"/>
            <a:ext cx="2706624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64992" y="3136392"/>
            <a:ext cx="1530366" cy="109728"/>
          </a:xfrm>
          <a:prstGeom prst="rect">
            <a:avLst/>
          </a:prstGeom>
          <a:solidFill>
            <a:srgbClr val="253E72"/>
          </a:solidFill>
          <a:ln w="12700">
            <a:solidFill>
              <a:srgbClr val="253E7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0" y="30723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 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865376" y="3346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364992" y="3410712"/>
            <a:ext cx="2706624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64992" y="3410712"/>
            <a:ext cx="769157" cy="10972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26480" y="3346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36.3 M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865376" y="36210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364992" y="3685032"/>
            <a:ext cx="2706624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64992" y="3685032"/>
            <a:ext cx="733671" cy="10972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26480" y="36210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34.6 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865376" y="38953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364992" y="3959352"/>
            <a:ext cx="2706624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64992" y="3959352"/>
            <a:ext cx="546398" cy="10972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26480" y="38953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 M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865376" y="4169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364992" y="4233672"/>
            <a:ext cx="2706624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364992" y="4233672"/>
            <a:ext cx="532103" cy="10972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26480" y="4169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 M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865376" y="44439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Humaines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364992" y="4507992"/>
            <a:ext cx="2706624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64992" y="4507992"/>
            <a:ext cx="459866" cy="10972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26480" y="44439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 M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865376" y="47183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Generale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364992" y="4782312"/>
            <a:ext cx="2706624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64992" y="4782312"/>
            <a:ext cx="338880" cy="10972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26480" y="47183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 M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865376" y="50474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juin 2024 : 568 593 915 FCFA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419088" y="1920240"/>
            <a:ext cx="2688336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82512" y="1883664"/>
            <a:ext cx="2688336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92240" y="19385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 vs Net — Juin 2024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382512" y="2194560"/>
            <a:ext cx="2688336" cy="25603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92240" y="2194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Departement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7699248" y="21945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 (M)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8357616" y="21945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(M)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6382512" y="2468880"/>
            <a:ext cx="2688336" cy="237744"/>
          </a:xfrm>
          <a:prstGeom prst="rect">
            <a:avLst/>
          </a:prstGeom>
          <a:solidFill>
            <a:srgbClr val="EFF4FB"/>
          </a:solidFill>
          <a:ln w="3810">
            <a:solidFill>
              <a:srgbClr val="D8E2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492240" y="25054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7699248" y="250545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127.6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357616" y="250545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108.5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382512" y="2724912"/>
            <a:ext cx="2688336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2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492240" y="276148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Cl.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699248" y="276148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108.4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8357616" y="276148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382512" y="2980944"/>
            <a:ext cx="2688336" cy="237744"/>
          </a:xfrm>
          <a:prstGeom prst="rect">
            <a:avLst/>
          </a:prstGeom>
          <a:solidFill>
            <a:srgbClr val="EFF4FB"/>
          </a:solidFill>
          <a:ln w="3810">
            <a:solidFill>
              <a:srgbClr val="D8E2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492240" y="301752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7699248" y="30175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8357616" y="30175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6382512" y="3236976"/>
            <a:ext cx="2688336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2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92240" y="327355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7699248" y="327355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8357616" y="327355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493008"/>
            <a:ext cx="2688336" cy="237744"/>
          </a:xfrm>
          <a:prstGeom prst="rect">
            <a:avLst/>
          </a:prstGeom>
          <a:solidFill>
            <a:srgbClr val="EFF4FB"/>
          </a:solidFill>
          <a:ln w="3810">
            <a:solidFill>
              <a:srgbClr val="D8E2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492240" y="352958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7699248" y="352958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36.3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8357616" y="352958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6382512" y="3749040"/>
            <a:ext cx="2688336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2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492240" y="37856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7699248" y="37856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34.6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8357616" y="37856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6382512" y="4005072"/>
            <a:ext cx="2688336" cy="237744"/>
          </a:xfrm>
          <a:prstGeom prst="rect">
            <a:avLst/>
          </a:prstGeom>
          <a:solidFill>
            <a:srgbClr val="EFF4FB"/>
          </a:solidFill>
          <a:ln w="3810">
            <a:solidFill>
              <a:srgbClr val="D8E2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492240" y="404164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7699248" y="404164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8357616" y="404164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261104"/>
            <a:ext cx="2688336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2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492240" y="429768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7699248" y="42976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8357616" y="42976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382512" y="4517136"/>
            <a:ext cx="2688336" cy="237744"/>
          </a:xfrm>
          <a:prstGeom prst="rect">
            <a:avLst/>
          </a:prstGeom>
          <a:solidFill>
            <a:srgbClr val="EFF4FB"/>
          </a:solidFill>
          <a:ln w="3810">
            <a:solidFill>
              <a:srgbClr val="D8E2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492240" y="455371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7699248" y="45537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8357616" y="45537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6382512" y="4773168"/>
            <a:ext cx="2688336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8E2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492240" y="480974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7699248" y="48097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8357616" y="48097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" y="224942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" y="224942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736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— Jun 2024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10972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&amp; Departs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10972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departs sur la periode  ·  Cout estime 313 M FCFA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73936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3664" y="95097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883664" y="133502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TURNOVER GLOBAL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83664" y="14813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departs / 506 employes propres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06240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9664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9664" y="859536"/>
            <a:ext cx="54864" cy="89611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95097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M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315968" y="133502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TURNOVER (FCFA)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15968" y="14813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 sal. moy. x 60 departs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565392" y="896112"/>
            <a:ext cx="2505456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859536"/>
            <a:ext cx="250545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8816" y="859536"/>
            <a:ext cx="54864" cy="89611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9509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869 250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675120" y="1335024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SAL. NET MOY. (FCFA)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0" y="148132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calcul cout turnover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773936" y="1920240"/>
            <a:ext cx="4206240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0" y="1883664"/>
            <a:ext cx="420624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65376" y="193852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turnover par departement — toute periode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15284" y="2194560"/>
            <a:ext cx="0" cy="274320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4462272" y="21762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15%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865376" y="223113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017520" y="2295144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17520" y="2295144"/>
            <a:ext cx="2059534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24144" y="223113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865376" y="250545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017520" y="2569464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17520" y="2569464"/>
            <a:ext cx="1414272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24144" y="250545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865376" y="277977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017520" y="2843784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17520" y="2843784"/>
            <a:ext cx="1113739" cy="109728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24144" y="277977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865376" y="305409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017520" y="3118104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17520" y="3118104"/>
            <a:ext cx="1043026" cy="109728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24144" y="305409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865376" y="332841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017520" y="3392424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17520" y="3392424"/>
            <a:ext cx="1007669" cy="109728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24144" y="332841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865376" y="360273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Client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017520" y="3666744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17520" y="3666744"/>
            <a:ext cx="954634" cy="109728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24144" y="360273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865376" y="387705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017520" y="3941064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17520" y="3941064"/>
            <a:ext cx="786689" cy="109728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24144" y="387705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865376" y="415137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017520" y="4215384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17520" y="4215384"/>
            <a:ext cx="592226" cy="109728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24144" y="415137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865376" y="442569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017520" y="4489704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017520" y="4489704"/>
            <a:ext cx="441960" cy="109728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24144" y="442569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865376" y="470001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017520" y="4764024"/>
            <a:ext cx="2651760" cy="109728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17520" y="4764024"/>
            <a:ext cx="0" cy="109728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724144" y="470001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053328" y="1920240"/>
            <a:ext cx="3054096" cy="14630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16752" y="1883664"/>
            <a:ext cx="3054096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44768" y="1938528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de depart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144768" y="2286000"/>
            <a:ext cx="182880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44768" y="2286000"/>
            <a:ext cx="1609344" cy="91440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44768" y="22311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CDD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046720" y="22311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144768" y="2505456"/>
            <a:ext cx="182880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44768" y="2505456"/>
            <a:ext cx="1609344" cy="91440"/>
          </a:xfrm>
          <a:prstGeom prst="rect">
            <a:avLst/>
          </a:prstGeom>
          <a:solidFill>
            <a:srgbClr val="253E72"/>
          </a:solidFill>
          <a:ln w="12700">
            <a:solidFill>
              <a:srgbClr val="253E7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44768" y="245059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8046720" y="2450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144768" y="2724912"/>
            <a:ext cx="182880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44768" y="2724912"/>
            <a:ext cx="1463040" cy="9144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144768" y="267004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Demission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8046720" y="2670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6144768" y="2944368"/>
            <a:ext cx="182880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44768" y="2944368"/>
            <a:ext cx="1316736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144768" y="288950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Licenciement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8046720" y="2889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6144768" y="3163824"/>
            <a:ext cx="182880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144768" y="3163824"/>
            <a:ext cx="1316736" cy="9144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144768" y="31089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8046720" y="3108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053328" y="3456432"/>
            <a:ext cx="3054096" cy="168249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16752" y="3419856"/>
            <a:ext cx="3054096" cy="16824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144768" y="34747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turnover estime par dept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6144768" y="3767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7360920" y="3822192"/>
            <a:ext cx="1389888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360920" y="3822192"/>
            <a:ext cx="1389888" cy="91440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787384" y="37673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 M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6144768" y="4023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7360920" y="4078224"/>
            <a:ext cx="1389888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360920" y="4078224"/>
            <a:ext cx="1209974" cy="91440"/>
          </a:xfrm>
          <a:prstGeom prst="rect">
            <a:avLst/>
          </a:prstGeom>
          <a:solidFill>
            <a:srgbClr val="253E72"/>
          </a:solidFill>
          <a:ln w="12700">
            <a:solidFill>
              <a:srgbClr val="253E72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787384" y="402336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5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 M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6144768" y="4279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Cl.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7360920" y="4334256"/>
            <a:ext cx="1389888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360920" y="4334256"/>
            <a:ext cx="1079486" cy="91440"/>
          </a:xfrm>
          <a:prstGeom prst="rect">
            <a:avLst/>
          </a:prstGeom>
          <a:solidFill>
            <a:srgbClr val="253E72"/>
          </a:solidFill>
          <a:ln w="12700">
            <a:solidFill>
              <a:srgbClr val="253E72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787384" y="42793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5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54.6 M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6144768" y="45354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7360920" y="4590288"/>
            <a:ext cx="1389888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360920" y="4590288"/>
            <a:ext cx="844214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787384" y="45354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 M</a:t>
            </a:r>
            <a:endParaRPr lang="en-US" sz="850" dirty="0"/>
          </a:p>
        </p:txBody>
      </p:sp>
      <p:sp>
        <p:nvSpPr>
          <p:cNvPr id="133" name="Text 131"/>
          <p:cNvSpPr/>
          <p:nvPr/>
        </p:nvSpPr>
        <p:spPr>
          <a:xfrm>
            <a:off x="6144768" y="47914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7360920" y="4846320"/>
            <a:ext cx="1389888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360920" y="4846320"/>
            <a:ext cx="571376" cy="9144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787384" y="479145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 M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6144768" y="5047488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313 M FCFA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" y="298094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" y="298094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736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— Jun 2024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10972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 — Heatmap &amp; Analyse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10972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 absences injustifiees  ·  Service Client en alerte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73936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3664" y="95097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883664" y="133502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INJUSTIFIEES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83664" y="14813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total jours d'absence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06240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9664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9664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95097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+65j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315968" y="133502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HAUSSE SERVICE CLIENT 2023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15968" y="14813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119j (2021) → 188j (2023)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565392" y="896112"/>
            <a:ext cx="2505456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859536"/>
            <a:ext cx="250545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8816" y="859536"/>
            <a:ext cx="54864" cy="89611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9509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+39j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675120" y="1335024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HAUSSE MARKETING 2023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0" y="148132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26j (2022) → 65j (2023)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773936" y="1920240"/>
            <a:ext cx="7333488" cy="239572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0" y="1883664"/>
            <a:ext cx="7333488" cy="23957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65376" y="193852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jours d'absence 2023 — departement × mois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3408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7980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552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7124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1696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268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0840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5412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9984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4556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128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3700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755648" y="24140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340864" y="241401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408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798064" y="241401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980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255264" y="241401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552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712464" y="241401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124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169664" y="241401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696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626864" y="241401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268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084064" y="241401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840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5541264" y="241401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5412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998464" y="241401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984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455664" y="241401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556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912864" y="241401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128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370064" y="241401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70064" y="2414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1755648" y="259689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2340864" y="25968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798064" y="25968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55264" y="25968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712464" y="25968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69664" y="25968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626864" y="259689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26864" y="25968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5084064" y="25968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541264" y="25968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998464" y="25968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455664" y="25968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12864" y="259689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12864" y="25968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370064" y="25968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755648" y="277977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2340864" y="27797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340864" y="27797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2798064" y="27797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798064" y="27797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3255264" y="27797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255264" y="27797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3712464" y="277977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169664" y="277977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169664" y="27797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4626864" y="27797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26864" y="27797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5084064" y="27797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084064" y="27797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5541264" y="277977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541264" y="27797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5998464" y="27797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998464" y="27797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6455664" y="277977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455664" y="27797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6912864" y="277977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370064" y="277977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755648" y="29626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2340864" y="296265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340864" y="2962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798064" y="296265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798064" y="2962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3255264" y="296265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712464" y="296265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712464" y="2962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4169664" y="296265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169664" y="2962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626864" y="296265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626864" y="2962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5084064" y="296265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41264" y="296265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541264" y="2962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5998464" y="296265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455664" y="296265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455664" y="2962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6912864" y="296265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912864" y="2962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7370064" y="296265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370064" y="29626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1755648" y="31455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2340864" y="314553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98064" y="314553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798064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3255264" y="314553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712464" y="314553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169664" y="314553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626864" y="314553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084064" y="314553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084064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5541264" y="314553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541264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5998464" y="314553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998464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6455664" y="314553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455664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6912864" y="314553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912864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7370064" y="314553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755648" y="33284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2340864" y="332841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798064" y="332841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798064" y="3328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3255264" y="332841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255264" y="3328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3712464" y="332841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169664" y="332841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626864" y="332841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626864" y="3328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5084064" y="332841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084064" y="3328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5541264" y="332841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998464" y="332841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998464" y="3328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6455664" y="332841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6455664" y="3328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6912864" y="332841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6912864" y="3328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7370064" y="332841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755648" y="351129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2340864" y="35112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98064" y="351129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798064" y="35112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3255264" y="35112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712464" y="35112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169664" y="351129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169664" y="35112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4626864" y="35112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5084064" y="35112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541264" y="35112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998464" y="351129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5998464" y="35112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6455664" y="351129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912864" y="351129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6912864" y="35112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7370064" y="351129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370064" y="35112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1755648" y="369417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2340864" y="36941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2340864" y="3694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05" name="Shape 203"/>
          <p:cNvSpPr/>
          <p:nvPr/>
        </p:nvSpPr>
        <p:spPr>
          <a:xfrm>
            <a:off x="2798064" y="369417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255264" y="36941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3255264" y="3694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08" name="Shape 206"/>
          <p:cNvSpPr/>
          <p:nvPr/>
        </p:nvSpPr>
        <p:spPr>
          <a:xfrm>
            <a:off x="3712464" y="36941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3712464" y="3694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10" name="Shape 208"/>
          <p:cNvSpPr/>
          <p:nvPr/>
        </p:nvSpPr>
        <p:spPr>
          <a:xfrm>
            <a:off x="4169664" y="369417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4169664" y="3694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212" name="Shape 210"/>
          <p:cNvSpPr/>
          <p:nvPr/>
        </p:nvSpPr>
        <p:spPr>
          <a:xfrm>
            <a:off x="4626864" y="369417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084064" y="36941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5084064" y="3694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215" name="Shape 213"/>
          <p:cNvSpPr/>
          <p:nvPr/>
        </p:nvSpPr>
        <p:spPr>
          <a:xfrm>
            <a:off x="5541264" y="36941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5541264" y="3694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5998464" y="3694176"/>
            <a:ext cx="438912" cy="164592"/>
          </a:xfrm>
          <a:prstGeom prst="rect">
            <a:avLst/>
          </a:prstGeom>
          <a:solidFill>
            <a:srgbClr val="F7F9FC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455664" y="36941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6455664" y="3694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220" name="Shape 218"/>
          <p:cNvSpPr/>
          <p:nvPr/>
        </p:nvSpPr>
        <p:spPr>
          <a:xfrm>
            <a:off x="6912864" y="369417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6912864" y="3694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222" name="Shape 220"/>
          <p:cNvSpPr/>
          <p:nvPr/>
        </p:nvSpPr>
        <p:spPr>
          <a:xfrm>
            <a:off x="7370064" y="369417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7370064" y="36941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24" name="Text 222"/>
          <p:cNvSpPr/>
          <p:nvPr/>
        </p:nvSpPr>
        <p:spPr>
          <a:xfrm>
            <a:off x="1755648" y="38770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Cl.</a:t>
            </a:r>
            <a:endParaRPr lang="en-US" sz="700" dirty="0"/>
          </a:p>
        </p:txBody>
      </p:sp>
      <p:sp>
        <p:nvSpPr>
          <p:cNvPr id="225" name="Shape 223"/>
          <p:cNvSpPr/>
          <p:nvPr/>
        </p:nvSpPr>
        <p:spPr>
          <a:xfrm>
            <a:off x="2340864" y="387705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23408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27" name="Shape 225"/>
          <p:cNvSpPr/>
          <p:nvPr/>
        </p:nvSpPr>
        <p:spPr>
          <a:xfrm>
            <a:off x="2798064" y="387705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27980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229" name="Shape 227"/>
          <p:cNvSpPr/>
          <p:nvPr/>
        </p:nvSpPr>
        <p:spPr>
          <a:xfrm>
            <a:off x="3255264" y="387705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32552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31" name="Shape 229"/>
          <p:cNvSpPr/>
          <p:nvPr/>
        </p:nvSpPr>
        <p:spPr>
          <a:xfrm>
            <a:off x="3712464" y="387705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37124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233" name="Shape 231"/>
          <p:cNvSpPr/>
          <p:nvPr/>
        </p:nvSpPr>
        <p:spPr>
          <a:xfrm>
            <a:off x="4169664" y="387705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41696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235" name="Shape 233"/>
          <p:cNvSpPr/>
          <p:nvPr/>
        </p:nvSpPr>
        <p:spPr>
          <a:xfrm>
            <a:off x="4626864" y="387705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46268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237" name="Shape 235"/>
          <p:cNvSpPr/>
          <p:nvPr/>
        </p:nvSpPr>
        <p:spPr>
          <a:xfrm>
            <a:off x="5084064" y="387705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50840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239" name="Shape 237"/>
          <p:cNvSpPr/>
          <p:nvPr/>
        </p:nvSpPr>
        <p:spPr>
          <a:xfrm>
            <a:off x="5541264" y="387705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55412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241" name="Shape 239"/>
          <p:cNvSpPr/>
          <p:nvPr/>
        </p:nvSpPr>
        <p:spPr>
          <a:xfrm>
            <a:off x="5998464" y="3877056"/>
            <a:ext cx="438912" cy="164592"/>
          </a:xfrm>
          <a:prstGeom prst="rect">
            <a:avLst/>
          </a:prstGeom>
          <a:solidFill>
            <a:srgbClr val="C0392B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59984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700" dirty="0"/>
          </a:p>
        </p:txBody>
      </p:sp>
      <p:sp>
        <p:nvSpPr>
          <p:cNvPr id="243" name="Shape 241"/>
          <p:cNvSpPr/>
          <p:nvPr/>
        </p:nvSpPr>
        <p:spPr>
          <a:xfrm>
            <a:off x="6455664" y="3877056"/>
            <a:ext cx="438912" cy="164592"/>
          </a:xfrm>
          <a:prstGeom prst="rect">
            <a:avLst/>
          </a:prstGeom>
          <a:solidFill>
            <a:srgbClr val="C0392B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64556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700" dirty="0"/>
          </a:p>
        </p:txBody>
      </p:sp>
      <p:sp>
        <p:nvSpPr>
          <p:cNvPr id="245" name="Shape 243"/>
          <p:cNvSpPr/>
          <p:nvPr/>
        </p:nvSpPr>
        <p:spPr>
          <a:xfrm>
            <a:off x="6912864" y="387705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69128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247" name="Shape 245"/>
          <p:cNvSpPr/>
          <p:nvPr/>
        </p:nvSpPr>
        <p:spPr>
          <a:xfrm>
            <a:off x="7370064" y="387705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7370064" y="38770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249" name="Text 247"/>
          <p:cNvSpPr/>
          <p:nvPr/>
        </p:nvSpPr>
        <p:spPr>
          <a:xfrm>
            <a:off x="1755648" y="40599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700" dirty="0"/>
          </a:p>
        </p:txBody>
      </p:sp>
      <p:sp>
        <p:nvSpPr>
          <p:cNvPr id="250" name="Shape 248"/>
          <p:cNvSpPr/>
          <p:nvPr/>
        </p:nvSpPr>
        <p:spPr>
          <a:xfrm>
            <a:off x="2340864" y="405993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23408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252" name="Shape 250"/>
          <p:cNvSpPr/>
          <p:nvPr/>
        </p:nvSpPr>
        <p:spPr>
          <a:xfrm>
            <a:off x="2798064" y="405993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27980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54" name="Shape 252"/>
          <p:cNvSpPr/>
          <p:nvPr/>
        </p:nvSpPr>
        <p:spPr>
          <a:xfrm>
            <a:off x="3255264" y="405993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2552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256" name="Shape 254"/>
          <p:cNvSpPr/>
          <p:nvPr/>
        </p:nvSpPr>
        <p:spPr>
          <a:xfrm>
            <a:off x="3712464" y="405993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37124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258" name="Shape 256"/>
          <p:cNvSpPr/>
          <p:nvPr/>
        </p:nvSpPr>
        <p:spPr>
          <a:xfrm>
            <a:off x="4169664" y="405993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1696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260" name="Shape 258"/>
          <p:cNvSpPr/>
          <p:nvPr/>
        </p:nvSpPr>
        <p:spPr>
          <a:xfrm>
            <a:off x="4626864" y="405993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46268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262" name="Shape 260"/>
          <p:cNvSpPr/>
          <p:nvPr/>
        </p:nvSpPr>
        <p:spPr>
          <a:xfrm>
            <a:off x="5084064" y="405993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50840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264" name="Shape 262"/>
          <p:cNvSpPr/>
          <p:nvPr/>
        </p:nvSpPr>
        <p:spPr>
          <a:xfrm>
            <a:off x="5541264" y="4059936"/>
            <a:ext cx="438912" cy="164592"/>
          </a:xfrm>
          <a:prstGeom prst="rect">
            <a:avLst/>
          </a:prstGeom>
          <a:solidFill>
            <a:srgbClr val="C0392B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55412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700" dirty="0"/>
          </a:p>
        </p:txBody>
      </p:sp>
      <p:sp>
        <p:nvSpPr>
          <p:cNvPr id="266" name="Shape 264"/>
          <p:cNvSpPr/>
          <p:nvPr/>
        </p:nvSpPr>
        <p:spPr>
          <a:xfrm>
            <a:off x="5998464" y="4059936"/>
            <a:ext cx="438912" cy="164592"/>
          </a:xfrm>
          <a:prstGeom prst="rect">
            <a:avLst/>
          </a:prstGeom>
          <a:solidFill>
            <a:srgbClr val="F0A83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9984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268" name="Shape 266"/>
          <p:cNvSpPr/>
          <p:nvPr/>
        </p:nvSpPr>
        <p:spPr>
          <a:xfrm>
            <a:off x="6455664" y="405993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64556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270" name="Shape 268"/>
          <p:cNvSpPr/>
          <p:nvPr/>
        </p:nvSpPr>
        <p:spPr>
          <a:xfrm>
            <a:off x="6912864" y="4059936"/>
            <a:ext cx="438912" cy="164592"/>
          </a:xfrm>
          <a:prstGeom prst="rect">
            <a:avLst/>
          </a:prstGeom>
          <a:solidFill>
            <a:srgbClr val="EBF0FA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69128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272" name="Shape 270"/>
          <p:cNvSpPr/>
          <p:nvPr/>
        </p:nvSpPr>
        <p:spPr>
          <a:xfrm>
            <a:off x="7370064" y="4059936"/>
            <a:ext cx="438912" cy="164592"/>
          </a:xfrm>
          <a:prstGeom prst="rect">
            <a:avLst/>
          </a:prstGeom>
          <a:solidFill>
            <a:srgbClr val="E08A00"/>
          </a:solidFill>
          <a:ln w="3810">
            <a:solidFill>
              <a:srgbClr val="F7F9FC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7370064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00" dirty="0"/>
          </a:p>
        </p:txBody>
      </p:sp>
      <p:sp>
        <p:nvSpPr>
          <p:cNvPr id="274" name="Shape 272"/>
          <p:cNvSpPr/>
          <p:nvPr/>
        </p:nvSpPr>
        <p:spPr>
          <a:xfrm>
            <a:off x="1755648" y="4315968"/>
            <a:ext cx="292608" cy="128016"/>
          </a:xfrm>
          <a:prstGeom prst="rect">
            <a:avLst/>
          </a:prstGeom>
          <a:solidFill>
            <a:srgbClr val="F7F9FC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2084832" y="42976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50" dirty="0"/>
          </a:p>
        </p:txBody>
      </p:sp>
      <p:sp>
        <p:nvSpPr>
          <p:cNvPr id="276" name="Shape 274"/>
          <p:cNvSpPr/>
          <p:nvPr/>
        </p:nvSpPr>
        <p:spPr>
          <a:xfrm>
            <a:off x="2852928" y="4315968"/>
            <a:ext cx="292608" cy="128016"/>
          </a:xfrm>
          <a:prstGeom prst="rect">
            <a:avLst/>
          </a:prstGeom>
          <a:solidFill>
            <a:srgbClr val="EBF0FA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3182112" y="42976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1-7</a:t>
            </a:r>
            <a:endParaRPr lang="en-US" sz="750" dirty="0"/>
          </a:p>
        </p:txBody>
      </p:sp>
      <p:sp>
        <p:nvSpPr>
          <p:cNvPr id="278" name="Shape 276"/>
          <p:cNvSpPr/>
          <p:nvPr/>
        </p:nvSpPr>
        <p:spPr>
          <a:xfrm>
            <a:off x="3950208" y="4315968"/>
            <a:ext cx="292608" cy="128016"/>
          </a:xfrm>
          <a:prstGeom prst="rect">
            <a:avLst/>
          </a:prstGeom>
          <a:solidFill>
            <a:srgbClr val="F0A83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4279392" y="42976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8-14</a:t>
            </a:r>
            <a:endParaRPr lang="en-US" sz="750" dirty="0"/>
          </a:p>
        </p:txBody>
      </p:sp>
      <p:sp>
        <p:nvSpPr>
          <p:cNvPr id="280" name="Shape 278"/>
          <p:cNvSpPr/>
          <p:nvPr/>
        </p:nvSpPr>
        <p:spPr>
          <a:xfrm>
            <a:off x="5047488" y="4315968"/>
            <a:ext cx="292608" cy="128016"/>
          </a:xfrm>
          <a:prstGeom prst="rect">
            <a:avLst/>
          </a:prstGeom>
          <a:solidFill>
            <a:srgbClr val="E08A0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5376672" y="42976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15-24</a:t>
            </a:r>
            <a:endParaRPr lang="en-US" sz="750" dirty="0"/>
          </a:p>
        </p:txBody>
      </p:sp>
      <p:sp>
        <p:nvSpPr>
          <p:cNvPr id="282" name="Shape 280"/>
          <p:cNvSpPr/>
          <p:nvPr/>
        </p:nvSpPr>
        <p:spPr>
          <a:xfrm>
            <a:off x="6144768" y="4315968"/>
            <a:ext cx="292608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6473952" y="42976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≥25</a:t>
            </a:r>
            <a:endParaRPr lang="en-US" sz="750" dirty="0"/>
          </a:p>
        </p:txBody>
      </p:sp>
      <p:sp>
        <p:nvSpPr>
          <p:cNvPr id="284" name="Shape 282"/>
          <p:cNvSpPr/>
          <p:nvPr/>
        </p:nvSpPr>
        <p:spPr>
          <a:xfrm>
            <a:off x="1773936" y="4517136"/>
            <a:ext cx="7333488" cy="58521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737360" y="4480560"/>
            <a:ext cx="7333488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1865376" y="45171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absences injustifiees par departement — ligne de reference 15% :</a:t>
            </a:r>
            <a:endParaRPr lang="en-US" sz="900" dirty="0"/>
          </a:p>
        </p:txBody>
      </p:sp>
      <p:sp>
        <p:nvSpPr>
          <p:cNvPr id="287" name="Text 285"/>
          <p:cNvSpPr/>
          <p:nvPr/>
        </p:nvSpPr>
        <p:spPr>
          <a:xfrm>
            <a:off x="1865376" y="47000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750" dirty="0"/>
          </a:p>
        </p:txBody>
      </p:sp>
      <p:sp>
        <p:nvSpPr>
          <p:cNvPr id="288" name="Shape 286"/>
          <p:cNvSpPr/>
          <p:nvPr/>
        </p:nvSpPr>
        <p:spPr>
          <a:xfrm>
            <a:off x="1901952" y="4626864"/>
            <a:ext cx="621792" cy="73152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901952" y="4626864"/>
            <a:ext cx="58863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2596896" y="47000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750" dirty="0"/>
          </a:p>
        </p:txBody>
      </p:sp>
      <p:sp>
        <p:nvSpPr>
          <p:cNvPr id="291" name="Shape 289"/>
          <p:cNvSpPr/>
          <p:nvPr/>
        </p:nvSpPr>
        <p:spPr>
          <a:xfrm>
            <a:off x="2633472" y="4626864"/>
            <a:ext cx="621792" cy="73152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2633472" y="4626864"/>
            <a:ext cx="497434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3328416" y="47000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750" dirty="0"/>
          </a:p>
        </p:txBody>
      </p:sp>
      <p:sp>
        <p:nvSpPr>
          <p:cNvPr id="294" name="Shape 292"/>
          <p:cNvSpPr/>
          <p:nvPr/>
        </p:nvSpPr>
        <p:spPr>
          <a:xfrm>
            <a:off x="3364992" y="4626864"/>
            <a:ext cx="621792" cy="73152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3364992" y="4626864"/>
            <a:ext cx="445618" cy="7315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4059936" y="47000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750" dirty="0"/>
          </a:p>
        </p:txBody>
      </p:sp>
      <p:sp>
        <p:nvSpPr>
          <p:cNvPr id="297" name="Shape 295"/>
          <p:cNvSpPr/>
          <p:nvPr/>
        </p:nvSpPr>
        <p:spPr>
          <a:xfrm>
            <a:off x="4096512" y="4626864"/>
            <a:ext cx="621792" cy="73152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4096512" y="4626864"/>
            <a:ext cx="356494" cy="7315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4791456" y="47000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750" dirty="0"/>
          </a:p>
        </p:txBody>
      </p:sp>
      <p:sp>
        <p:nvSpPr>
          <p:cNvPr id="300" name="Shape 298"/>
          <p:cNvSpPr/>
          <p:nvPr/>
        </p:nvSpPr>
        <p:spPr>
          <a:xfrm>
            <a:off x="4828032" y="4626864"/>
            <a:ext cx="621792" cy="73152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4828032" y="4626864"/>
            <a:ext cx="331622" cy="7315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5522976" y="47000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750" dirty="0"/>
          </a:p>
        </p:txBody>
      </p:sp>
      <p:sp>
        <p:nvSpPr>
          <p:cNvPr id="303" name="Shape 301"/>
          <p:cNvSpPr/>
          <p:nvPr/>
        </p:nvSpPr>
        <p:spPr>
          <a:xfrm>
            <a:off x="5559552" y="4626864"/>
            <a:ext cx="621792" cy="73152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559552" y="4626864"/>
            <a:ext cx="306751" cy="7315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6254496" y="47000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750" dirty="0"/>
          </a:p>
        </p:txBody>
      </p:sp>
      <p:sp>
        <p:nvSpPr>
          <p:cNvPr id="306" name="Shape 304"/>
          <p:cNvSpPr/>
          <p:nvPr/>
        </p:nvSpPr>
        <p:spPr>
          <a:xfrm>
            <a:off x="6291072" y="4626864"/>
            <a:ext cx="621792" cy="73152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6291072" y="4626864"/>
            <a:ext cx="279806" cy="7315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6986016" y="47000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750" dirty="0"/>
          </a:p>
        </p:txBody>
      </p:sp>
      <p:sp>
        <p:nvSpPr>
          <p:cNvPr id="309" name="Shape 307"/>
          <p:cNvSpPr/>
          <p:nvPr/>
        </p:nvSpPr>
        <p:spPr>
          <a:xfrm>
            <a:off x="7022592" y="4626864"/>
            <a:ext cx="621792" cy="73152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7022592" y="4626864"/>
            <a:ext cx="257007" cy="7315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7717536" y="47000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</a:t>
            </a:r>
            <a:endParaRPr lang="en-US" sz="750" dirty="0"/>
          </a:p>
        </p:txBody>
      </p:sp>
      <p:sp>
        <p:nvSpPr>
          <p:cNvPr id="312" name="Shape 310"/>
          <p:cNvSpPr/>
          <p:nvPr/>
        </p:nvSpPr>
        <p:spPr>
          <a:xfrm>
            <a:off x="7754112" y="4626864"/>
            <a:ext cx="621792" cy="73152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7754112" y="4626864"/>
            <a:ext cx="227990" cy="7315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8449056" y="47000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750" dirty="0"/>
          </a:p>
        </p:txBody>
      </p:sp>
      <p:sp>
        <p:nvSpPr>
          <p:cNvPr id="315" name="Shape 313"/>
          <p:cNvSpPr/>
          <p:nvPr/>
        </p:nvSpPr>
        <p:spPr>
          <a:xfrm>
            <a:off x="8485632" y="4626864"/>
            <a:ext cx="621792" cy="73152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4059936" y="4608576"/>
            <a:ext cx="0" cy="128016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" y="371246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" y="371246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736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— Jun 2024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10972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Recrutement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10972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perf x salaire  ·  Canal optimal  ·  Alertes RH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73936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3664" y="95097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883664" y="133502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 SOUS-PAYES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83664" y="14813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depart eleve — 440 evalues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06240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9664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9664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95097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315968" y="133502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CRITIQUE Q1+NOTE≥4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15968" y="14813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Sal. moy. 622 403 FCFA — note 4.21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565392" y="896112"/>
            <a:ext cx="2505456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859536"/>
            <a:ext cx="250545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8816" y="859536"/>
            <a:ext cx="54864" cy="89611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950976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3.83/5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675120" y="1335024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PERF. MEDIANE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0" y="148132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Mediane sal. net : 914 943 FCFA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773936" y="1920240"/>
            <a:ext cx="4663440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0" y="1883664"/>
            <a:ext cx="466344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65376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: Note performance × Salaire net — 440 employes evalues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993392" y="4846320"/>
            <a:ext cx="4206240" cy="0"/>
          </a:xfrm>
          <a:prstGeom prst="line">
            <a:avLst/>
          </a:prstGeom>
          <a:noFill/>
          <a:ln w="6350">
            <a:solidFill>
              <a:srgbClr val="D8E2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93392" y="2231136"/>
            <a:ext cx="0" cy="2615184"/>
          </a:xfrm>
          <a:prstGeom prst="line">
            <a:avLst/>
          </a:prstGeom>
          <a:noFill/>
          <a:ln w="6350">
            <a:solidFill>
              <a:srgbClr val="D8E2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96512" y="2231136"/>
            <a:ext cx="0" cy="2615184"/>
          </a:xfrm>
          <a:prstGeom prst="line">
            <a:avLst/>
          </a:prstGeom>
          <a:noFill/>
          <a:ln w="10160">
            <a:solidFill>
              <a:srgbClr val="6B7A9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1993392" y="3538728"/>
            <a:ext cx="4206240" cy="0"/>
          </a:xfrm>
          <a:prstGeom prst="line">
            <a:avLst/>
          </a:prstGeom>
          <a:noFill/>
          <a:ln w="10160">
            <a:solidFill>
              <a:srgbClr val="6B7A99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4133088" y="22311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 sal.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914 943 F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011680" y="3255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3.83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029968" y="22677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Sous-Payes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029968" y="2578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169664" y="22677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Payes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169664" y="2578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2029968" y="4114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Accompa-gner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029968" y="44622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169664" y="4114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Perf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Payes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169664" y="44622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993392" y="48646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net →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755648" y="32918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Note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510528" y="1920240"/>
            <a:ext cx="2596896" cy="155448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73952" y="1883664"/>
            <a:ext cx="259689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0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par embauche par canal (FCFA)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583680" y="224942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699248" y="2304288"/>
            <a:ext cx="100584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99248" y="2304288"/>
            <a:ext cx="316430" cy="91440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741664" y="22494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1714k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583680" y="24688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Referencement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699248" y="2523744"/>
            <a:ext cx="100584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699248" y="2523744"/>
            <a:ext cx="252352" cy="91440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41664" y="2468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1873k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583680" y="2688336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699248" y="2743200"/>
            <a:ext cx="100584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699248" y="2743200"/>
            <a:ext cx="122620" cy="9144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741664" y="2688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2195k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583680" y="29077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Cooptation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699248" y="2962656"/>
            <a:ext cx="100584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99248" y="2962656"/>
            <a:ext cx="103470" cy="9144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741664" y="29077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2243k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583680" y="312724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Jobboard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699248" y="3182112"/>
            <a:ext cx="100584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99248" y="3182112"/>
            <a:ext cx="32045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741664" y="3127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2420k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583680" y="336499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moins couteux  ·  taux emb. entre ()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510528" y="3547872"/>
            <a:ext cx="2596896" cy="159105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473952" y="3511296"/>
            <a:ext cx="2596896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8368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2023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6583680" y="38587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 quo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699248" y="3922776"/>
            <a:ext cx="100584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699248" y="3922776"/>
            <a:ext cx="948004" cy="9144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741664" y="385876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37.7%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583680" y="409651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7699248" y="4160520"/>
            <a:ext cx="100584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99248" y="4160520"/>
            <a:ext cx="653796" cy="91440"/>
          </a:xfrm>
          <a:prstGeom prst="rect">
            <a:avLst/>
          </a:prstGeom>
          <a:solidFill>
            <a:srgbClr val="253E72"/>
          </a:solidFill>
          <a:ln w="12700">
            <a:solidFill>
              <a:srgbClr val="253E7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741664" y="409651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6583680" y="433425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7699248" y="4398264"/>
            <a:ext cx="100584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699248" y="4398264"/>
            <a:ext cx="462686" cy="91440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741664" y="433425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6583680" y="45720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7699248" y="4636008"/>
            <a:ext cx="100584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699248" y="4636008"/>
            <a:ext cx="228829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741664" y="457200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6583680" y="480974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7699248" y="4873752"/>
            <a:ext cx="1005840" cy="91440"/>
          </a:xfrm>
          <a:prstGeom prst="rect">
            <a:avLst/>
          </a:prstGeom>
          <a:solidFill>
            <a:srgbClr val="D8E2F0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99248" y="4873752"/>
            <a:ext cx="221285" cy="9144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741664" y="480974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" y="78638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" y="78638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736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— Jun 2024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10972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DAX — 12 mesures  ·  Table _Mesures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10972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 ·  TelcomCI_RH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92224" y="91440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55648" y="87782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5648" y="877824"/>
            <a:ext cx="45720" cy="493776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3664" y="9326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[Effectif Actif]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950976"/>
            <a:ext cx="786384" cy="182880"/>
          </a:xfrm>
          <a:prstGeom prst="rect">
            <a:avLst/>
          </a:prstGeom>
          <a:solidFill>
            <a:srgbClr val="1D3461">
              <a:alpha val="82000"/>
            </a:srgbClr>
          </a:solidFill>
          <a:ln w="12700">
            <a:solidFill>
              <a:srgbClr val="1D3461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9509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883664" y="115214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COUNTROWS statut='Actif'  →  446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522976" y="91440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87782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0" y="877824"/>
            <a:ext cx="45720" cy="493776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9326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[Masse Salariale Brute]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119872" y="950976"/>
            <a:ext cx="786384" cy="182880"/>
          </a:xfrm>
          <a:prstGeom prst="rect">
            <a:avLst/>
          </a:prstGeom>
          <a:solidFill>
            <a:srgbClr val="1D3461">
              <a:alpha val="82000"/>
            </a:srgbClr>
          </a:solidFill>
          <a:ln w="12700">
            <a:solidFill>
              <a:srgbClr val="1D3461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9509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614416" y="115214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brut+prime  →  568.6 M FCFA (juin 24)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792224" y="146304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55648" y="142646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55648" y="1426464"/>
            <a:ext cx="45720" cy="493776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83664" y="1481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[Salaire Net Moyen]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89120" y="1499616"/>
            <a:ext cx="786384" cy="182880"/>
          </a:xfrm>
          <a:prstGeom prst="rect">
            <a:avLst/>
          </a:prstGeom>
          <a:solidFill>
            <a:srgbClr val="1D3461">
              <a:alpha val="82000"/>
            </a:srgbClr>
          </a:solidFill>
          <a:ln w="12700">
            <a:solidFill>
              <a:srgbClr val="1D3461">
                <a:alpha val="7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0" y="149961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883664" y="170078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salaire_net  →  869 250 FCFA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522976" y="146304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142646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1426464"/>
            <a:ext cx="45720" cy="493776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14416" y="1481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[Taux Turnover]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19872" y="1499616"/>
            <a:ext cx="786384" cy="182880"/>
          </a:xfrm>
          <a:prstGeom prst="rect">
            <a:avLst/>
          </a:prstGeom>
          <a:solidFill>
            <a:srgbClr val="1D3461">
              <a:alpha val="82000"/>
            </a:srgbClr>
          </a:solidFill>
          <a:ln w="12700">
            <a:solidFill>
              <a:srgbClr val="1D3461">
                <a:alpha val="7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19872" y="149961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614416" y="170078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departs/total  →  11.9%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792224" y="201168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55648" y="197510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55648" y="1975104"/>
            <a:ext cx="45720" cy="493776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83664" y="20299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[Note Performance Moyenne]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89120" y="2048256"/>
            <a:ext cx="786384" cy="182880"/>
          </a:xfrm>
          <a:prstGeom prst="rect">
            <a:avLst/>
          </a:prstGeom>
          <a:solidFill>
            <a:srgbClr val="1D3461">
              <a:alpha val="82000"/>
            </a:srgbClr>
          </a:solidFill>
          <a:ln w="12700">
            <a:solidFill>
              <a:srgbClr val="1D3461">
                <a:alpha val="7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0" y="20482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883664" y="224942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note_globale  →  3.83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522976" y="201168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0" y="197510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0" y="1975104"/>
            <a:ext cx="45720" cy="493776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14416" y="20299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[Taux Absenteisme]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119872" y="2048256"/>
            <a:ext cx="786384" cy="182880"/>
          </a:xfrm>
          <a:prstGeom prst="rect">
            <a:avLst/>
          </a:prstGeom>
          <a:solidFill>
            <a:srgbClr val="1A9E6B">
              <a:alpha val="82000"/>
            </a:srgbClr>
          </a:solidFill>
          <a:ln w="12700">
            <a:solidFill>
              <a:srgbClr val="1A9E6B">
                <a:alpha val="7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19872" y="20482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614416" y="224942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abs / (eff x jours ouvrables)  →  ~0.60%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792224" y="256032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755648" y="252374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55648" y="2523744"/>
            <a:ext cx="45720" cy="493776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83664" y="25786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[Taux Absences Injustifiees]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389120" y="2596896"/>
            <a:ext cx="786384" cy="182880"/>
          </a:xfrm>
          <a:prstGeom prst="rect">
            <a:avLst/>
          </a:prstGeom>
          <a:solidFill>
            <a:srgbClr val="1A9E6B">
              <a:alpha val="82000"/>
            </a:srgbClr>
          </a:solidFill>
          <a:ln w="12700">
            <a:solidFill>
              <a:srgbClr val="1A9E6B">
                <a:alpha val="7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259689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883664" y="279806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injust/total  →  17.5%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522976" y="256032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6400" y="252374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86400" y="2523744"/>
            <a:ext cx="45720" cy="493776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14416" y="25786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[Cout Recrutement Moyen]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119872" y="2596896"/>
            <a:ext cx="786384" cy="182880"/>
          </a:xfrm>
          <a:prstGeom prst="rect">
            <a:avLst/>
          </a:prstGeom>
          <a:solidFill>
            <a:srgbClr val="1A9E6B">
              <a:alpha val="82000"/>
            </a:srgbClr>
          </a:solidFill>
          <a:ln w="12700">
            <a:solidFill>
              <a:srgbClr val="1A9E6B">
                <a:alpha val="7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119872" y="259689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614416" y="279806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cout_recrutement  →  1 365 663 FCFA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792224" y="310896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55648" y="307238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55648" y="3072384"/>
            <a:ext cx="45720" cy="493776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883664" y="31272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[Cout Turnover Estime]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389120" y="3145536"/>
            <a:ext cx="786384" cy="182880"/>
          </a:xfrm>
          <a:prstGeom prst="rect">
            <a:avLst/>
          </a:prstGeom>
          <a:solidFill>
            <a:srgbClr val="1A9E6B">
              <a:alpha val="82000"/>
            </a:srgbClr>
          </a:solidFill>
          <a:ln w="12700">
            <a:solidFill>
              <a:srgbClr val="1A9E6B">
                <a:alpha val="7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14553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1883664" y="334670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departs x sal_net_moy x 6  →  313 M FCFA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522976" y="310896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486400" y="307238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486400" y="3072384"/>
            <a:ext cx="45720" cy="493776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614416" y="31272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[Masse Sal. Mois Prec]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8119872" y="3145536"/>
            <a:ext cx="786384" cy="182880"/>
          </a:xfrm>
          <a:prstGeom prst="rect">
            <a:avLst/>
          </a:prstGeom>
          <a:solidFill>
            <a:srgbClr val="E08A00">
              <a:alpha val="82000"/>
            </a:srgbClr>
          </a:solidFill>
          <a:ln w="12700">
            <a:solidFill>
              <a:srgbClr val="E08A00">
                <a:alpha val="70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19872" y="314553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5614416" y="334670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PREVIOUSMONTH  →  requiert table Calendrier marquee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792224" y="365760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755648" y="362102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55648" y="3621024"/>
            <a:ext cx="45720" cy="493776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883664" y="36758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[Variation Masse Salariale]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4389120" y="3694176"/>
            <a:ext cx="786384" cy="182880"/>
          </a:xfrm>
          <a:prstGeom prst="rect">
            <a:avLst/>
          </a:prstGeom>
          <a:solidFill>
            <a:srgbClr val="E08A00">
              <a:alpha val="82000"/>
            </a:srgbClr>
          </a:solidFill>
          <a:ln w="12700">
            <a:solidFill>
              <a:srgbClr val="E08A00">
                <a:alpha val="70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89120" y="36941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1883664" y="389534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actuel-prec/prec  →  +22.8% juin/mai 24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5522976" y="3657600"/>
            <a:ext cx="3547872" cy="49377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486400" y="3621024"/>
            <a:ext cx="35478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86400" y="3621024"/>
            <a:ext cx="45720" cy="493776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614416" y="36758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[Quadrant Performance]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8119872" y="3694176"/>
            <a:ext cx="786384" cy="182880"/>
          </a:xfrm>
          <a:prstGeom prst="rect">
            <a:avLst/>
          </a:prstGeom>
          <a:solidFill>
            <a:srgbClr val="1A9E6B">
              <a:alpha val="82000"/>
            </a:srgbClr>
          </a:solidFill>
          <a:ln w="12700">
            <a:solidFill>
              <a:srgbClr val="1A9E6B">
                <a:alpha val="70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119872" y="369417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5614416" y="389534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mediane note 3.83 / sal 914 943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1755648" y="4809744"/>
            <a:ext cx="7315200" cy="219456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883664" y="4873752"/>
            <a:ext cx="420624" cy="91440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359152" y="48554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346704" y="4873752"/>
            <a:ext cx="420624" cy="91440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822192" y="48554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4809744" y="4873752"/>
            <a:ext cx="420624" cy="9144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285232" y="48554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6035040" y="48554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validees contre SQL Server — NB3 Etape 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1154</Words>
  <Application>Microsoft Office PowerPoint</Application>
  <PresentationFormat>Affichage à l'écran (16:9)</PresentationFormat>
  <Paragraphs>505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TelcomCI RH Analytics — Dashboard Power BI Mockup</dc:title>
  <dc:subject>PptxGenJS Presentation</dc:subject>
  <dc:creator>PptxGenJS</dc:creator>
  <cp:lastModifiedBy>fab</cp:lastModifiedBy>
  <cp:revision>2</cp:revision>
  <dcterms:created xsi:type="dcterms:W3CDTF">2026-04-15T00:51:28Z</dcterms:created>
  <dcterms:modified xsi:type="dcterms:W3CDTF">2026-04-15T01:38:51Z</dcterms:modified>
</cp:coreProperties>
</file>