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Aou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</c:v>
                </c:pt>
                <c:pt idx="1">
                  <c:v>46</c:v>
                </c:pt>
                <c:pt idx="2">
                  <c:v>48</c:v>
                </c:pt>
                <c:pt idx="3">
                  <c:v>47</c:v>
                </c:pt>
                <c:pt idx="4">
                  <c:v>49</c:v>
                </c:pt>
                <c:pt idx="5">
                  <c:v>47</c:v>
                </c:pt>
                <c:pt idx="6">
                  <c:v>48</c:v>
                </c:pt>
                <c:pt idx="7">
                  <c:v>50</c:v>
                </c:pt>
                <c:pt idx="8">
                  <c:v>47</c:v>
                </c:pt>
                <c:pt idx="9">
                  <c:v>46</c:v>
                </c:pt>
                <c:pt idx="10">
                  <c:v>47</c:v>
                </c:pt>
                <c:pt idx="11">
                  <c:v>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Resolu 52,8%</c:v>
                </c:pt>
                <c:pt idx="1">
                  <c:v>Escalade 21,7%</c:v>
                </c:pt>
                <c:pt idx="2">
                  <c:v>En cours 15,0%</c:v>
                </c:pt>
                <c:pt idx="3">
                  <c:v>Backlog 7,4%</c:v>
                </c:pt>
                <c:pt idx="4">
                  <c:v>Ferme 3,1%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52.78</c:v>
                </c:pt>
                <c:pt idx="1">
                  <c:v>21.74</c:v>
                </c:pt>
                <c:pt idx="2">
                  <c:v>15</c:v>
                </c:pt>
                <c:pt idx="3">
                  <c:v>7.37</c:v>
                </c:pt>
                <c:pt idx="4">
                  <c:v>3.11</c:v>
                </c:pt>
              </c:numCache>
            </c:numRef>
          </c:val>
        </c:ser>
        <c:firstSliceAng val="0"/>
        <c:holeSize val="6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Demande info</c:v>
                  </c:pt>
                  <c:pt idx="1">
                    <c:v>Facturation</c:v>
                  </c:pt>
                  <c:pt idx="2">
                    <c:v>Remboursement</c:v>
                  </c:pt>
                  <c:pt idx="3">
                    <c:v>Livraison retardee</c:v>
                  </c:pt>
                  <c:pt idx="4">
                    <c:v>Qualite produit</c:v>
                  </c:pt>
                  <c:pt idx="5">
                    <c:v>Panne technique</c:v>
                  </c:pt>
                  <c:pt idx="6">
                    <c:v>Probleme paiement</c:v>
                  </c:pt>
                  <c:pt idx="7">
                    <c:v>Fraude signalee</c:v>
                  </c:pt>
                  <c:pt idx="8">
                    <c:v>Escalade juridique</c:v>
                  </c:pt>
                  <c:pt idx="9">
                    <c:v>Acces compte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68.6</c:v>
                </c:pt>
                <c:pt idx="1">
                  <c:v>59.4</c:v>
                </c:pt>
                <c:pt idx="2">
                  <c:v>52.6</c:v>
                </c:pt>
                <c:pt idx="3">
                  <c:v>51.6</c:v>
                </c:pt>
                <c:pt idx="4">
                  <c:v>51.1</c:v>
                </c:pt>
                <c:pt idx="5">
                  <c:v>39.4</c:v>
                </c:pt>
                <c:pt idx="6">
                  <c:v>37.8</c:v>
                </c:pt>
                <c:pt idx="7">
                  <c:v>25.5</c:v>
                </c:pt>
                <c:pt idx="8">
                  <c:v>23.2</c:v>
                </c:pt>
                <c:pt idx="9">
                  <c:v>20.7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5B21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</c:v>
                  </c:pt>
                  <c:pt idx="1">
                    <c:v>Senegal</c:v>
                  </c:pt>
                  <c:pt idx="2">
                    <c:v>France</c:v>
                  </c:pt>
                  <c:pt idx="3">
                    <c:v>Maroc</c:v>
                  </c:pt>
                  <c:pt idx="4">
                    <c:v>Ghana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4000</c:v>
                </c:pt>
                <c:pt idx="1">
                  <c:v>3000</c:v>
                </c:pt>
                <c:pt idx="2">
                  <c:v>2300</c:v>
                </c:pt>
                <c:pt idx="3">
                  <c:v>2100</c:v>
                </c:pt>
                <c:pt idx="4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Demande info</c:v>
                  </c:pt>
                  <c:pt idx="1">
                    <c:v>Facturation</c:v>
                  </c:pt>
                  <c:pt idx="2">
                    <c:v>Remboursement</c:v>
                  </c:pt>
                  <c:pt idx="3">
                    <c:v>Livraison retardee</c:v>
                  </c:pt>
                  <c:pt idx="4">
                    <c:v>Qualite produit</c:v>
                  </c:pt>
                  <c:pt idx="5">
                    <c:v>Panne technique</c:v>
                  </c:pt>
                  <c:pt idx="6">
                    <c:v>Probleme paiement</c:v>
                  </c:pt>
                  <c:pt idx="7">
                    <c:v>Fraude signalee</c:v>
                  </c:pt>
                  <c:pt idx="8">
                    <c:v>Escalade juridique</c:v>
                  </c:pt>
                  <c:pt idx="9">
                    <c:v>Acces compte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68.6</c:v>
                </c:pt>
                <c:pt idx="1">
                  <c:v>59.4</c:v>
                </c:pt>
                <c:pt idx="2">
                  <c:v>52.6</c:v>
                </c:pt>
                <c:pt idx="3">
                  <c:v>51.6</c:v>
                </c:pt>
                <c:pt idx="4">
                  <c:v>51.1</c:v>
                </c:pt>
                <c:pt idx="5">
                  <c:v>39.4</c:v>
                </c:pt>
                <c:pt idx="6">
                  <c:v>37.8</c:v>
                </c:pt>
                <c:pt idx="7">
                  <c:v>25.5</c:v>
                </c:pt>
                <c:pt idx="8">
                  <c:v>23.2</c:v>
                </c:pt>
                <c:pt idx="9">
                  <c:v>20.7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118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Resolu</c:v>
                </c:pt>
                <c:pt idx="1">
                  <c:v>Escalade</c:v>
                </c:pt>
                <c:pt idx="2">
                  <c:v>En cours</c:v>
                </c:pt>
                <c:pt idx="3">
                  <c:v>Backlog</c:v>
                </c:pt>
                <c:pt idx="4">
                  <c:v>Ferme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52.78</c:v>
                </c:pt>
                <c:pt idx="1">
                  <c:v>21.74</c:v>
                </c:pt>
                <c:pt idx="2">
                  <c:v>15</c:v>
                </c:pt>
                <c:pt idx="3">
                  <c:v>7.37</c:v>
                </c:pt>
                <c:pt idx="4">
                  <c:v>3.11</c:v>
                </c:pt>
              </c:numCache>
            </c:numRef>
          </c:val>
        </c:ser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</c:v>
                </c:pt>
              </c:strCache>
            </c:strRef>
          </c:tx>
          <c:spPr>
            <a:solidFill>
              <a:srgbClr val="5B21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Telephone</c:v>
                  </c:pt>
                  <c:pt idx="1">
                    <c:v>Chat</c:v>
                  </c:pt>
                  <c:pt idx="2">
                    <c:v>App mobile</c:v>
                  </c:pt>
                  <c:pt idx="3">
                    <c:v>Web form</c:v>
                  </c:pt>
                  <c:pt idx="4">
                    <c:v>Email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47.9</c:v>
                </c:pt>
                <c:pt idx="2">
                  <c:v>47.4</c:v>
                </c:pt>
                <c:pt idx="3">
                  <c:v>46.6</c:v>
                </c:pt>
                <c:pt idx="4">
                  <c:v>46.2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2</c:v>
                </c:pt>
              </c:strCache>
            </c:strRef>
          </c:tx>
          <c:spPr>
            <a:solidFill>
              <a:srgbClr val="9CA3AF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3.9</c:v>
                </c:pt>
                <c:pt idx="1">
                  <c:v>4.2</c:v>
                </c:pt>
                <c:pt idx="2">
                  <c:v>3.8</c:v>
                </c:pt>
                <c:pt idx="3">
                  <c:v>3.5</c:v>
                </c:pt>
                <c:pt idx="4">
                  <c:v>4</c:v>
                </c:pt>
                <c:pt idx="5">
                  <c:v>3.6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4.7</c:v>
                </c:pt>
                <c:pt idx="1">
                  <c:v>4.5</c:v>
                </c:pt>
                <c:pt idx="2">
                  <c:v>4.3</c:v>
                </c:pt>
                <c:pt idx="3">
                  <c:v>4.4</c:v>
                </c:pt>
                <c:pt idx="4">
                  <c:v/>
                </c:pt>
                <c:pt idx="5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 3</c:v>
                </c:pt>
              </c:strCache>
            </c:strRef>
          </c:tx>
          <c:spPr>
            <a:solidFill>
              <a:srgbClr val="10B981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3.9</c:v>
                </c:pt>
                <c:pt idx="1">
                  <c:v>4.2</c:v>
                </c:pt>
                <c:pt idx="2">
                  <c:v>3.8</c:v>
                </c:pt>
                <c:pt idx="3">
                  <c:v>3.5</c:v>
                </c:pt>
                <c:pt idx="4">
                  <c:v>4</c:v>
                </c:pt>
                <c:pt idx="5">
                  <c:v>3.6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4.8</c:v>
                </c:pt>
                <c:pt idx="1">
                  <c:v>4.6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Taux SLA breach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Arial"/>
                  </a:rPr>
                  <a:t>CSAT moyen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Alertes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ORANGE</c:v>
                  </c:pt>
                  <c:pt idx="1">
                    <c:v>JAUNE</c:v>
                  </c:pt>
                  <c:pt idx="2">
                    <c:v>ROUGE</c:v>
                  </c:pt>
                  <c:pt idx="3">
                    <c:v>VERT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1542</c:v>
                </c:pt>
                <c:pt idx="1">
                  <c:v>931</c:v>
                </c:pt>
                <c:pt idx="2">
                  <c:v>314</c:v>
                </c:pt>
                <c:pt idx="3">
                  <c:v>271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Alertes ROUGE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Moussa Kone</c:v>
                  </c:pt>
                  <c:pt idx="1">
                    <c:v>Ramatou Diaby</c:v>
                  </c:pt>
                  <c:pt idx="2">
                    <c:v>Aissatou Ba</c:v>
                  </c:pt>
                  <c:pt idx="3">
                    <c:v>Kofi Mensah</c:v>
                  </c:pt>
                  <c:pt idx="4">
                    <c:v>Jean-Marc Dubois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</c:v>
                </c:pt>
                <c:pt idx="1">
                  <c:v>52</c:v>
                </c:pt>
                <c:pt idx="2">
                  <c:v>36</c:v>
                </c:pt>
                <c:pt idx="3">
                  <c:v>34</c:v>
                </c:pt>
                <c:pt idx="4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61320" y="29260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2708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31/12/2024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d'ensemble — Support AfriCare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691640"/>
            <a:ext cx="187452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18196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total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205740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15 287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30352" y="256032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+24,9% vs N-1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31720" y="1691640"/>
            <a:ext cx="18745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496312" y="18196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SLA breach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96312" y="205740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496312" y="256032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0,0pp vs N-1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169164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462272" y="18196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62272" y="205740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462272" y="256032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1 126 tickets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1691640"/>
            <a:ext cx="18745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428232" y="18196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 1ere reponse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28232" y="205740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36,8h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428232" y="256032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+0,1h vs N-1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0" y="1691640"/>
            <a:ext cx="1874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394192" y="18196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94192" y="205740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4,12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394192" y="256032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/ 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195560" y="16916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195560" y="1691640"/>
            <a:ext cx="1874520" cy="457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6" name="Text 44"/>
          <p:cNvSpPr/>
          <p:nvPr/>
        </p:nvSpPr>
        <p:spPr>
          <a:xfrm>
            <a:off x="10360152" y="18196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Reouverture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60152" y="205740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7,7%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0360152" y="256032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1 181 tickets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063240"/>
            <a:ext cx="7178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31546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taux SLA breach (%)</a:t>
            </a:r>
            <a:endParaRPr lang="en-US" sz="100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502920" y="3429000"/>
          <a:ext cx="69037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Shape 49"/>
          <p:cNvSpPr/>
          <p:nvPr/>
        </p:nvSpPr>
        <p:spPr>
          <a:xfrm>
            <a:off x="7680960" y="306324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781812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des statuts</a:t>
            </a:r>
            <a:endParaRPr lang="en-US" sz="1000" dirty="0"/>
          </a:p>
        </p:txBody>
      </p:sp>
      <p:graphicFrame>
        <p:nvGraphicFramePr>
          <p:cNvPr id="54" name="Chart 1" descr=""/>
          <p:cNvGraphicFramePr/>
          <p:nvPr/>
        </p:nvGraphicFramePr>
        <p:xfrm>
          <a:off x="7726680" y="3383280"/>
          <a:ext cx="40233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Shape 51"/>
          <p:cNvSpPr/>
          <p:nvPr/>
        </p:nvSpPr>
        <p:spPr>
          <a:xfrm>
            <a:off x="365760" y="5349240"/>
            <a:ext cx="7178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6" name="Text 52"/>
          <p:cNvSpPr/>
          <p:nvPr/>
        </p:nvSpPr>
        <p:spPr>
          <a:xfrm>
            <a:off x="502920" y="54406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SLA breach par categorie (%)</a:t>
            </a:r>
            <a:endParaRPr lang="en-US" sz="1000" dirty="0"/>
          </a:p>
        </p:txBody>
      </p:sp>
      <p:graphicFrame>
        <p:nvGraphicFramePr>
          <p:cNvPr id="57" name="Chart 2" descr=""/>
          <p:cNvGraphicFramePr/>
          <p:nvPr/>
        </p:nvGraphicFramePr>
        <p:xfrm>
          <a:off x="502920" y="5669280"/>
          <a:ext cx="690372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8" name="Shape 53"/>
          <p:cNvSpPr/>
          <p:nvPr/>
        </p:nvSpPr>
        <p:spPr>
          <a:xfrm>
            <a:off x="7680960" y="53492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9" name="Text 54"/>
          <p:cNvSpPr/>
          <p:nvPr/>
        </p:nvSpPr>
        <p:spPr>
          <a:xfrm>
            <a:off x="7818120" y="5440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par pays (Top 5)</a:t>
            </a:r>
            <a:endParaRPr lang="en-US" sz="1000" dirty="0"/>
          </a:p>
        </p:txBody>
      </p:sp>
      <p:graphicFrame>
        <p:nvGraphicFramePr>
          <p:cNvPr id="60" name="Chart 3" descr=""/>
          <p:cNvGraphicFramePr/>
          <p:nvPr/>
        </p:nvGraphicFramePr>
        <p:xfrm>
          <a:off x="7818120" y="5669280"/>
          <a:ext cx="393192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61320" y="29260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2708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31/12/2024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SLA — par categorie &amp; canal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69164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181965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global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20574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30352" y="25603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30%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0" y="169164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450592" y="181965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SLA strict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50592" y="20574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450592" y="25603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contractuel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16916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370832" y="181965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Depassement moyen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70832" y="20574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+121h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370832" y="25603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tickets en breach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16916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6916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181965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SLA moyen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20574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1,00x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91072" y="25603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/ SLA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46720" y="1691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1691640"/>
            <a:ext cx="37490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818388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breach vs objectif 30%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9600" y="2286000"/>
            <a:ext cx="101498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41"/>
          <p:cNvSpPr/>
          <p:nvPr/>
        </p:nvSpPr>
        <p:spPr>
          <a:xfrm>
            <a:off x="9244584" y="2286000"/>
            <a:ext cx="67665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9921240" y="2286000"/>
            <a:ext cx="16916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Shape 43"/>
          <p:cNvSpPr/>
          <p:nvPr/>
        </p:nvSpPr>
        <p:spPr>
          <a:xfrm>
            <a:off x="9811603" y="2194560"/>
            <a:ext cx="36576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6" name="Text 44"/>
          <p:cNvSpPr/>
          <p:nvPr/>
        </p:nvSpPr>
        <p:spPr>
          <a:xfrm>
            <a:off x="9464131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47,3%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2651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07424" y="2651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338560" y="2651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3063240"/>
            <a:ext cx="7178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2920" y="31546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SLA breach par categorie (%)</a:t>
            </a:r>
            <a:endParaRPr lang="en-US" sz="100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502920" y="3429000"/>
          <a:ext cx="690372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Shape 50"/>
          <p:cNvSpPr/>
          <p:nvPr/>
        </p:nvSpPr>
        <p:spPr>
          <a:xfrm>
            <a:off x="7680960" y="30632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781812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des statuts</a:t>
            </a:r>
            <a:endParaRPr lang="en-US" sz="1000" dirty="0"/>
          </a:p>
        </p:txBody>
      </p:sp>
      <p:graphicFrame>
        <p:nvGraphicFramePr>
          <p:cNvPr id="55" name="Chart 1" descr=""/>
          <p:cNvGraphicFramePr/>
          <p:nvPr/>
        </p:nvGraphicFramePr>
        <p:xfrm>
          <a:off x="7863840" y="3383280"/>
          <a:ext cx="374904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6" name="Shape 52"/>
          <p:cNvSpPr/>
          <p:nvPr/>
        </p:nvSpPr>
        <p:spPr>
          <a:xfrm>
            <a:off x="365760" y="4709160"/>
            <a:ext cx="7178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7" name="Text 53"/>
          <p:cNvSpPr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categorie x mois (taux SLA breach)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1554480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2029968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2505456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2980944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3456432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3931920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4407408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65" name="Text 61"/>
          <p:cNvSpPr/>
          <p:nvPr/>
        </p:nvSpPr>
        <p:spPr>
          <a:xfrm>
            <a:off x="4882896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5358384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5833872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6309360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6784848" y="489204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91440" y="5074920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info</a:t>
            </a:r>
            <a:endParaRPr lang="en-US" sz="750" dirty="0"/>
          </a:p>
        </p:txBody>
      </p:sp>
      <p:sp>
        <p:nvSpPr>
          <p:cNvPr id="71" name="Shape 67"/>
          <p:cNvSpPr/>
          <p:nvPr/>
        </p:nvSpPr>
        <p:spPr>
          <a:xfrm>
            <a:off x="1572768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2" name="Shape 68"/>
          <p:cNvSpPr/>
          <p:nvPr/>
        </p:nvSpPr>
        <p:spPr>
          <a:xfrm>
            <a:off x="2048256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3" name="Shape 69"/>
          <p:cNvSpPr/>
          <p:nvPr/>
        </p:nvSpPr>
        <p:spPr>
          <a:xfrm>
            <a:off x="2523744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4" name="Shape 70"/>
          <p:cNvSpPr/>
          <p:nvPr/>
        </p:nvSpPr>
        <p:spPr>
          <a:xfrm>
            <a:off x="2999232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5" name="Shape 71"/>
          <p:cNvSpPr/>
          <p:nvPr/>
        </p:nvSpPr>
        <p:spPr>
          <a:xfrm>
            <a:off x="3474720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6" name="Shape 72"/>
          <p:cNvSpPr/>
          <p:nvPr/>
        </p:nvSpPr>
        <p:spPr>
          <a:xfrm>
            <a:off x="3950208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7" name="Shape 73"/>
          <p:cNvSpPr/>
          <p:nvPr/>
        </p:nvSpPr>
        <p:spPr>
          <a:xfrm>
            <a:off x="4425696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8" name="Shape 74"/>
          <p:cNvSpPr/>
          <p:nvPr/>
        </p:nvSpPr>
        <p:spPr>
          <a:xfrm>
            <a:off x="4901184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9" name="Shape 75"/>
          <p:cNvSpPr/>
          <p:nvPr/>
        </p:nvSpPr>
        <p:spPr>
          <a:xfrm>
            <a:off x="5376672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0" name="Shape 76"/>
          <p:cNvSpPr/>
          <p:nvPr/>
        </p:nvSpPr>
        <p:spPr>
          <a:xfrm>
            <a:off x="5852160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1" name="Shape 77"/>
          <p:cNvSpPr/>
          <p:nvPr/>
        </p:nvSpPr>
        <p:spPr>
          <a:xfrm>
            <a:off x="6327648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2" name="Shape 78"/>
          <p:cNvSpPr/>
          <p:nvPr/>
        </p:nvSpPr>
        <p:spPr>
          <a:xfrm>
            <a:off x="6803136" y="5093208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3" name="Text 79"/>
          <p:cNvSpPr/>
          <p:nvPr/>
        </p:nvSpPr>
        <p:spPr>
          <a:xfrm>
            <a:off x="91440" y="5216652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750" dirty="0"/>
          </a:p>
        </p:txBody>
      </p:sp>
      <p:sp>
        <p:nvSpPr>
          <p:cNvPr id="84" name="Shape 80"/>
          <p:cNvSpPr/>
          <p:nvPr/>
        </p:nvSpPr>
        <p:spPr>
          <a:xfrm>
            <a:off x="1572768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5" name="Shape 81"/>
          <p:cNvSpPr/>
          <p:nvPr/>
        </p:nvSpPr>
        <p:spPr>
          <a:xfrm>
            <a:off x="2048256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6" name="Shape 82"/>
          <p:cNvSpPr/>
          <p:nvPr/>
        </p:nvSpPr>
        <p:spPr>
          <a:xfrm>
            <a:off x="2523744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7" name="Shape 83"/>
          <p:cNvSpPr/>
          <p:nvPr/>
        </p:nvSpPr>
        <p:spPr>
          <a:xfrm>
            <a:off x="2999232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8" name="Shape 84"/>
          <p:cNvSpPr/>
          <p:nvPr/>
        </p:nvSpPr>
        <p:spPr>
          <a:xfrm>
            <a:off x="3474720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9" name="Shape 85"/>
          <p:cNvSpPr/>
          <p:nvPr/>
        </p:nvSpPr>
        <p:spPr>
          <a:xfrm>
            <a:off x="3950208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0" name="Shape 86"/>
          <p:cNvSpPr/>
          <p:nvPr/>
        </p:nvSpPr>
        <p:spPr>
          <a:xfrm>
            <a:off x="4425696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1" name="Shape 87"/>
          <p:cNvSpPr/>
          <p:nvPr/>
        </p:nvSpPr>
        <p:spPr>
          <a:xfrm>
            <a:off x="4901184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2" name="Shape 88"/>
          <p:cNvSpPr/>
          <p:nvPr/>
        </p:nvSpPr>
        <p:spPr>
          <a:xfrm>
            <a:off x="5376672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3" name="Shape 89"/>
          <p:cNvSpPr/>
          <p:nvPr/>
        </p:nvSpPr>
        <p:spPr>
          <a:xfrm>
            <a:off x="5852160" y="5234940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94" name="Shape 90"/>
          <p:cNvSpPr/>
          <p:nvPr/>
        </p:nvSpPr>
        <p:spPr>
          <a:xfrm>
            <a:off x="6327648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5" name="Shape 91"/>
          <p:cNvSpPr/>
          <p:nvPr/>
        </p:nvSpPr>
        <p:spPr>
          <a:xfrm>
            <a:off x="6803136" y="5234940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6" name="Text 92"/>
          <p:cNvSpPr/>
          <p:nvPr/>
        </p:nvSpPr>
        <p:spPr>
          <a:xfrm>
            <a:off x="91440" y="5358384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</a:t>
            </a:r>
            <a:endParaRPr lang="en-US" sz="750" dirty="0"/>
          </a:p>
        </p:txBody>
      </p:sp>
      <p:sp>
        <p:nvSpPr>
          <p:cNvPr id="97" name="Shape 93"/>
          <p:cNvSpPr/>
          <p:nvPr/>
        </p:nvSpPr>
        <p:spPr>
          <a:xfrm>
            <a:off x="1572768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98" name="Shape 94"/>
          <p:cNvSpPr/>
          <p:nvPr/>
        </p:nvSpPr>
        <p:spPr>
          <a:xfrm>
            <a:off x="2048256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99" name="Shape 95"/>
          <p:cNvSpPr/>
          <p:nvPr/>
        </p:nvSpPr>
        <p:spPr>
          <a:xfrm>
            <a:off x="2523744" y="5376672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00" name="Shape 96"/>
          <p:cNvSpPr/>
          <p:nvPr/>
        </p:nvSpPr>
        <p:spPr>
          <a:xfrm>
            <a:off x="2999232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1" name="Shape 97"/>
          <p:cNvSpPr/>
          <p:nvPr/>
        </p:nvSpPr>
        <p:spPr>
          <a:xfrm>
            <a:off x="3474720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2" name="Shape 98"/>
          <p:cNvSpPr/>
          <p:nvPr/>
        </p:nvSpPr>
        <p:spPr>
          <a:xfrm>
            <a:off x="3950208" y="5376672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03" name="Shape 99"/>
          <p:cNvSpPr/>
          <p:nvPr/>
        </p:nvSpPr>
        <p:spPr>
          <a:xfrm>
            <a:off x="4425696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4" name="Shape 100"/>
          <p:cNvSpPr/>
          <p:nvPr/>
        </p:nvSpPr>
        <p:spPr>
          <a:xfrm>
            <a:off x="4901184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5" name="Shape 101"/>
          <p:cNvSpPr/>
          <p:nvPr/>
        </p:nvSpPr>
        <p:spPr>
          <a:xfrm>
            <a:off x="5376672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6" name="Shape 102"/>
          <p:cNvSpPr/>
          <p:nvPr/>
        </p:nvSpPr>
        <p:spPr>
          <a:xfrm>
            <a:off x="5852160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7" name="Shape 103"/>
          <p:cNvSpPr/>
          <p:nvPr/>
        </p:nvSpPr>
        <p:spPr>
          <a:xfrm>
            <a:off x="6327648" y="5376672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08" name="Shape 104"/>
          <p:cNvSpPr/>
          <p:nvPr/>
        </p:nvSpPr>
        <p:spPr>
          <a:xfrm>
            <a:off x="6803136" y="5376672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09" name="Text 105"/>
          <p:cNvSpPr/>
          <p:nvPr/>
        </p:nvSpPr>
        <p:spPr>
          <a:xfrm>
            <a:off x="91440" y="5500116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Liv. retardee</a:t>
            </a:r>
            <a:endParaRPr lang="en-US" sz="750" dirty="0"/>
          </a:p>
        </p:txBody>
      </p:sp>
      <p:sp>
        <p:nvSpPr>
          <p:cNvPr id="110" name="Shape 106"/>
          <p:cNvSpPr/>
          <p:nvPr/>
        </p:nvSpPr>
        <p:spPr>
          <a:xfrm>
            <a:off x="1572768" y="5518404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11" name="Shape 107"/>
          <p:cNvSpPr/>
          <p:nvPr/>
        </p:nvSpPr>
        <p:spPr>
          <a:xfrm>
            <a:off x="2048256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2" name="Shape 108"/>
          <p:cNvSpPr/>
          <p:nvPr/>
        </p:nvSpPr>
        <p:spPr>
          <a:xfrm>
            <a:off x="2523744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3" name="Shape 109"/>
          <p:cNvSpPr/>
          <p:nvPr/>
        </p:nvSpPr>
        <p:spPr>
          <a:xfrm>
            <a:off x="2999232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4" name="Shape 110"/>
          <p:cNvSpPr/>
          <p:nvPr/>
        </p:nvSpPr>
        <p:spPr>
          <a:xfrm>
            <a:off x="3474720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5" name="Shape 111"/>
          <p:cNvSpPr/>
          <p:nvPr/>
        </p:nvSpPr>
        <p:spPr>
          <a:xfrm>
            <a:off x="3950208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6" name="Shape 112"/>
          <p:cNvSpPr/>
          <p:nvPr/>
        </p:nvSpPr>
        <p:spPr>
          <a:xfrm>
            <a:off x="4425696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7" name="Shape 113"/>
          <p:cNvSpPr/>
          <p:nvPr/>
        </p:nvSpPr>
        <p:spPr>
          <a:xfrm>
            <a:off x="4901184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18" name="Shape 114"/>
          <p:cNvSpPr/>
          <p:nvPr/>
        </p:nvSpPr>
        <p:spPr>
          <a:xfrm>
            <a:off x="5376672" y="5518404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19" name="Shape 115"/>
          <p:cNvSpPr/>
          <p:nvPr/>
        </p:nvSpPr>
        <p:spPr>
          <a:xfrm>
            <a:off x="5852160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0" name="Shape 116"/>
          <p:cNvSpPr/>
          <p:nvPr/>
        </p:nvSpPr>
        <p:spPr>
          <a:xfrm>
            <a:off x="6327648" y="5518404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1" name="Shape 117"/>
          <p:cNvSpPr/>
          <p:nvPr/>
        </p:nvSpPr>
        <p:spPr>
          <a:xfrm>
            <a:off x="6803136" y="5518404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22" name="Text 118"/>
          <p:cNvSpPr/>
          <p:nvPr/>
        </p:nvSpPr>
        <p:spPr>
          <a:xfrm>
            <a:off x="91440" y="5641848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prod.</a:t>
            </a:r>
            <a:endParaRPr lang="en-US" sz="750" dirty="0"/>
          </a:p>
        </p:txBody>
      </p:sp>
      <p:sp>
        <p:nvSpPr>
          <p:cNvPr id="123" name="Shape 119"/>
          <p:cNvSpPr/>
          <p:nvPr/>
        </p:nvSpPr>
        <p:spPr>
          <a:xfrm>
            <a:off x="1572768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4" name="Shape 120"/>
          <p:cNvSpPr/>
          <p:nvPr/>
        </p:nvSpPr>
        <p:spPr>
          <a:xfrm>
            <a:off x="2048256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5" name="Shape 121"/>
          <p:cNvSpPr/>
          <p:nvPr/>
        </p:nvSpPr>
        <p:spPr>
          <a:xfrm>
            <a:off x="2523744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6" name="Shape 122"/>
          <p:cNvSpPr/>
          <p:nvPr/>
        </p:nvSpPr>
        <p:spPr>
          <a:xfrm>
            <a:off x="2999232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7" name="Shape 123"/>
          <p:cNvSpPr/>
          <p:nvPr/>
        </p:nvSpPr>
        <p:spPr>
          <a:xfrm>
            <a:off x="3474720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8" name="Shape 124"/>
          <p:cNvSpPr/>
          <p:nvPr/>
        </p:nvSpPr>
        <p:spPr>
          <a:xfrm>
            <a:off x="3950208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29" name="Shape 125"/>
          <p:cNvSpPr/>
          <p:nvPr/>
        </p:nvSpPr>
        <p:spPr>
          <a:xfrm>
            <a:off x="4425696" y="5660136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0" name="Shape 126"/>
          <p:cNvSpPr/>
          <p:nvPr/>
        </p:nvSpPr>
        <p:spPr>
          <a:xfrm>
            <a:off x="4901184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31" name="Shape 127"/>
          <p:cNvSpPr/>
          <p:nvPr/>
        </p:nvSpPr>
        <p:spPr>
          <a:xfrm>
            <a:off x="5376672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32" name="Shape 128"/>
          <p:cNvSpPr/>
          <p:nvPr/>
        </p:nvSpPr>
        <p:spPr>
          <a:xfrm>
            <a:off x="5852160" y="5660136"/>
            <a:ext cx="438912" cy="105156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3" name="Shape 129"/>
          <p:cNvSpPr/>
          <p:nvPr/>
        </p:nvSpPr>
        <p:spPr>
          <a:xfrm>
            <a:off x="6327648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34" name="Shape 130"/>
          <p:cNvSpPr/>
          <p:nvPr/>
        </p:nvSpPr>
        <p:spPr>
          <a:xfrm>
            <a:off x="6803136" y="5660136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35" name="Text 131"/>
          <p:cNvSpPr/>
          <p:nvPr/>
        </p:nvSpPr>
        <p:spPr>
          <a:xfrm>
            <a:off x="91440" y="5783580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tech.</a:t>
            </a:r>
            <a:endParaRPr lang="en-US" sz="750" dirty="0"/>
          </a:p>
        </p:txBody>
      </p:sp>
      <p:sp>
        <p:nvSpPr>
          <p:cNvPr id="136" name="Shape 132"/>
          <p:cNvSpPr/>
          <p:nvPr/>
        </p:nvSpPr>
        <p:spPr>
          <a:xfrm>
            <a:off x="1572768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37" name="Shape 133"/>
          <p:cNvSpPr/>
          <p:nvPr/>
        </p:nvSpPr>
        <p:spPr>
          <a:xfrm>
            <a:off x="2048256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38" name="Shape 134"/>
          <p:cNvSpPr/>
          <p:nvPr/>
        </p:nvSpPr>
        <p:spPr>
          <a:xfrm>
            <a:off x="2523744" y="5801868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39" name="Shape 135"/>
          <p:cNvSpPr/>
          <p:nvPr/>
        </p:nvSpPr>
        <p:spPr>
          <a:xfrm>
            <a:off x="2999232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0" name="Shape 136"/>
          <p:cNvSpPr/>
          <p:nvPr/>
        </p:nvSpPr>
        <p:spPr>
          <a:xfrm>
            <a:off x="3474720" y="5801868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41" name="Shape 137"/>
          <p:cNvSpPr/>
          <p:nvPr/>
        </p:nvSpPr>
        <p:spPr>
          <a:xfrm>
            <a:off x="3950208" y="5801868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42" name="Shape 138"/>
          <p:cNvSpPr/>
          <p:nvPr/>
        </p:nvSpPr>
        <p:spPr>
          <a:xfrm>
            <a:off x="4425696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3" name="Shape 139"/>
          <p:cNvSpPr/>
          <p:nvPr/>
        </p:nvSpPr>
        <p:spPr>
          <a:xfrm>
            <a:off x="4901184" y="5801868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44" name="Shape 140"/>
          <p:cNvSpPr/>
          <p:nvPr/>
        </p:nvSpPr>
        <p:spPr>
          <a:xfrm>
            <a:off x="5376672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5" name="Shape 141"/>
          <p:cNvSpPr/>
          <p:nvPr/>
        </p:nvSpPr>
        <p:spPr>
          <a:xfrm>
            <a:off x="5852160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6" name="Shape 142"/>
          <p:cNvSpPr/>
          <p:nvPr/>
        </p:nvSpPr>
        <p:spPr>
          <a:xfrm>
            <a:off x="6327648" y="5801868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47" name="Shape 143"/>
          <p:cNvSpPr/>
          <p:nvPr/>
        </p:nvSpPr>
        <p:spPr>
          <a:xfrm>
            <a:off x="6803136" y="5801868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8" name="Text 144"/>
          <p:cNvSpPr/>
          <p:nvPr/>
        </p:nvSpPr>
        <p:spPr>
          <a:xfrm>
            <a:off x="91440" y="5925312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paiement</a:t>
            </a:r>
            <a:endParaRPr lang="en-US" sz="750" dirty="0"/>
          </a:p>
        </p:txBody>
      </p:sp>
      <p:sp>
        <p:nvSpPr>
          <p:cNvPr id="149" name="Shape 145"/>
          <p:cNvSpPr/>
          <p:nvPr/>
        </p:nvSpPr>
        <p:spPr>
          <a:xfrm>
            <a:off x="1572768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0" name="Shape 146"/>
          <p:cNvSpPr/>
          <p:nvPr/>
        </p:nvSpPr>
        <p:spPr>
          <a:xfrm>
            <a:off x="2048256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1" name="Shape 147"/>
          <p:cNvSpPr/>
          <p:nvPr/>
        </p:nvSpPr>
        <p:spPr>
          <a:xfrm>
            <a:off x="2523744" y="5943600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52" name="Shape 148"/>
          <p:cNvSpPr/>
          <p:nvPr/>
        </p:nvSpPr>
        <p:spPr>
          <a:xfrm>
            <a:off x="2999232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3" name="Shape 149"/>
          <p:cNvSpPr/>
          <p:nvPr/>
        </p:nvSpPr>
        <p:spPr>
          <a:xfrm>
            <a:off x="3474720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4" name="Shape 150"/>
          <p:cNvSpPr/>
          <p:nvPr/>
        </p:nvSpPr>
        <p:spPr>
          <a:xfrm>
            <a:off x="3950208" y="5943600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55" name="Shape 151"/>
          <p:cNvSpPr/>
          <p:nvPr/>
        </p:nvSpPr>
        <p:spPr>
          <a:xfrm>
            <a:off x="4425696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6" name="Shape 152"/>
          <p:cNvSpPr/>
          <p:nvPr/>
        </p:nvSpPr>
        <p:spPr>
          <a:xfrm>
            <a:off x="4901184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7" name="Shape 153"/>
          <p:cNvSpPr/>
          <p:nvPr/>
        </p:nvSpPr>
        <p:spPr>
          <a:xfrm>
            <a:off x="5376672" y="5943600"/>
            <a:ext cx="438912" cy="105156"/>
          </a:xfrm>
          <a:prstGeom prst="rect">
            <a:avLst/>
          </a:prstGeom>
          <a:solidFill>
            <a:srgbClr val="FEF08A"/>
          </a:solidFill>
          <a:ln/>
        </p:spPr>
      </p:sp>
      <p:sp>
        <p:nvSpPr>
          <p:cNvPr id="158" name="Shape 154"/>
          <p:cNvSpPr/>
          <p:nvPr/>
        </p:nvSpPr>
        <p:spPr>
          <a:xfrm>
            <a:off x="5852160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59" name="Shape 155"/>
          <p:cNvSpPr/>
          <p:nvPr/>
        </p:nvSpPr>
        <p:spPr>
          <a:xfrm>
            <a:off x="6327648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0" name="Shape 156"/>
          <p:cNvSpPr/>
          <p:nvPr/>
        </p:nvSpPr>
        <p:spPr>
          <a:xfrm>
            <a:off x="6803136" y="5943600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1" name="Text 157"/>
          <p:cNvSpPr/>
          <p:nvPr/>
        </p:nvSpPr>
        <p:spPr>
          <a:xfrm>
            <a:off x="91440" y="6067044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162" name="Shape 158"/>
          <p:cNvSpPr/>
          <p:nvPr/>
        </p:nvSpPr>
        <p:spPr>
          <a:xfrm>
            <a:off x="1572768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3" name="Shape 159"/>
          <p:cNvSpPr/>
          <p:nvPr/>
        </p:nvSpPr>
        <p:spPr>
          <a:xfrm>
            <a:off x="2048256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4" name="Shape 160"/>
          <p:cNvSpPr/>
          <p:nvPr/>
        </p:nvSpPr>
        <p:spPr>
          <a:xfrm>
            <a:off x="2523744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5" name="Shape 161"/>
          <p:cNvSpPr/>
          <p:nvPr/>
        </p:nvSpPr>
        <p:spPr>
          <a:xfrm>
            <a:off x="2999232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6" name="Shape 162"/>
          <p:cNvSpPr/>
          <p:nvPr/>
        </p:nvSpPr>
        <p:spPr>
          <a:xfrm>
            <a:off x="3474720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7" name="Shape 163"/>
          <p:cNvSpPr/>
          <p:nvPr/>
        </p:nvSpPr>
        <p:spPr>
          <a:xfrm>
            <a:off x="3950208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8" name="Shape 164"/>
          <p:cNvSpPr/>
          <p:nvPr/>
        </p:nvSpPr>
        <p:spPr>
          <a:xfrm>
            <a:off x="4425696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69" name="Shape 165"/>
          <p:cNvSpPr/>
          <p:nvPr/>
        </p:nvSpPr>
        <p:spPr>
          <a:xfrm>
            <a:off x="4901184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0" name="Shape 166"/>
          <p:cNvSpPr/>
          <p:nvPr/>
        </p:nvSpPr>
        <p:spPr>
          <a:xfrm>
            <a:off x="5376672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1" name="Shape 167"/>
          <p:cNvSpPr/>
          <p:nvPr/>
        </p:nvSpPr>
        <p:spPr>
          <a:xfrm>
            <a:off x="5852160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2" name="Shape 168"/>
          <p:cNvSpPr/>
          <p:nvPr/>
        </p:nvSpPr>
        <p:spPr>
          <a:xfrm>
            <a:off x="6327648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3" name="Shape 169"/>
          <p:cNvSpPr/>
          <p:nvPr/>
        </p:nvSpPr>
        <p:spPr>
          <a:xfrm>
            <a:off x="6803136" y="6085332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4" name="Text 170"/>
          <p:cNvSpPr/>
          <p:nvPr/>
        </p:nvSpPr>
        <p:spPr>
          <a:xfrm>
            <a:off x="91440" y="6208776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Esc. juridique</a:t>
            </a:r>
            <a:endParaRPr lang="en-US" sz="750" dirty="0"/>
          </a:p>
        </p:txBody>
      </p:sp>
      <p:sp>
        <p:nvSpPr>
          <p:cNvPr id="175" name="Shape 171"/>
          <p:cNvSpPr/>
          <p:nvPr/>
        </p:nvSpPr>
        <p:spPr>
          <a:xfrm>
            <a:off x="1572768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6" name="Shape 172"/>
          <p:cNvSpPr/>
          <p:nvPr/>
        </p:nvSpPr>
        <p:spPr>
          <a:xfrm>
            <a:off x="2048256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7" name="Shape 173"/>
          <p:cNvSpPr/>
          <p:nvPr/>
        </p:nvSpPr>
        <p:spPr>
          <a:xfrm>
            <a:off x="2523744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8" name="Shape 174"/>
          <p:cNvSpPr/>
          <p:nvPr/>
        </p:nvSpPr>
        <p:spPr>
          <a:xfrm>
            <a:off x="2999232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79" name="Shape 175"/>
          <p:cNvSpPr/>
          <p:nvPr/>
        </p:nvSpPr>
        <p:spPr>
          <a:xfrm>
            <a:off x="3474720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0" name="Shape 176"/>
          <p:cNvSpPr/>
          <p:nvPr/>
        </p:nvSpPr>
        <p:spPr>
          <a:xfrm>
            <a:off x="3950208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1" name="Shape 177"/>
          <p:cNvSpPr/>
          <p:nvPr/>
        </p:nvSpPr>
        <p:spPr>
          <a:xfrm>
            <a:off x="4425696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2" name="Shape 178"/>
          <p:cNvSpPr/>
          <p:nvPr/>
        </p:nvSpPr>
        <p:spPr>
          <a:xfrm>
            <a:off x="4901184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3" name="Shape 179"/>
          <p:cNvSpPr/>
          <p:nvPr/>
        </p:nvSpPr>
        <p:spPr>
          <a:xfrm>
            <a:off x="5376672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4" name="Shape 180"/>
          <p:cNvSpPr/>
          <p:nvPr/>
        </p:nvSpPr>
        <p:spPr>
          <a:xfrm>
            <a:off x="5852160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5" name="Shape 181"/>
          <p:cNvSpPr/>
          <p:nvPr/>
        </p:nvSpPr>
        <p:spPr>
          <a:xfrm>
            <a:off x="6327648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6" name="Shape 182"/>
          <p:cNvSpPr/>
          <p:nvPr/>
        </p:nvSpPr>
        <p:spPr>
          <a:xfrm>
            <a:off x="6803136" y="6227064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7" name="Text 183"/>
          <p:cNvSpPr/>
          <p:nvPr/>
        </p:nvSpPr>
        <p:spPr>
          <a:xfrm>
            <a:off x="91440" y="6350508"/>
            <a:ext cx="14173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compte</a:t>
            </a:r>
            <a:endParaRPr lang="en-US" sz="750" dirty="0"/>
          </a:p>
        </p:txBody>
      </p:sp>
      <p:sp>
        <p:nvSpPr>
          <p:cNvPr id="188" name="Shape 184"/>
          <p:cNvSpPr/>
          <p:nvPr/>
        </p:nvSpPr>
        <p:spPr>
          <a:xfrm>
            <a:off x="1572768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89" name="Shape 185"/>
          <p:cNvSpPr/>
          <p:nvPr/>
        </p:nvSpPr>
        <p:spPr>
          <a:xfrm>
            <a:off x="2048256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0" name="Shape 186"/>
          <p:cNvSpPr/>
          <p:nvPr/>
        </p:nvSpPr>
        <p:spPr>
          <a:xfrm>
            <a:off x="2523744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1" name="Shape 187"/>
          <p:cNvSpPr/>
          <p:nvPr/>
        </p:nvSpPr>
        <p:spPr>
          <a:xfrm>
            <a:off x="2999232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2" name="Shape 188"/>
          <p:cNvSpPr/>
          <p:nvPr/>
        </p:nvSpPr>
        <p:spPr>
          <a:xfrm>
            <a:off x="3474720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3" name="Shape 189"/>
          <p:cNvSpPr/>
          <p:nvPr/>
        </p:nvSpPr>
        <p:spPr>
          <a:xfrm>
            <a:off x="3950208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4" name="Shape 190"/>
          <p:cNvSpPr/>
          <p:nvPr/>
        </p:nvSpPr>
        <p:spPr>
          <a:xfrm>
            <a:off x="4425696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5" name="Shape 191"/>
          <p:cNvSpPr/>
          <p:nvPr/>
        </p:nvSpPr>
        <p:spPr>
          <a:xfrm>
            <a:off x="4901184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6" name="Shape 192"/>
          <p:cNvSpPr/>
          <p:nvPr/>
        </p:nvSpPr>
        <p:spPr>
          <a:xfrm>
            <a:off x="5376672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7" name="Shape 193"/>
          <p:cNvSpPr/>
          <p:nvPr/>
        </p:nvSpPr>
        <p:spPr>
          <a:xfrm>
            <a:off x="5852160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8" name="Shape 194"/>
          <p:cNvSpPr/>
          <p:nvPr/>
        </p:nvSpPr>
        <p:spPr>
          <a:xfrm>
            <a:off x="6327648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99" name="Shape 195"/>
          <p:cNvSpPr/>
          <p:nvPr/>
        </p:nvSpPr>
        <p:spPr>
          <a:xfrm>
            <a:off x="6803136" y="6368796"/>
            <a:ext cx="438912" cy="105156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00" name="Shape 196"/>
          <p:cNvSpPr/>
          <p:nvPr/>
        </p:nvSpPr>
        <p:spPr>
          <a:xfrm>
            <a:off x="7680960" y="470916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1" name="Text 197"/>
          <p:cNvSpPr/>
          <p:nvPr/>
        </p:nvSpPr>
        <p:spPr>
          <a:xfrm>
            <a:off x="7818120" y="4800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SLA breach par canal (%)</a:t>
            </a:r>
            <a:endParaRPr lang="en-US" sz="1000" dirty="0"/>
          </a:p>
        </p:txBody>
      </p:sp>
      <p:graphicFrame>
        <p:nvGraphicFramePr>
          <p:cNvPr id="202" name="Chart 2" descr=""/>
          <p:cNvGraphicFramePr/>
          <p:nvPr/>
        </p:nvGraphicFramePr>
        <p:xfrm>
          <a:off x="7818120" y="5029200"/>
          <a:ext cx="3931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61320" y="29260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2708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31/12/2024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agents — classement &amp; matrice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68580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17830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des 12 agents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583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640080"/>
                <a:gridCol w="777240"/>
                <a:gridCol w="594360"/>
                <a:gridCol w="64008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50" kern="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 SLA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Aissatou 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Aminata Diallo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 Toure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Fatou Sow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Ibrahim Coulibaly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Jean-Marc Dubois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Kofi Mensah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Moussa Kone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Benhaddou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Olivier Martin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21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Ramatou Diaby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Samuel Acheampong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7315200" y="1691640"/>
            <a:ext cx="4480560" cy="49834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452360" y="1783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performance — Breach vs CSAT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498080" y="2103120"/>
          <a:ext cx="4206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50976"/>
            <a:ext cx="121615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46888"/>
            <a:ext cx="502920" cy="50292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4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AfriCare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29260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2926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9264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61320" y="29260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27080" y="292608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29260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31/12/2024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Alertes ML — Tickets a risque detectes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3657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691640"/>
            <a:ext cx="22402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ROUGE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292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immediate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FEDD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97480" y="1691640"/>
            <a:ext cx="2240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ORANGE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1 542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83464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surveiller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1691640"/>
            <a:ext cx="224028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JAUNE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16636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6092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60920" y="1691640"/>
            <a:ext cx="2240280" cy="457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risque moyen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49808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tickets alertes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92640" y="16916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92640" y="1691640"/>
            <a:ext cx="22402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9829800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modele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829800" y="2057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79,6%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829800" y="25603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Objectif &gt; 75%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063240"/>
            <a:ext cx="6858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31546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tickets alertes ROUGE (Top 5 — score risque)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6583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914400"/>
                <a:gridCol w="1463040"/>
                <a:gridCol w="640080"/>
                <a:gridCol w="548640"/>
                <a:gridCol w="10972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alerte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TKT014857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Cameroun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Jean-Marc Dubois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TKT012691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Moussa Kone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TKT013209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Jean-Marc Dubois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TKT013797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Moussa Kone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TKT014745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Moussa Kone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</a:tbl>
          </a:graphicData>
        </a:graphic>
      </p:graphicFrame>
      <p:sp>
        <p:nvSpPr>
          <p:cNvPr id="47" name="Shape 44"/>
          <p:cNvSpPr/>
          <p:nvPr/>
        </p:nvSpPr>
        <p:spPr>
          <a:xfrm>
            <a:off x="7315200" y="306324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7452360" y="3154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niveaux d'alerte</a:t>
            </a:r>
            <a:endParaRPr lang="en-US" sz="10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7452360" y="3383280"/>
          <a:ext cx="42976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Shape 46"/>
          <p:cNvSpPr/>
          <p:nvPr/>
        </p:nvSpPr>
        <p:spPr>
          <a:xfrm>
            <a:off x="365760" y="4937760"/>
            <a:ext cx="6858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1" name="Text 47"/>
          <p:cNvSpPr/>
          <p:nvPr/>
        </p:nvSpPr>
        <p:spPr>
          <a:xfrm>
            <a:off x="502920" y="50292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agents — alertes ROUGE</a:t>
            </a:r>
            <a:endParaRPr lang="en-US" sz="1000" dirty="0"/>
          </a:p>
        </p:txBody>
      </p:sp>
      <p:graphicFrame>
        <p:nvGraphicFramePr>
          <p:cNvPr id="52" name="Chart 1" descr=""/>
          <p:cNvGraphicFramePr/>
          <p:nvPr/>
        </p:nvGraphicFramePr>
        <p:xfrm>
          <a:off x="502920" y="5303520"/>
          <a:ext cx="658368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Shape 48"/>
          <p:cNvSpPr/>
          <p:nvPr/>
        </p:nvSpPr>
        <p:spPr>
          <a:xfrm>
            <a:off x="7315200" y="49377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8000"/>
              </a:srgbClr>
            </a:outerShdw>
          </a:effectLst>
        </p:spPr>
      </p:sp>
      <p:sp>
        <p:nvSpPr>
          <p:cNvPr id="54" name="Text 49"/>
          <p:cNvSpPr/>
          <p:nvPr/>
        </p:nvSpPr>
        <p:spPr>
          <a:xfrm>
            <a:off x="7452360" y="5029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risque moyen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7498080" y="5532120"/>
            <a:ext cx="10287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Shape 51"/>
          <p:cNvSpPr/>
          <p:nvPr/>
        </p:nvSpPr>
        <p:spPr>
          <a:xfrm>
            <a:off x="8526780" y="5532120"/>
            <a:ext cx="822960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7" name="Shape 52"/>
          <p:cNvSpPr/>
          <p:nvPr/>
        </p:nvSpPr>
        <p:spPr>
          <a:xfrm>
            <a:off x="9349740" y="5532120"/>
            <a:ext cx="10287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Shape 53"/>
          <p:cNvSpPr/>
          <p:nvPr/>
        </p:nvSpPr>
        <p:spPr>
          <a:xfrm>
            <a:off x="10378440" y="5532120"/>
            <a:ext cx="123444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9" name="Shape 54"/>
          <p:cNvSpPr/>
          <p:nvPr/>
        </p:nvSpPr>
        <p:spPr>
          <a:xfrm>
            <a:off x="9537192" y="5440680"/>
            <a:ext cx="36576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0" name="Text 55"/>
          <p:cNvSpPr/>
          <p:nvPr/>
        </p:nvSpPr>
        <p:spPr>
          <a:xfrm>
            <a:off x="7498080" y="5897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moyen : 0,50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7406640" y="5303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62" name="Text 57"/>
          <p:cNvSpPr/>
          <p:nvPr/>
        </p:nvSpPr>
        <p:spPr>
          <a:xfrm>
            <a:off x="8389620" y="5303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700" dirty="0"/>
          </a:p>
        </p:txBody>
      </p:sp>
      <p:sp>
        <p:nvSpPr>
          <p:cNvPr id="63" name="Text 58"/>
          <p:cNvSpPr/>
          <p:nvPr/>
        </p:nvSpPr>
        <p:spPr>
          <a:xfrm>
            <a:off x="9212580" y="5303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0,45</a:t>
            </a:r>
            <a:endParaRPr lang="en-US" sz="700" dirty="0"/>
          </a:p>
        </p:txBody>
      </p:sp>
      <p:sp>
        <p:nvSpPr>
          <p:cNvPr id="64" name="Text 59"/>
          <p:cNvSpPr/>
          <p:nvPr/>
        </p:nvSpPr>
        <p:spPr>
          <a:xfrm>
            <a:off x="10241280" y="5303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0,70</a:t>
            </a:r>
            <a:endParaRPr lang="en-US" sz="700" dirty="0"/>
          </a:p>
        </p:txBody>
      </p:sp>
      <p:sp>
        <p:nvSpPr>
          <p:cNvPr id="65" name="Text 60"/>
          <p:cNvSpPr/>
          <p:nvPr/>
        </p:nvSpPr>
        <p:spPr>
          <a:xfrm>
            <a:off x="11521440" y="5303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AfriCare Support - Mockup Power BI</dc:title>
  <dc:subject>PptxGenJS Presentation</dc:subject>
  <dc:creator>DataProjectLab</dc:creator>
  <cp:lastModifiedBy>DataProjectLab</cp:lastModifiedBy>
  <cp:revision>1</cp:revision>
  <dcterms:created xsi:type="dcterms:W3CDTF">2026-05-02T13:40:14Z</dcterms:created>
  <dcterms:modified xsi:type="dcterms:W3CDTF">2026-05-02T13:40:14Z</dcterms:modified>
</cp:coreProperties>
</file>