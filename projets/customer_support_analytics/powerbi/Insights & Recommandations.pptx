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635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A1635"/>
                </a:solidFill>
                <a:latin typeface="Arial"/>
              </a:rPr>
              <a:t>Taux SLA breach par catégorie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breach (%)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682-4FD6-AA1C-0C8F60EF0CA5}"/>
              </c:ext>
            </c:extLst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82-4FD6-AA1C-0C8F60EF0CA5}"/>
              </c:ext>
            </c:extLst>
          </c:dPt>
          <c:dPt>
            <c:idx val="2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82-4FD6-AA1C-0C8F60EF0CA5}"/>
              </c:ext>
            </c:extLst>
          </c:dPt>
          <c:dPt>
            <c:idx val="3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682-4FD6-AA1C-0C8F60EF0CA5}"/>
              </c:ext>
            </c:extLst>
          </c:dPt>
          <c:dPt>
            <c:idx val="4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682-4FD6-AA1C-0C8F60EF0CA5}"/>
              </c:ext>
            </c:extLst>
          </c:dPt>
          <c:dPt>
            <c:idx val="5"/>
            <c:invertIfNegative val="0"/>
            <c:bubble3D val="0"/>
            <c:spPr>
              <a:solidFill>
                <a:srgbClr val="534A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682-4FD6-AA1C-0C8F60EF0CA5}"/>
              </c:ext>
            </c:extLst>
          </c:dPt>
          <c:dPt>
            <c:idx val="6"/>
            <c:invertIfNegative val="0"/>
            <c:bubble3D val="0"/>
            <c:spPr>
              <a:solidFill>
                <a:srgbClr val="534A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682-4FD6-AA1C-0C8F60EF0CA5}"/>
              </c:ext>
            </c:extLst>
          </c:dPt>
          <c:dPt>
            <c:idx val="7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682-4FD6-AA1C-0C8F60EF0CA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63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Fraude</c:v>
                </c:pt>
                <c:pt idx="1">
                  <c:v>Escalade jur.</c:v>
                </c:pt>
                <c:pt idx="2">
                  <c:v>Panne tech.</c:v>
                </c:pt>
                <c:pt idx="3">
                  <c:v>Pbm paiement</c:v>
                </c:pt>
                <c:pt idx="4">
                  <c:v>Facturation</c:v>
                </c:pt>
                <c:pt idx="5">
                  <c:v>Remboursement</c:v>
                </c:pt>
                <c:pt idx="6">
                  <c:v>Livraison</c:v>
                </c:pt>
                <c:pt idx="7">
                  <c:v>Accès compte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</c:v>
                </c:pt>
                <c:pt idx="1">
                  <c:v>65</c:v>
                </c:pt>
                <c:pt idx="2">
                  <c:v>58</c:v>
                </c:pt>
                <c:pt idx="3">
                  <c:v>52</c:v>
                </c:pt>
                <c:pt idx="4">
                  <c:v>48</c:v>
                </c:pt>
                <c:pt idx="5">
                  <c:v>44</c:v>
                </c:pt>
                <c:pt idx="6">
                  <c:v>40</c:v>
                </c:pt>
                <c:pt idx="7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682-4FD6-AA1C-0C8F60EF0C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1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EE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635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A1635"/>
                </a:solidFill>
                <a:latin typeface="Arial"/>
              </a:rPr>
              <a:t>CSAT selon délai de résolution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 moyen</c:v>
                </c:pt>
              </c:strCache>
            </c:strRef>
          </c:tx>
          <c:spPr>
            <a:ln w="381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63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4h</c:v>
                </c:pt>
                <c:pt idx="1">
                  <c:v>4-12h</c:v>
                </c:pt>
                <c:pt idx="2">
                  <c:v>12-24h</c:v>
                </c:pt>
                <c:pt idx="3">
                  <c:v>1-3j</c:v>
                </c:pt>
                <c:pt idx="4">
                  <c:v>3j+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4.62</c:v>
                </c:pt>
                <c:pt idx="1">
                  <c:v>4.38</c:v>
                </c:pt>
                <c:pt idx="2">
                  <c:v>4.05</c:v>
                </c:pt>
                <c:pt idx="3">
                  <c:v>3.58</c:v>
                </c:pt>
                <c:pt idx="4">
                  <c:v>3.02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3EB-4255-B724-0442C0298E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1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2.5"/>
        </c:scaling>
        <c:delete val="0"/>
        <c:axPos val="l"/>
        <c:majorGridlines>
          <c:spPr>
            <a:ln w="6350" cap="flat">
              <a:solidFill>
                <a:srgbClr val="F0EE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04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480560"/>
            <a:ext cx="8979408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4553712"/>
            <a:ext cx="32004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64992" y="4553712"/>
            <a:ext cx="320040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65392" y="4553712"/>
            <a:ext cx="2578608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640080"/>
            <a:ext cx="2103120" cy="10515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731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47%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66560" y="12984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SLA breach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965960"/>
            <a:ext cx="2103120" cy="10515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057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4,12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66560" y="2624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CSAT /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3291840"/>
            <a:ext cx="2103120" cy="10515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3383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0.78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3950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AUC-ROC modèle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Customer Support &amp;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7200" y="11430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F77DD"/>
                </a:solidFill>
              </a:rPr>
              <a:t>Complaint Analytics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109728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03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A9EC"/>
                </a:solidFill>
              </a:rPr>
              <a:t>Synthèse des recommandations business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560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7DD"/>
                </a:solidFill>
              </a:rPr>
              <a:t>AfriCare Services · 8 pays · 15 287 tickets · Jan 2022 — Juin 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7DD"/>
                </a:solidFill>
              </a:rPr>
              <a:t>DataProjectLab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635"/>
          </a:solidFill>
          <a:ln w="12700">
            <a:solidFill>
              <a:srgbClr val="1A1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Résumé exécutif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9EC"/>
                </a:solidFill>
              </a:rPr>
              <a:t>4 insights clés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FFF1F1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91440" cy="18288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4B4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35"/>
                </a:solidFill>
              </a:rPr>
              <a:t>SLA en crise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1344168"/>
            <a:ext cx="3108960" cy="228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356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</a:rPr>
              <a:t>47% des tickets dépassent leur SLA — 10× l'objectif de 10%. Concentré sur 3 catégories : Fraude, Escalade juridique, Panne technique.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91440" cy="18288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78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9601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35"/>
                </a:solidFill>
              </a:rPr>
              <a:t>Agents déséquilibrés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1344168"/>
            <a:ext cx="3108960" cy="228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356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</a:rPr>
              <a:t>30 points d'écart de breach entre Tier 1 et Tier 3. Les 3 agents Tier 1 à fort breach concentrent 60% des violations évitables.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160520" cy="1828800"/>
          </a:xfrm>
          <a:prstGeom prst="rect">
            <a:avLst/>
          </a:prstGeom>
          <a:solidFill>
            <a:srgbClr val="F0FBF6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80360"/>
            <a:ext cx="91440" cy="1828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90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35"/>
                </a:solidFill>
              </a:rPr>
              <a:t>CSAT sous pression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3355848"/>
            <a:ext cx="3108960" cy="228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472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</a:rPr>
              <a:t>CSAT moyen 4,12/5 mais chute à 3,0 pour les résolutions &gt; 3 jours. Le weekend génère +18% de breach — couverture insuffisante.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160520" cy="1828800"/>
          </a:xfrm>
          <a:prstGeom prst="rect">
            <a:avLst/>
          </a:prstGeom>
          <a:solidFill>
            <a:srgbClr val="EEEDFE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880360"/>
            <a:ext cx="91440" cy="1828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90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34AB7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29718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35"/>
                </a:solidFill>
              </a:rPr>
              <a:t>ML opérationnel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3355848"/>
            <a:ext cx="3108960" cy="228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4472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</a:rPr>
              <a:t>Modèle Random Forest : AUC-ROC 0,78, Recall 82%. 43 tickets ROUGE détectés dès la création — intervention avant le breach.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635"/>
          </a:solidFill>
          <a:ln w="12700">
            <a:solidFill>
              <a:srgbClr val="1A1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Diagnostic SLA — État des lieux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82296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64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CRITIQUE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65176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24B4A"/>
                </a:solidFill>
              </a:rPr>
              <a:t>47,3%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635"/>
                </a:solidFill>
              </a:rPr>
              <a:t>Taux SLA breach global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780"/>
                </a:solidFill>
              </a:rPr>
              <a:t>Objectif : &lt; 10%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65176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8961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</a:rPr>
              <a:t>61h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15468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635"/>
                </a:solidFill>
              </a:rPr>
              <a:t>Résolution moyenne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780"/>
                </a:solidFill>
              </a:rPr>
              <a:t>SLA cible : variable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8961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</a:rPr>
              <a:t>7,4%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03504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635"/>
                </a:solidFill>
              </a:rPr>
              <a:t>Taux de backlog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780"/>
                </a:solidFill>
              </a:rPr>
              <a:t>Objectif : &lt; 3%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24028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806440" y="2240280"/>
            <a:ext cx="3063240" cy="2651760"/>
          </a:xfrm>
          <a:prstGeom prst="rect">
            <a:avLst/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2240280"/>
            <a:ext cx="306324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22402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Recommandations prioritaires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61888" y="2788920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36208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5C"/>
                </a:solidFill>
              </a:rPr>
              <a:t>Réduire les SLA contractuels sur Fraude et Panne technique — actuellement irréalistes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61888" y="3300984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36208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5C"/>
                </a:solidFill>
              </a:rPr>
              <a:t>Créer une rotation weekend dédiée : +18% de breach Sam/Dim faute de couverture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61888" y="3813048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36208" y="3785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5C"/>
                </a:solidFill>
              </a:rPr>
              <a:t>Prioriser les catégories breach &gt; 50% avec un supervisor dédié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61888" y="4325112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36208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5C"/>
                </a:solidFill>
              </a:rPr>
              <a:t>Mettre en place une alerte automatique à 90% du SLA consommé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635"/>
          </a:solidFill>
          <a:ln w="12700">
            <a:solidFill>
              <a:srgbClr val="1A1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Performance des agents — Matrice décisionnelle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F0FBF6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PERFORMERS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Faible breach · CSAT élevé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Aya Touré, J.M. Dubois, O. Martin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Action : valoriser, mentor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20700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Breach modéré · CSAT moyen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A. Diallo, I. Coulibaly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Action : coaching ciblé SLA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206240" cy="1828800"/>
          </a:xfrm>
          <a:prstGeom prst="rect">
            <a:avLst/>
          </a:prstGeom>
          <a:solidFill>
            <a:srgbClr val="EEEDFE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43200"/>
            <a:ext cx="4206240" cy="32918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43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BONS MAIS SURCHARGÉS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Faible breach · CSAT moyen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F. Sow, S. Acheampong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Action : réduire la charge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206240" cy="1828800"/>
          </a:xfrm>
          <a:prstGeom prst="rect">
            <a:avLst/>
          </a:prstGeom>
          <a:solidFill>
            <a:srgbClr val="FFF1F1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43200"/>
            <a:ext cx="4206240" cy="3291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43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COACHING URGENT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127248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Breach &gt; 50% · CSAT &lt; 3,8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M. Koné, R. Diaby, A. Ba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635"/>
                </a:solidFill>
              </a:rPr>
              <a:t>Action : plan d'accompagnement 30j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780"/>
                </a:solidFill>
              </a:rPr>
              <a:t>← CSAT élevé / CSAT faible 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 rot="16200000">
            <a:off x="-777241" y="667512"/>
            <a:ext cx="1828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780"/>
                </a:solidFill>
              </a:rPr>
              <a:t>← Breach faible / Breach élevé →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635"/>
          </a:solidFill>
          <a:ln w="12700">
            <a:solidFill>
              <a:srgbClr val="1A1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Satisfaction client — Analyse CSAT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9F27"/>
                </a:solidFill>
              </a:rPr>
              <a:t>4,12/5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635"/>
                </a:solidFill>
              </a:rPr>
              <a:t>CSAT global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780"/>
                </a:solidFill>
              </a:rPr>
              <a:t>Objectif : 4,50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65176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896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</a:rPr>
              <a:t>8,4%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54680" y="1444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635"/>
                </a:solidFill>
              </a:rPr>
              <a:t>Avis 1-2 étoiles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780"/>
                </a:solidFill>
              </a:rPr>
              <a:t>Objectif : &lt; 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896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</a:rPr>
              <a:t>-1,6 pts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1444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635"/>
                </a:solidFill>
              </a:rPr>
              <a:t>Impact délai &gt; 3j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780"/>
                </a:solidFill>
              </a:rPr>
              <a:t>vs résolution &lt; 4h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176272"/>
          <a:ext cx="50292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532120" y="2176272"/>
            <a:ext cx="33375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32120" y="2176272"/>
            <a:ext cx="333756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2176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Leviers d'amélioration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0" y="2697480"/>
            <a:ext cx="29260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35040" y="26791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Ramener le délai moyen à &lt; 24h pour 90% des tickets non-urgents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669280" y="3200400"/>
            <a:ext cx="29260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035040" y="31821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Objectif CSAT 4,50 atteignable si délai &lt; 4h pour les priorités 1-2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0" y="3703320"/>
            <a:ext cx="29260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📊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035040" y="36850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Canal Chat : meilleur CSAT (4,38) — à développer pour les urgences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669280" y="4206240"/>
            <a:ext cx="29260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⚠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35040" y="41879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Catégorie Fraude : note 3,42 — traitement trop lent selon les clients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635"/>
          </a:solidFill>
          <a:ln w="12700">
            <a:solidFill>
              <a:srgbClr val="1A1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Modèle ML — Système de détection précoce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00584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PREMIUM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96596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869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34AB7"/>
                </a:solidFill>
              </a:rPr>
              <a:t>0,663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435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635"/>
                </a:solidFill>
              </a:rPr>
              <a:t>AUC-ROC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22960"/>
            <a:ext cx="196596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8869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</a:rPr>
              <a:t>79,6%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1435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635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22960"/>
            <a:ext cx="196596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8869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9F27"/>
                </a:solidFill>
              </a:rPr>
              <a:t>0,671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1435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635"/>
                </a:solidFill>
              </a:rPr>
              <a:t>F1-Score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822960"/>
            <a:ext cx="1965960" cy="64008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8869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88780"/>
                </a:solidFill>
              </a:rPr>
              <a:t>0,40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20840" y="1435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635"/>
                </a:solidFill>
              </a:rPr>
              <a:t>Seuil opt.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011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635"/>
                </a:solidFill>
              </a:rPr>
              <a:t>Système de niveaux d'alerte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395728"/>
            <a:ext cx="8595360" cy="566928"/>
          </a:xfrm>
          <a:prstGeom prst="rect">
            <a:avLst/>
          </a:prstGeom>
          <a:solidFill>
            <a:srgbClr val="FFF1F1"/>
          </a:solidFill>
          <a:ln w="12700">
            <a:solidFill>
              <a:srgbClr val="E8E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395728"/>
            <a:ext cx="109728" cy="56692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505456"/>
            <a:ext cx="50292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5054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 &gt; 0.70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9728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35"/>
                </a:solidFill>
              </a:rPr>
              <a:t>ROUGE — Intervention immédiate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268833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Superviseur notifié immédiatement · Blocage préventif possible · Ticket traité &lt; 1h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054096"/>
            <a:ext cx="8595360" cy="566928"/>
          </a:xfrm>
          <a:prstGeom prst="rect">
            <a:avLst/>
          </a:prstGeom>
          <a:solidFill>
            <a:srgbClr val="FFFBF0"/>
          </a:solidFill>
          <a:ln w="12700">
            <a:solidFill>
              <a:srgbClr val="E8E6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54096"/>
            <a:ext cx="109728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163824"/>
            <a:ext cx="502920" cy="3474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638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 &gt; 0.45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280" y="3099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35"/>
                </a:solidFill>
              </a:rPr>
              <a:t>ORANGE — Surveiller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334670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File prioritaire agents Tier 2-3 · Vérification dans les 4h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712464"/>
            <a:ext cx="8595360" cy="566928"/>
          </a:xfrm>
          <a:prstGeom prst="rect">
            <a:avLst/>
          </a:prstGeom>
          <a:solidFill>
            <a:srgbClr val="FFFDF5"/>
          </a:solidFill>
          <a:ln w="12700">
            <a:solidFill>
              <a:srgbClr val="E8E6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12464"/>
            <a:ext cx="109728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822192"/>
            <a:ext cx="502920" cy="3474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221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 &gt; 0.25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9728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35"/>
                </a:solidFill>
              </a:rPr>
              <a:t>JAUNE — Attention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" y="40050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Traitement dans l'ordre normal · Suivi automatique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370832"/>
            <a:ext cx="8595360" cy="566928"/>
          </a:xfrm>
          <a:prstGeom prst="rect">
            <a:avLst/>
          </a:prstGeom>
          <a:solidFill>
            <a:srgbClr val="F0FBF6"/>
          </a:solidFill>
          <a:ln w="12700">
            <a:solidFill>
              <a:srgbClr val="E8E6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370832"/>
            <a:ext cx="109728" cy="5669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4480560"/>
            <a:ext cx="50292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480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 ≤ 0.25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97280" y="4416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35"/>
                </a:solidFill>
              </a:rPr>
              <a:t>VERT — Normal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97280" y="46634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1"/>
                </a:solidFill>
              </a:rPr>
              <a:t>File standard · Pas d'action spécifique requise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635"/>
          </a:solidFill>
          <a:ln w="12700">
            <a:solidFill>
              <a:srgbClr val="1A1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d'action — Roadmap 90 jours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80160"/>
          </a:xfrm>
          <a:prstGeom prst="rect">
            <a:avLst/>
          </a:prstGeom>
          <a:solidFill>
            <a:srgbClr val="FFF1F1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Immédiat (J0 → J30)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71016"/>
            <a:ext cx="146304" cy="14630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Déployer le système d'alerte ML en production (tickets ROUGE → file prioritaire)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71016"/>
            <a:ext cx="146304" cy="14630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Planifier des sessions coaching pour les 3 agents Tier 1 en difficulté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673352"/>
            <a:ext cx="146304" cy="14630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63677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Créer une rotation weekend pour les catégories Fraude et Panne technique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673352"/>
            <a:ext cx="146304" cy="14630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63677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Mettre en place des alertes SLA à 90% du délai contractuel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8595360" cy="1280160"/>
          </a:xfrm>
          <a:prstGeom prst="rect">
            <a:avLst/>
          </a:prstGeom>
          <a:solidFill>
            <a:srgbClr val="FFFBF0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21992"/>
            <a:ext cx="8595360" cy="3474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40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Court terme (J30 → J60)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146304" cy="146304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6517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Renégocier les SLA Fraude (60h → 90h) et Panne technique (120h → 180h)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688336"/>
            <a:ext cx="146304" cy="146304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6517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Équilibrer la charge des agents Tier 1 (max 40 tickets actifs simultanés)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146304" cy="146304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0540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Lancer un programme de certification Tier 2 pour les meilleurs Tier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090672"/>
            <a:ext cx="146304" cy="146304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0540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Déployer le canal Chat pour les urgences priorités 1-2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8595360" cy="1280160"/>
          </a:xfrm>
          <a:prstGeom prst="rect">
            <a:avLst/>
          </a:prstGeom>
          <a:solidFill>
            <a:srgbClr val="F0FBF6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39312"/>
            <a:ext cx="859536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Consolidation (J60 → J90)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05656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069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Mesurer l'impact : cible SLA breach &lt; 25% (vs 47% actuellement)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4105656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4069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Objectif CSAT : 4,35/5 (vs 4,12 actuellement)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507992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4714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Affiner le modèle ML avec 3 mois de données nouvelles (retraining)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4507992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4714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635"/>
                </a:solidFill>
              </a:rPr>
              <a:t>Présenter le bilan au comité de direction avec les métriques d'impact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Impact attendu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A9EC"/>
                </a:solidFill>
              </a:rPr>
              <a:t>Si les 3 phases du plan sont déployées d'ici 90 jours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011680" cy="2194560"/>
          </a:xfrm>
          <a:prstGeom prst="rect">
            <a:avLst/>
          </a:prstGeom>
          <a:solidFill>
            <a:srgbClr val="26215C"/>
          </a:solidFill>
          <a:ln w="12700">
            <a:solidFill>
              <a:srgbClr val="3C34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77DD"/>
                </a:solidFill>
              </a:rPr>
              <a:t>47%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0" y="2121408"/>
            <a:ext cx="731520" cy="36576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9E75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</a:rPr>
              <a:t>&lt; 25%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</a:rPr>
              <a:t>Taux SLA breach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28016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635"/>
                </a:solidFill>
              </a:rPr>
              <a:t>-22 pts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508760"/>
            <a:ext cx="2011680" cy="2194560"/>
          </a:xfrm>
          <a:prstGeom prst="rect">
            <a:avLst/>
          </a:prstGeom>
          <a:solidFill>
            <a:srgbClr val="26215C"/>
          </a:solidFill>
          <a:ln w="12700">
            <a:solidFill>
              <a:srgbClr val="3C34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77DD"/>
                </a:solidFill>
              </a:rPr>
              <a:t>4,12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154680" y="2121408"/>
            <a:ext cx="731520" cy="36576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9E75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2450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</a:rPr>
              <a:t>4,35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1460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</a:rPr>
              <a:t>CSAT moyen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80360" y="3291840"/>
            <a:ext cx="128016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635"/>
                </a:solidFill>
              </a:rPr>
              <a:t>+0,23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2011680" cy="2194560"/>
          </a:xfrm>
          <a:prstGeom prst="rect">
            <a:avLst/>
          </a:prstGeom>
          <a:solidFill>
            <a:srgbClr val="26215C"/>
          </a:solidFill>
          <a:ln w="12700">
            <a:solidFill>
              <a:srgbClr val="3C34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77DD"/>
                </a:solidFill>
              </a:rPr>
              <a:t>0%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303520" y="2121408"/>
            <a:ext cx="731520" cy="36576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34AB7"/>
                </a:solidFill>
              </a:rPr>
              <a:t>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2450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34AB7"/>
                </a:solidFill>
              </a:rPr>
              <a:t>100%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66344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</a:rPr>
              <a:t>Tickets ML scorés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3291840"/>
            <a:ext cx="128016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635"/>
                </a:solidFill>
              </a:rPr>
              <a:t>dès J+30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12280" y="1508760"/>
            <a:ext cx="2011680" cy="2194560"/>
          </a:xfrm>
          <a:prstGeom prst="rect">
            <a:avLst/>
          </a:prstGeom>
          <a:solidFill>
            <a:srgbClr val="26215C"/>
          </a:solidFill>
          <a:ln w="12700">
            <a:solidFill>
              <a:srgbClr val="3C348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F77DD"/>
                </a:solidFill>
              </a:rPr>
              <a:t>60%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7452360" y="2121408"/>
            <a:ext cx="731520" cy="36576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9E75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2450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</a:rPr>
              <a:t>&lt; 30%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1228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</a:rPr>
              <a:t>Breach agents Tier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3291840"/>
            <a:ext cx="128016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635"/>
                </a:solidFill>
              </a:rPr>
              <a:t>-30 pts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77DD"/>
                </a:solidFill>
              </a:rPr>
              <a:t>"Passer de la réaction à la prévention — c'est l'objectif du projet."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34AB7"/>
                </a:solidFill>
              </a:rPr>
              <a:t>DataProjectLab · AfriCare Services Trust &amp; Support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808</Words>
  <Application>Microsoft Office PowerPoint</Application>
  <PresentationFormat>Affichage à l'écran (16:9)</PresentationFormat>
  <Paragraphs>152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Analytics — Recommandations Business</dc:title>
  <dc:subject>PptxGenJS Presentation</dc:subject>
  <dc:creator>DataProjectLab</dc:creator>
  <cp:lastModifiedBy>SOUMAHORO Youssouf</cp:lastModifiedBy>
  <cp:revision>2</cp:revision>
  <dcterms:created xsi:type="dcterms:W3CDTF">2026-04-08T12:48:41Z</dcterms:created>
  <dcterms:modified xsi:type="dcterms:W3CDTF">2026-04-08T13:33:09Z</dcterms:modified>
</cp:coreProperties>
</file>