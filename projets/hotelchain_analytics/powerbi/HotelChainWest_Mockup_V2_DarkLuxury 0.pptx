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69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0E6D3">
              <a:alpha val="6000"/>
            </a:srgbClr>
          </a:solidFill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4572000"/>
            <a:ext cx="9144000" cy="0"/>
          </a:xfrm>
          <a:prstGeom prst="line">
            <a:avLst/>
          </a:prstGeom>
          <a:noFill/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kern="0" spc="1800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kern="0" spc="1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WEST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8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530352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71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 ·  5 pages  ·  12 mesures DAX  ·  SQL 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7588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7 992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1330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39696" y="3675888"/>
            <a:ext cx="0" cy="749808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367588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2.87 Mrd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12848" y="41330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REVENU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95344" y="3675888"/>
            <a:ext cx="0" cy="749808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8496" y="367588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4.01/5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68496" y="41330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50992" y="3675888"/>
            <a:ext cx="0" cy="749808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24144" y="367588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24144" y="41330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06640" y="3675888"/>
            <a:ext cx="0" cy="749808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9792" y="367588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hôtels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79792" y="41330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C9A84C">
              <a:alpha val="15000"/>
            </a:srgbClr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Vue executive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10512" y="4846320"/>
            <a:ext cx="0" cy="219456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Occupation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39312" y="4846320"/>
            <a:ext cx="0" cy="219456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Revenus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68112" y="4846320"/>
            <a:ext cx="0" cy="219456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Clients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96912" y="4846320"/>
            <a:ext cx="0" cy="219456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773168"/>
            <a:ext cx="17190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Extras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" y="8595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" y="8595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— 2024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914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executive — HotelChain West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914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Jun 2024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55648" y="877824"/>
            <a:ext cx="1792224" cy="8961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3936" y="877824"/>
            <a:ext cx="175564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98755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2.87 Mrd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920240" y="135331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REVENU TOTAL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20240" y="1499616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2 874 928 662 FCFA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21024" y="877824"/>
            <a:ext cx="1792224" cy="8961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9312" y="877824"/>
            <a:ext cx="1755648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85616" y="98755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4.01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785616" y="135331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MOYEN GLOBAL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85616" y="1499616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séjours terminés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77256" y="877824"/>
            <a:ext cx="1792224" cy="8961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95544" y="877824"/>
            <a:ext cx="1755648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41848" y="98755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641848" y="135331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ANNULATION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41848" y="1499616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 secteur : 5-15%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60336" y="877824"/>
            <a:ext cx="1773936" cy="8961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78624" y="877824"/>
            <a:ext cx="1737360" cy="36576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24928" y="98755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19 978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7424928" y="13533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NUITS VENDUES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24928" y="149961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 chambres · 30 mois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755648" y="1901952"/>
            <a:ext cx="4773168" cy="1737360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83664" y="19568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RevPAR mensuel par hotel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956816" y="3383280"/>
            <a:ext cx="4370832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11680" y="2816352"/>
            <a:ext cx="347472" cy="0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59152" y="2743200"/>
            <a:ext cx="347472" cy="36576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06624" y="2779776"/>
            <a:ext cx="347472" cy="0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54096" y="2706624"/>
            <a:ext cx="347472" cy="146304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01568" y="2852928"/>
            <a:ext cx="347472" cy="0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0" y="2724912"/>
            <a:ext cx="347472" cy="0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96512" y="2651760"/>
            <a:ext cx="347472" cy="128016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43984" y="2779776"/>
            <a:ext cx="347472" cy="128016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91456" y="2907792"/>
            <a:ext cx="347472" cy="0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38928" y="2816352"/>
            <a:ext cx="347472" cy="0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0" y="2724912"/>
            <a:ext cx="347472" cy="0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33872" y="2670048"/>
            <a:ext cx="329184" cy="0"/>
          </a:xfrm>
          <a:prstGeom prst="line">
            <a:avLst/>
          </a:prstGeom>
          <a:noFill/>
          <a:ln w="25400">
            <a:solidFill>
              <a:srgbClr val="4CAF7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11680" y="2980944"/>
            <a:ext cx="34747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59152" y="2907792"/>
            <a:ext cx="347472" cy="36576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06624" y="2944368"/>
            <a:ext cx="34747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54096" y="2871216"/>
            <a:ext cx="347472" cy="109728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01568" y="2980944"/>
            <a:ext cx="34747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749040" y="2852928"/>
            <a:ext cx="34747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096512" y="2816352"/>
            <a:ext cx="347472" cy="109728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43984" y="2926080"/>
            <a:ext cx="347472" cy="109728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91456" y="3035808"/>
            <a:ext cx="34747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138928" y="2944368"/>
            <a:ext cx="34747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86400" y="2889504"/>
            <a:ext cx="347472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33872" y="2834640"/>
            <a:ext cx="329184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011680" y="3090672"/>
            <a:ext cx="347472" cy="128016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59152" y="3218688"/>
            <a:ext cx="347472" cy="0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06624" y="3072384"/>
            <a:ext cx="347472" cy="36576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054096" y="3108960"/>
            <a:ext cx="347472" cy="0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401568" y="3072384"/>
            <a:ext cx="347472" cy="73152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49040" y="3145536"/>
            <a:ext cx="347472" cy="0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96512" y="3017520"/>
            <a:ext cx="347472" cy="73152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443984" y="3090672"/>
            <a:ext cx="347472" cy="0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91456" y="2999232"/>
            <a:ext cx="347472" cy="73152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138928" y="3072384"/>
            <a:ext cx="347472" cy="0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0" y="2999232"/>
            <a:ext cx="347472" cy="36576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33872" y="3035808"/>
            <a:ext cx="329184" cy="0"/>
          </a:xfrm>
          <a:prstGeom prst="line">
            <a:avLst/>
          </a:prstGeom>
          <a:noFill/>
          <a:ln w="25400">
            <a:solidFill>
              <a:srgbClr val="F0E6D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11680" y="3182112"/>
            <a:ext cx="347472" cy="0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59152" y="3127248"/>
            <a:ext cx="347472" cy="36576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06624" y="3163824"/>
            <a:ext cx="347472" cy="36576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54096" y="3200400"/>
            <a:ext cx="347472" cy="0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01568" y="3145536"/>
            <a:ext cx="347472" cy="73152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0" y="3218688"/>
            <a:ext cx="347472" cy="0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96512" y="3127248"/>
            <a:ext cx="347472" cy="36576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443984" y="3163824"/>
            <a:ext cx="347472" cy="36576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91456" y="3200400"/>
            <a:ext cx="347472" cy="0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138928" y="3145536"/>
            <a:ext cx="347472" cy="36576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86400" y="3182112"/>
            <a:ext cx="347472" cy="18288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33872" y="3200400"/>
            <a:ext cx="329184" cy="0"/>
          </a:xfrm>
          <a:prstGeom prst="line">
            <a:avLst/>
          </a:prstGeom>
          <a:noFill/>
          <a:ln w="25400">
            <a:solidFill>
              <a:srgbClr val="C98A4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011680" y="3273552"/>
            <a:ext cx="347472" cy="18288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359152" y="3291840"/>
            <a:ext cx="347472" cy="0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06624" y="3255264"/>
            <a:ext cx="347472" cy="36576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54096" y="3291840"/>
            <a:ext cx="347472" cy="0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401568" y="3255264"/>
            <a:ext cx="347472" cy="36576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749040" y="3291840"/>
            <a:ext cx="347472" cy="0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96512" y="3255264"/>
            <a:ext cx="347472" cy="36576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443984" y="3291840"/>
            <a:ext cx="347472" cy="0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91456" y="3255264"/>
            <a:ext cx="347472" cy="36576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138928" y="3291840"/>
            <a:ext cx="347472" cy="0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486400" y="3255264"/>
            <a:ext cx="347472" cy="18288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833872" y="3273552"/>
            <a:ext cx="329184" cy="18288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956816" y="34015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798064" y="34015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3639312" y="34015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4480560" y="34015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321808" y="34015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63056" y="340156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1956816" y="3566160"/>
            <a:ext cx="146304" cy="6400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139696" y="35295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2889504" y="3566160"/>
            <a:ext cx="146304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072384" y="35295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Cocody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3822192" y="3566160"/>
            <a:ext cx="146304" cy="64008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005072" y="35295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4754880" y="3566160"/>
            <a:ext cx="146304" cy="64008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937760" y="35295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5687568" y="3566160"/>
            <a:ext cx="146304" cy="64008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870448" y="352958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565392" y="1901952"/>
            <a:ext cx="2468880" cy="1737360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675120" y="195681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Canaux par revenu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6675120" y="22677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7845552" y="2331720"/>
            <a:ext cx="96012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845552" y="2331720"/>
            <a:ext cx="96012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833104" y="226771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881 M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6675120" y="2523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7845552" y="2587752"/>
            <a:ext cx="96012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845552" y="2587752"/>
            <a:ext cx="883310" cy="914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833104" y="252374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 M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6675120" y="27797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voy.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7845552" y="2843784"/>
            <a:ext cx="96012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845552" y="2843784"/>
            <a:ext cx="451256" cy="9144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833104" y="27797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 M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6675120" y="30358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7845552" y="3099816"/>
            <a:ext cx="96012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845552" y="3099816"/>
            <a:ext cx="441655" cy="91440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833104" y="30358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9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M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6675120" y="32918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7845552" y="3355848"/>
            <a:ext cx="96012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845552" y="3355848"/>
            <a:ext cx="288036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833104" y="32918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 M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1755648" y="3767328"/>
            <a:ext cx="7315200" cy="129844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883664" y="3822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 revenus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1883664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chambres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3858768" y="4178808"/>
            <a:ext cx="338328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858768" y="4178808"/>
            <a:ext cx="3085551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296912" y="41148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2 874 928 662 FCFA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1883664" y="43708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extras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3858768" y="4434840"/>
            <a:ext cx="338328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858768" y="4434840"/>
            <a:ext cx="297729" cy="914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296912" y="437083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278 143 196 FCFA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1883664" y="4626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consolidé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858768" y="4690872"/>
            <a:ext cx="338328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858768" y="4690872"/>
            <a:ext cx="3383280" cy="9144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296912" y="46268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3 153 071 858 FCFA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" y="15453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" y="15453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— 2024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914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Occupation &amp; Saisonnalité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914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19 978 nuits vendues  ·  Taux moyen 4.4%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55648" y="841248"/>
            <a:ext cx="2377440" cy="7680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5648" y="841248"/>
            <a:ext cx="45720" cy="76809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896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8.5%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920240" y="1280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— Douala Août 2023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42816" y="841248"/>
            <a:ext cx="2377440" cy="7680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42816" y="841248"/>
            <a:ext cx="45720" cy="768096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896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4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407408" y="1280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CREUX — Accra Mars 2023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9984" y="841248"/>
            <a:ext cx="2377440" cy="7680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9984" y="841248"/>
            <a:ext cx="45720" cy="7680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896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894576" y="12801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— Douala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755648" y="1737360"/>
            <a:ext cx="7315200" cy="226771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83664" y="17922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Taux d'occupation 2023 — hotel × mois (%)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22576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98064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73552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49040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224528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00016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75504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50992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26480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601968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77456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52944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773936" y="230428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322576" y="2304288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22576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98064" y="2304288"/>
            <a:ext cx="457200" cy="256032"/>
          </a:xfrm>
          <a:prstGeom prst="rect">
            <a:avLst/>
          </a:prstGeom>
          <a:solidFill>
            <a:srgbClr val="C9A84C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98064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273552" y="2304288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73552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749040" y="2304288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0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224528" y="2304288"/>
            <a:ext cx="457200" cy="256032"/>
          </a:xfrm>
          <a:prstGeom prst="rect">
            <a:avLst/>
          </a:prstGeom>
          <a:solidFill>
            <a:srgbClr val="C9A84C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24528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700016" y="2304288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00016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175504" y="2304288"/>
            <a:ext cx="457200" cy="256032"/>
          </a:xfrm>
          <a:prstGeom prst="rect">
            <a:avLst/>
          </a:prstGeom>
          <a:solidFill>
            <a:srgbClr val="C9A84C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75504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650992" y="2304288"/>
            <a:ext cx="457200" cy="256032"/>
          </a:xfrm>
          <a:prstGeom prst="rect">
            <a:avLst/>
          </a:prstGeom>
          <a:solidFill>
            <a:srgbClr val="C9A84C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50992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126480" y="2304288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26480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601968" y="2304288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01968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077456" y="2304288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77456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552944" y="2304288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52944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773936" y="25968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Cocody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322576" y="2596896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22576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798064" y="2596896"/>
            <a:ext cx="457200" cy="256032"/>
          </a:xfrm>
          <a:prstGeom prst="rect">
            <a:avLst/>
          </a:prstGeom>
          <a:solidFill>
            <a:srgbClr val="C9A84C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98064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273552" y="2596896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73552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749040" y="2596896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749040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224528" y="2596896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24528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700016" y="2596896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00016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175504" y="2596896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175504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650992" y="2596896"/>
            <a:ext cx="457200" cy="256032"/>
          </a:xfrm>
          <a:prstGeom prst="rect">
            <a:avLst/>
          </a:prstGeom>
          <a:solidFill>
            <a:srgbClr val="C9A84C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50992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126480" y="2596896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26480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6601968" y="2596896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01968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7077456" y="2596896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077456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7552944" y="2596896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552944" y="2596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1773936" y="2889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2322576" y="2889504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322576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2798064" y="2889504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98064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3273552" y="2889504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273552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749040" y="2889504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749040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224528" y="2889504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224528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4700016" y="2889504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700016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5175504" y="2889504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175504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5650992" y="2889504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650992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6126480" y="2889504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26480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6601968" y="2889504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01968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7077456" y="2889504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077456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7552944" y="2889504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552944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1773936" y="31821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2322576" y="3182112"/>
            <a:ext cx="457200" cy="256032"/>
          </a:xfrm>
          <a:prstGeom prst="rect">
            <a:avLst/>
          </a:prstGeom>
          <a:solidFill>
            <a:srgbClr val="9A7A2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322576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2798064" y="3182112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798064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3273552" y="3182112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273552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3749040" y="3182112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749040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4224528" y="3182112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224528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4700016" y="3182112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700016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175504" y="3182112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175504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5650992" y="3182112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650992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6126480" y="3182112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126480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6601968" y="3182112"/>
            <a:ext cx="457200" cy="256032"/>
          </a:xfrm>
          <a:prstGeom prst="rect">
            <a:avLst/>
          </a:prstGeom>
          <a:solidFill>
            <a:srgbClr val="5A4820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601968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7077456" y="3182112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077456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7552944" y="3182112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552944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1773936" y="347472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2322576" y="3474720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322576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2798064" y="3474720"/>
            <a:ext cx="457200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798064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3273552" y="3474720"/>
            <a:ext cx="457200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273552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3749040" y="3474720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749040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4224528" y="3474720"/>
            <a:ext cx="457200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224528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4700016" y="3474720"/>
            <a:ext cx="457200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700016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5175504" y="3474720"/>
            <a:ext cx="457200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175504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5650992" y="3474720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5650992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6126480" y="3474720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126480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6601968" y="3474720"/>
            <a:ext cx="457200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601968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7077456" y="3474720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7077456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7552944" y="3474720"/>
            <a:ext cx="457200" cy="256032"/>
          </a:xfrm>
          <a:prstGeom prst="rect">
            <a:avLst/>
          </a:prstGeom>
          <a:solidFill>
            <a:srgbClr val="352C14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552944" y="3474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1773936" y="3749040"/>
            <a:ext cx="292608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103120" y="3749040"/>
            <a:ext cx="292608" cy="128016"/>
          </a:xfrm>
          <a:prstGeom prst="rect">
            <a:avLst/>
          </a:prstGeom>
          <a:solidFill>
            <a:srgbClr val="352C14"/>
          </a:solidFill>
          <a:ln w="12700">
            <a:solidFill>
              <a:srgbClr val="352C14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432304" y="3749040"/>
            <a:ext cx="292608" cy="128016"/>
          </a:xfrm>
          <a:prstGeom prst="rect">
            <a:avLst/>
          </a:prstGeom>
          <a:solidFill>
            <a:srgbClr val="5A4820"/>
          </a:solidFill>
          <a:ln w="12700">
            <a:solidFill>
              <a:srgbClr val="5A482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761488" y="3749040"/>
            <a:ext cx="292608" cy="128016"/>
          </a:xfrm>
          <a:prstGeom prst="rect">
            <a:avLst/>
          </a:prstGeom>
          <a:solidFill>
            <a:srgbClr val="9A7A2E"/>
          </a:solidFill>
          <a:ln w="12700">
            <a:solidFill>
              <a:srgbClr val="9A7A2E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090672" y="3749040"/>
            <a:ext cx="292608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773936" y="389534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750" dirty="0"/>
          </a:p>
        </p:txBody>
      </p:sp>
      <p:sp>
        <p:nvSpPr>
          <p:cNvPr id="186" name="Text 184"/>
          <p:cNvSpPr/>
          <p:nvPr/>
        </p:nvSpPr>
        <p:spPr>
          <a:xfrm>
            <a:off x="2724912" y="38953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1755648" y="4078224"/>
            <a:ext cx="7315200" cy="98755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883664" y="41330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 par hotel — RevPAR vs Stars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1883664" y="4407408"/>
            <a:ext cx="1353312" cy="548640"/>
          </a:xfrm>
          <a:prstGeom prst="rect">
            <a:avLst/>
          </a:prstGeom>
          <a:solidFill>
            <a:srgbClr val="4CAF7D">
              <a:alpha val="7000"/>
            </a:srgbClr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883664" y="4407408"/>
            <a:ext cx="1353312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938528" y="44622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 3★</a:t>
            </a:r>
            <a:endParaRPr lang="en-US" sz="850" dirty="0"/>
          </a:p>
        </p:txBody>
      </p:sp>
      <p:sp>
        <p:nvSpPr>
          <p:cNvPr id="192" name="Text 190"/>
          <p:cNvSpPr/>
          <p:nvPr/>
        </p:nvSpPr>
        <p:spPr>
          <a:xfrm>
            <a:off x="1938528" y="462686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8 154 FCFA</a:t>
            </a:r>
            <a:endParaRPr lang="en-US" sz="900" dirty="0"/>
          </a:p>
        </p:txBody>
      </p:sp>
      <p:sp>
        <p:nvSpPr>
          <p:cNvPr id="193" name="Text 191"/>
          <p:cNvSpPr/>
          <p:nvPr/>
        </p:nvSpPr>
        <p:spPr>
          <a:xfrm>
            <a:off x="1938528" y="478231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RevPAR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3319272" y="4407408"/>
            <a:ext cx="1353312" cy="548640"/>
          </a:xfrm>
          <a:prstGeom prst="rect">
            <a:avLst/>
          </a:prstGeom>
          <a:solidFill>
            <a:srgbClr val="C9A84C">
              <a:alpha val="7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319272" y="4407408"/>
            <a:ext cx="135331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3374136" y="44622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Cocody 3★</a:t>
            </a:r>
            <a:endParaRPr lang="en-US" sz="850" dirty="0"/>
          </a:p>
        </p:txBody>
      </p:sp>
      <p:sp>
        <p:nvSpPr>
          <p:cNvPr id="197" name="Text 195"/>
          <p:cNvSpPr/>
          <p:nvPr/>
        </p:nvSpPr>
        <p:spPr>
          <a:xfrm>
            <a:off x="3374136" y="462686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6 436 FCFA</a:t>
            </a:r>
            <a:endParaRPr lang="en-US" sz="900" dirty="0"/>
          </a:p>
        </p:txBody>
      </p:sp>
      <p:sp>
        <p:nvSpPr>
          <p:cNvPr id="198" name="Text 196"/>
          <p:cNvSpPr/>
          <p:nvPr/>
        </p:nvSpPr>
        <p:spPr>
          <a:xfrm>
            <a:off x="3374136" y="478231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4.05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>
            <a:off x="4754880" y="4407408"/>
            <a:ext cx="1353312" cy="548640"/>
          </a:xfrm>
          <a:prstGeom prst="rect">
            <a:avLst/>
          </a:prstGeom>
          <a:solidFill>
            <a:srgbClr val="F0E6D3">
              <a:alpha val="7000"/>
            </a:srgbClr>
          </a:solidFill>
          <a:ln w="6350">
            <a:solidFill>
              <a:srgbClr val="F0E6D3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754880" y="4407408"/>
            <a:ext cx="1353312" cy="36576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809744" y="44622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 4★</a:t>
            </a:r>
            <a:endParaRPr lang="en-US" sz="850" dirty="0"/>
          </a:p>
        </p:txBody>
      </p:sp>
      <p:sp>
        <p:nvSpPr>
          <p:cNvPr id="202" name="Text 200"/>
          <p:cNvSpPr/>
          <p:nvPr/>
        </p:nvSpPr>
        <p:spPr>
          <a:xfrm>
            <a:off x="4809744" y="462686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6 246 FCFA</a:t>
            </a:r>
            <a:endParaRPr lang="en-US" sz="900" dirty="0"/>
          </a:p>
        </p:txBody>
      </p:sp>
      <p:sp>
        <p:nvSpPr>
          <p:cNvPr id="203" name="Text 201"/>
          <p:cNvSpPr/>
          <p:nvPr/>
        </p:nvSpPr>
        <p:spPr>
          <a:xfrm>
            <a:off x="4809744" y="478231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élevé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190488" y="4407408"/>
            <a:ext cx="1353312" cy="548640"/>
          </a:xfrm>
          <a:prstGeom prst="rect">
            <a:avLst/>
          </a:prstGeom>
          <a:solidFill>
            <a:srgbClr val="C98A4C">
              <a:alpha val="7000"/>
            </a:srgbClr>
          </a:solidFill>
          <a:ln w="6350">
            <a:solidFill>
              <a:srgbClr val="C98A4C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190488" y="4407408"/>
            <a:ext cx="1353312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245352" y="44622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4★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6245352" y="462686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5 287 FCFA</a:t>
            </a:r>
            <a:endParaRPr lang="en-US" sz="900" dirty="0"/>
          </a:p>
        </p:txBody>
      </p:sp>
      <p:sp>
        <p:nvSpPr>
          <p:cNvPr id="208" name="Text 206"/>
          <p:cNvSpPr/>
          <p:nvPr/>
        </p:nvSpPr>
        <p:spPr>
          <a:xfrm>
            <a:off x="6245352" y="478231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 rang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7626096" y="4407408"/>
            <a:ext cx="1353312" cy="548640"/>
          </a:xfrm>
          <a:prstGeom prst="rect">
            <a:avLst/>
          </a:prstGeom>
          <a:solidFill>
            <a:srgbClr val="C94C4C">
              <a:alpha val="7000"/>
            </a:srgbClr>
          </a:solidFill>
          <a:ln w="6350">
            <a:solidFill>
              <a:srgbClr val="C94C4C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626096" y="4407408"/>
            <a:ext cx="1353312" cy="36576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680960" y="44622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5★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7680960" y="462686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4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4 851 FCFA</a:t>
            </a:r>
            <a:endParaRPr lang="en-US" sz="900" dirty="0"/>
          </a:p>
        </p:txBody>
      </p:sp>
      <p:sp>
        <p:nvSpPr>
          <p:cNvPr id="213" name="Text 211"/>
          <p:cNvSpPr/>
          <p:nvPr/>
        </p:nvSpPr>
        <p:spPr>
          <a:xfrm>
            <a:off x="7680960" y="478231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Sous-perf.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" y="22311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" y="22311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— 2024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914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Revenus &amp; Tarification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914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réel · RevPAR · Canaux · Types chambres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55648" y="841248"/>
            <a:ext cx="3566160" cy="239572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83664" y="896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 réel par type de chambre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83664" y="11155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valeurs SSMS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883664" y="13898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83664" y="157276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819 rés.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688336" y="1426464"/>
            <a:ext cx="2304288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88336" y="1426464"/>
            <a:ext cx="1696480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54960" y="1389888"/>
            <a:ext cx="0" cy="201168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047488" y="138988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294k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83664" y="181051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Deluxe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83664" y="199339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1832 rés.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88336" y="1847088"/>
            <a:ext cx="2304288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88336" y="1847088"/>
            <a:ext cx="861637" cy="12801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52531" y="1810512"/>
            <a:ext cx="0" cy="201168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047488" y="18105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83664" y="22311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Superieure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83664" y="241401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2666 rés.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688336" y="2267712"/>
            <a:ext cx="2304288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88336" y="2267712"/>
            <a:ext cx="576320" cy="12801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66396" y="2231136"/>
            <a:ext cx="0" cy="201168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5047488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883664" y="26517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883664" y="283464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3633 rés.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88336" y="2688336"/>
            <a:ext cx="2304288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88336" y="2688336"/>
            <a:ext cx="381844" cy="128016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98304" y="2651760"/>
            <a:ext cx="0" cy="201168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5047488" y="26517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883664" y="46634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pointillé = prix catalogue  |  Écart ~25%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376672" y="841248"/>
            <a:ext cx="3657600" cy="239572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0" y="8961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 × Taux occupation — Sweet spot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687568" y="2944368"/>
            <a:ext cx="320040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87568" y="1207008"/>
            <a:ext cx="0" cy="173736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65392" y="1517904"/>
            <a:ext cx="1645920" cy="1115568"/>
          </a:xfrm>
          <a:prstGeom prst="rect">
            <a:avLst/>
          </a:prstGeom>
          <a:solidFill>
            <a:srgbClr val="C9A84C">
              <a:alpha val="7000"/>
            </a:srgbClr>
          </a:solidFill>
          <a:ln w="6350">
            <a:solidFill>
              <a:srgbClr val="C9A84C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6858000" y="1901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sweet spot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664958" y="1975367"/>
            <a:ext cx="365760" cy="365760"/>
          </a:xfrm>
          <a:prstGeom prst="ellipse">
            <a:avLst/>
          </a:prstGeom>
          <a:solidFill>
            <a:srgbClr val="4CAF7D">
              <a:alpha val="80000"/>
            </a:srgbClr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36942" y="2359415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316915" y="2134301"/>
            <a:ext cx="365760" cy="365760"/>
          </a:xfrm>
          <a:prstGeom prst="ellipse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88899" y="2518349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Cocody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900862" y="1830159"/>
            <a:ext cx="365760" cy="365760"/>
          </a:xfrm>
          <a:prstGeom prst="ellipse">
            <a:avLst/>
          </a:prstGeom>
          <a:solidFill>
            <a:srgbClr val="F0E6D3">
              <a:alpha val="80000"/>
            </a:srgbClr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72846" y="2214207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632829" y="1821872"/>
            <a:ext cx="365760" cy="365760"/>
          </a:xfrm>
          <a:prstGeom prst="ellipse">
            <a:avLst/>
          </a:prstGeom>
          <a:solidFill>
            <a:srgbClr val="C98A4C">
              <a:alpha val="80000"/>
            </a:srgbClr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04813" y="220592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212777" y="1320000"/>
            <a:ext cx="365760" cy="365760"/>
          </a:xfrm>
          <a:prstGeom prst="ellipse">
            <a:avLst/>
          </a:prstGeom>
          <a:solidFill>
            <a:srgbClr val="C94C4C">
              <a:alpha val="80000"/>
            </a:srgbClr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84761" y="170404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87568" y="296265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occ. →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755648" y="3364992"/>
            <a:ext cx="7278624" cy="16824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83664" y="341985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RevPAR par hotel — toute période (FCFA/chambre disponible)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883664" y="3712464"/>
            <a:ext cx="1335024" cy="1225296"/>
          </a:xfrm>
          <a:prstGeom prst="rect">
            <a:avLst/>
          </a:prstGeom>
          <a:solidFill>
            <a:srgbClr val="232323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83664" y="3712464"/>
            <a:ext cx="1335024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56816" y="3767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956816" y="39684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8,154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1956816" y="42976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956816" y="4480560"/>
            <a:ext cx="1188720" cy="914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45536" y="4480560"/>
            <a:ext cx="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10128" y="3712464"/>
            <a:ext cx="1335024" cy="1225296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10128" y="3712464"/>
            <a:ext cx="1335024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83280" y="3767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Cocody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383280" y="39684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6,436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3383280" y="42976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383280" y="4480560"/>
            <a:ext cx="938264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21544" y="4480560"/>
            <a:ext cx="250456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36592" y="3712464"/>
            <a:ext cx="1335024" cy="1225296"/>
          </a:xfrm>
          <a:prstGeom prst="rect">
            <a:avLst/>
          </a:prstGeom>
          <a:solidFill>
            <a:srgbClr val="232323"/>
          </a:solidFill>
          <a:ln w="6350">
            <a:solidFill>
              <a:srgbClr val="F0E6D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36592" y="3712464"/>
            <a:ext cx="1335024" cy="36576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809744" y="3767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809744" y="39684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6,246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4809744" y="42976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809744" y="4480560"/>
            <a:ext cx="910565" cy="9144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20309" y="4480560"/>
            <a:ext cx="278155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63056" y="3712464"/>
            <a:ext cx="1335024" cy="1225296"/>
          </a:xfrm>
          <a:prstGeom prst="rect">
            <a:avLst/>
          </a:prstGeom>
          <a:solidFill>
            <a:srgbClr val="232323"/>
          </a:solidFill>
          <a:ln w="6350">
            <a:solidFill>
              <a:srgbClr val="C98A4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63056" y="3712464"/>
            <a:ext cx="1335024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36208" y="3767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236208" y="39684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5,284</a:t>
            </a:r>
            <a:endParaRPr lang="en-US" sz="2000" dirty="0"/>
          </a:p>
        </p:txBody>
      </p:sp>
      <p:sp>
        <p:nvSpPr>
          <p:cNvPr id="101" name="Text 99"/>
          <p:cNvSpPr/>
          <p:nvPr/>
        </p:nvSpPr>
        <p:spPr>
          <a:xfrm>
            <a:off x="6236208" y="42976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6236208" y="4480560"/>
            <a:ext cx="770321" cy="91440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06529" y="4480560"/>
            <a:ext cx="418399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589520" y="3712464"/>
            <a:ext cx="1335024" cy="1225296"/>
          </a:xfrm>
          <a:prstGeom prst="rect">
            <a:avLst/>
          </a:prstGeom>
          <a:solidFill>
            <a:srgbClr val="232323"/>
          </a:solidFill>
          <a:ln w="6350">
            <a:solidFill>
              <a:srgbClr val="C94C4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589520" y="3712464"/>
            <a:ext cx="1335024" cy="36576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62672" y="3767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7662672" y="39684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4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4,851</a:t>
            </a:r>
            <a:endParaRPr lang="en-US" sz="2000" dirty="0"/>
          </a:p>
        </p:txBody>
      </p:sp>
      <p:sp>
        <p:nvSpPr>
          <p:cNvPr id="108" name="Text 106"/>
          <p:cNvSpPr/>
          <p:nvPr/>
        </p:nvSpPr>
        <p:spPr>
          <a:xfrm>
            <a:off x="7662672" y="42976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7662672" y="4480560"/>
            <a:ext cx="707197" cy="9144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369869" y="4480560"/>
            <a:ext cx="481523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" y="29169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" y="29169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— 2024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914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Clients &amp; Satisfaction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914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2 993 clients · 4 segments · CSAT cible 4.0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55648" y="841248"/>
            <a:ext cx="3566160" cy="239572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83664" y="896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CSAT moyen par hotel (/ 5)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1170432"/>
            <a:ext cx="0" cy="1828800"/>
          </a:xfrm>
          <a:prstGeom prst="line">
            <a:avLst/>
          </a:prstGeom>
          <a:noFill/>
          <a:ln w="12700">
            <a:solidFill>
              <a:srgbClr val="C9A84C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791456" y="11521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4.0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83664" y="1280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Cocody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34640" y="1307592"/>
            <a:ext cx="192024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1307592"/>
            <a:ext cx="1555394" cy="12801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12801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83664" y="1627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1655064"/>
            <a:ext cx="192024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34640" y="1655064"/>
            <a:ext cx="1547713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9744" y="16276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83664" y="19751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34640" y="2002536"/>
            <a:ext cx="192024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34640" y="2002536"/>
            <a:ext cx="1540032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19751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883664" y="23225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834640" y="2350008"/>
            <a:ext cx="192024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34640" y="2350008"/>
            <a:ext cx="1536192" cy="12801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9744" y="23225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883664" y="2670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834640" y="2697480"/>
            <a:ext cx="192024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34640" y="2697480"/>
            <a:ext cx="1528511" cy="128016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9744" y="26700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4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3.98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376672" y="841248"/>
            <a:ext cx="3657600" cy="239572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8961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clients (CLV)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76672" y="1188720"/>
            <a:ext cx="3657600" cy="237744"/>
          </a:xfrm>
          <a:prstGeom prst="rect">
            <a:avLst/>
          </a:prstGeom>
          <a:solidFill>
            <a:srgbClr val="C9A84C">
              <a:alpha val="15000"/>
            </a:srgbClr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04688" y="1188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37376" y="118872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077456" y="118872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moyen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211312" y="11887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revenu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76672" y="1444752"/>
            <a:ext cx="3657600" cy="292608"/>
          </a:xfrm>
          <a:prstGeom prst="rect">
            <a:avLst/>
          </a:prstGeom>
          <a:solidFill>
            <a:srgbClr val="232323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76672" y="1444752"/>
            <a:ext cx="36576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04688" y="1499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VIP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37376" y="149961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077456" y="149961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2 050 279 F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211312" y="14996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376672" y="1755648"/>
            <a:ext cx="3657600" cy="292608"/>
          </a:xfrm>
          <a:prstGeom prst="rect">
            <a:avLst/>
          </a:prstGeom>
          <a:solidFill>
            <a:srgbClr val="2D2D2D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76672" y="1755648"/>
            <a:ext cx="36576" cy="29260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04688" y="1810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Premium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437376" y="18105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077456" y="18105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1 076 920 F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211312" y="1810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376672" y="2066544"/>
            <a:ext cx="3657600" cy="292608"/>
          </a:xfrm>
          <a:prstGeom prst="rect">
            <a:avLst/>
          </a:prstGeom>
          <a:solidFill>
            <a:srgbClr val="232323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76672" y="2066544"/>
            <a:ext cx="36576" cy="292608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04688" y="2121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Standard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437376" y="21214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077456" y="21214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657 170 F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211312" y="21214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376672" y="2377440"/>
            <a:ext cx="3657600" cy="292608"/>
          </a:xfrm>
          <a:prstGeom prst="rect">
            <a:avLst/>
          </a:prstGeom>
          <a:solidFill>
            <a:srgbClr val="2D2D2D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76672" y="2377440"/>
            <a:ext cx="36576" cy="292608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04688" y="2432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Occasionnel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437376" y="243230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077456" y="243230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275 684 F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8211312" y="2432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486400" y="2706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de Pareto : top 25% = 50% du revenu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755648" y="3364992"/>
            <a:ext cx="3566160" cy="16824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83664" y="34198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nationalités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883664" y="3712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Ivoirien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926080" y="3776472"/>
            <a:ext cx="173736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926080" y="3776472"/>
            <a:ext cx="149413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00016" y="3712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30.1%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1883664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Sénégalais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926080" y="4014216"/>
            <a:ext cx="173736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26080" y="4014216"/>
            <a:ext cx="749547" cy="914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00016" y="3950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1883664" y="4187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Camerounais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2926080" y="4251960"/>
            <a:ext cx="173736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26080" y="4251960"/>
            <a:ext cx="630413" cy="91440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700016" y="4187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1883664" y="4425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Ghanéen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926080" y="4489704"/>
            <a:ext cx="173736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26080" y="4489704"/>
            <a:ext cx="496389" cy="91440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00016" y="44256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9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883664" y="4663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926080" y="4727448"/>
            <a:ext cx="1737360" cy="9144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926080" y="4727448"/>
            <a:ext cx="1593407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700016" y="46634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5376672" y="3364992"/>
            <a:ext cx="3657600" cy="1682496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86400" y="34198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Fidèles vs Nouveaux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486400" y="3712464"/>
            <a:ext cx="1664208" cy="120700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486400" y="3712464"/>
            <a:ext cx="166420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59552" y="3767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76.1%</a:t>
            </a:r>
            <a:endParaRPr lang="en-US" sz="2400" dirty="0"/>
          </a:p>
        </p:txBody>
      </p:sp>
      <p:sp>
        <p:nvSpPr>
          <p:cNvPr id="112" name="Text 110"/>
          <p:cNvSpPr/>
          <p:nvPr/>
        </p:nvSpPr>
        <p:spPr>
          <a:xfrm>
            <a:off x="5559552" y="413308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5559552" y="433425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5 612 rés.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5559552" y="448970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4.02 | 2.71 n.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278624" y="3712464"/>
            <a:ext cx="1664208" cy="1207008"/>
          </a:xfrm>
          <a:prstGeom prst="rect">
            <a:avLst/>
          </a:prstGeom>
          <a:solidFill>
            <a:srgbClr val="232323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278624" y="3712464"/>
            <a:ext cx="1664208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351776" y="3767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23.9%</a:t>
            </a:r>
            <a:endParaRPr lang="en-US" sz="2400" dirty="0"/>
          </a:p>
        </p:txBody>
      </p:sp>
      <p:sp>
        <p:nvSpPr>
          <p:cNvPr id="118" name="Text 116"/>
          <p:cNvSpPr/>
          <p:nvPr/>
        </p:nvSpPr>
        <p:spPr>
          <a:xfrm>
            <a:off x="7351776" y="413308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Fidèles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7351776" y="433425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1 759 rés.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7351776" y="448970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4.00 | 2.71 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" y="36027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" y="36027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— 2024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914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&amp; Extras — Revenus additionnels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914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M FCFA · 9.7% du revenu · Cible 15%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55648" y="841248"/>
            <a:ext cx="3566160" cy="877824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83664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 extras / revenu chambre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20240" y="1188720"/>
            <a:ext cx="3200400" cy="146304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1188720"/>
            <a:ext cx="310439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00300" y="1152144"/>
            <a:ext cx="0" cy="219456"/>
          </a:xfrm>
          <a:prstGeom prst="line">
            <a:avLst/>
          </a:prstGeom>
          <a:noFill/>
          <a:ln w="19050">
            <a:solidFill>
              <a:srgbClr val="C98A4C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2276399" y="1152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46020" y="11521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15%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83664" y="14264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 +153 M FCFA/an en atteignant 15%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76672" y="841248"/>
            <a:ext cx="1188720" cy="877824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76672" y="841248"/>
            <a:ext cx="11887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91440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278 M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68112" y="12435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EXTRAS TOTAL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620256" y="841248"/>
            <a:ext cx="1188720" cy="877824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20256" y="841248"/>
            <a:ext cx="118872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11696" y="91440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132 504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711696" y="12435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TICKET CONF.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863840" y="841248"/>
            <a:ext cx="1188720" cy="877824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0" y="841248"/>
            <a:ext cx="1188720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5280" y="91440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9.7%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955280" y="12435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VS CHAMBRES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755648" y="1847088"/>
            <a:ext cx="4736592" cy="321868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83664" y="19019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Revenus extras par catégorie (FCFA)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83664" y="224942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310128" y="2313432"/>
            <a:ext cx="265176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10128" y="2313432"/>
            <a:ext cx="2611337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6752" y="22494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68.9 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016752" y="24505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25k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883664" y="265176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conference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310128" y="2715768"/>
            <a:ext cx="265176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10128" y="2715768"/>
            <a:ext cx="2464606" cy="12801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16752" y="26517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65.1 M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016752" y="28529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133k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883664" y="305409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&amp; Bien-etre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310128" y="3118104"/>
            <a:ext cx="265176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10128" y="3118104"/>
            <a:ext cx="1993048" cy="128016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16752" y="30540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52.6 M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016752" y="32552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75k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883664" y="345643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service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310128" y="3520440"/>
            <a:ext cx="265176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10128" y="3520440"/>
            <a:ext cx="1269502" cy="12801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16752" y="34564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33.5 M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016752" y="365760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20k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883664" y="385876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310128" y="3922776"/>
            <a:ext cx="265176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10128" y="3922776"/>
            <a:ext cx="1101445" cy="12801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16752" y="38587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29.1 M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016752" y="40599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33k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883664" y="42611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Minibar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310128" y="4325112"/>
            <a:ext cx="265176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310128" y="4325112"/>
            <a:ext cx="739262" cy="12801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16752" y="42611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19.5 M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016752" y="44622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13k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883664" y="46634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Blanchisserie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310128" y="4727448"/>
            <a:ext cx="2651760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10128" y="4727448"/>
            <a:ext cx="357500" cy="12801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016752" y="46634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 M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016752" y="48646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10k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528816" y="1847088"/>
            <a:ext cx="2505456" cy="3218688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38544" y="19019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priorités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528816" y="2286000"/>
            <a:ext cx="2505456" cy="822960"/>
          </a:xfrm>
          <a:prstGeom prst="rect">
            <a:avLst/>
          </a:prstGeom>
          <a:solidFill>
            <a:srgbClr val="232323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28816" y="2286000"/>
            <a:ext cx="2505456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01968" y="23591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6967728" y="2377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6601968" y="261518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132k FCFA, 7× le restaurant. Priorité commerciale N°1.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528816" y="3200400"/>
            <a:ext cx="2505456" cy="822960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28816" y="3200400"/>
            <a:ext cx="2505456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01968" y="3273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6967728" y="3291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upselling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6601968" y="352958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75k FCFA ticket moyen. Proposer systématiquement au check-in.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528816" y="4114800"/>
            <a:ext cx="2505456" cy="822960"/>
          </a:xfrm>
          <a:prstGeom prst="rect">
            <a:avLst/>
          </a:prstGeom>
          <a:solidFill>
            <a:srgbClr val="232323"/>
          </a:solidFill>
          <a:ln w="6350">
            <a:solidFill>
              <a:srgbClr val="C98A4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528816" y="4114800"/>
            <a:ext cx="2505456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01968" y="41879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6967728" y="4206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15%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601968" y="444398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Atteindre la norme sectorielle = +153 M FCFA/an additionnels.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" y="73152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4663440"/>
            <a:ext cx="1609344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92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384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" y="859536"/>
            <a:ext cx="1609344" cy="512064"/>
          </a:xfrm>
          <a:prstGeom prst="rect">
            <a:avLst/>
          </a:prstGeom>
          <a:solidFill>
            <a:srgbClr val="C9A84C">
              <a:alpha val="12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" y="859536"/>
            <a:ext cx="36576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" y="950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9692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" y="16367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16550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" y="23225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23408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" y="30083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30266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371246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7183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— 2024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55648" y="91440"/>
            <a:ext cx="7315200" cy="658368"/>
          </a:xfrm>
          <a:prstGeom prst="rect">
            <a:avLst/>
          </a:prstGeom>
          <a:solidFill>
            <a:srgbClr val="232323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55648" y="91440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914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DAX — 12 mesures · Table _Mesures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914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· HotelChain West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55648" y="841248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5648" y="841248"/>
            <a:ext cx="36576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83664" y="905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[Total Reservations]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07408" y="932688"/>
            <a:ext cx="804672" cy="182880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9326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83664" y="113385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COUNTROWS  →  7 992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04688" y="841248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4688" y="841248"/>
            <a:ext cx="36576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32704" y="905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[Revenu Total]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56448" y="932688"/>
            <a:ext cx="804672" cy="182880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56448" y="9326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632704" y="113385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paiements valides  →  2.87 Mrd FCFA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755648" y="1426464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55648" y="1426464"/>
            <a:ext cx="36576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83664" y="1490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[CSAT Moyen]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407408" y="1517904"/>
            <a:ext cx="804672" cy="182880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7408" y="151790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83664" y="171907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sur Terminee  →  4.01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04688" y="1426464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04688" y="1426464"/>
            <a:ext cx="36576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32704" y="1490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[Taux Annulation]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56448" y="1517904"/>
            <a:ext cx="804672" cy="182880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56448" y="151790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632704" y="171907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Annulee/Total  →  3.8%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755648" y="2011680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55648" y="2011680"/>
            <a:ext cx="36576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83664" y="2075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[Nuits Vendues]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407408" y="2103120"/>
            <a:ext cx="804672" cy="182880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07408" y="210312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883664" y="230428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nb_nuits  →  19 978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504688" y="2011680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04688" y="2011680"/>
            <a:ext cx="36576" cy="5303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32704" y="2075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[Taux Occupation]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156448" y="2103120"/>
            <a:ext cx="804672" cy="182880"/>
          </a:xfrm>
          <a:prstGeom prst="rect">
            <a:avLst/>
          </a:prstGeom>
          <a:solidFill>
            <a:srgbClr val="4CAF7D">
              <a:alpha val="20000"/>
            </a:srgbClr>
          </a:solidFill>
          <a:ln w="12700">
            <a:solidFill>
              <a:srgbClr val="4CAF7D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56448" y="210312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632704" y="230428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Nuits / SUMX chambres × jours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755648" y="2596896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55648" y="2596896"/>
            <a:ext cx="36576" cy="5303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83664" y="2660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[ADR]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407408" y="2688336"/>
            <a:ext cx="804672" cy="182880"/>
          </a:xfrm>
          <a:prstGeom prst="rect">
            <a:avLst/>
          </a:prstGeom>
          <a:solidFill>
            <a:srgbClr val="4CAF7D">
              <a:alpha val="20000"/>
            </a:srgbClr>
          </a:solidFill>
          <a:ln w="12700">
            <a:solidFill>
              <a:srgbClr val="4CAF7D">
                <a:alpha val="4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07408" y="268833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883664" y="288950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Revenu/Nuits  →  ~143 900 FCFA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504688" y="2596896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504688" y="2596896"/>
            <a:ext cx="36576" cy="5303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32704" y="2660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[RevPAR]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156448" y="2688336"/>
            <a:ext cx="804672" cy="182880"/>
          </a:xfrm>
          <a:prstGeom prst="rect">
            <a:avLst/>
          </a:prstGeom>
          <a:solidFill>
            <a:srgbClr val="4CAF7D">
              <a:alpha val="20000"/>
            </a:srgbClr>
          </a:solidFill>
          <a:ln w="12700">
            <a:solidFill>
              <a:srgbClr val="4CAF7D">
                <a:alpha val="4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56448" y="268833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632704" y="288950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× Taux Occupation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755648" y="3182112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55648" y="3182112"/>
            <a:ext cx="36576" cy="5303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83664" y="3246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[Revenu Extras]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407408" y="3273552"/>
            <a:ext cx="804672" cy="182880"/>
          </a:xfrm>
          <a:prstGeom prst="rect">
            <a:avLst/>
          </a:prstGeom>
          <a:solidFill>
            <a:srgbClr val="4CAF7D">
              <a:alpha val="20000"/>
            </a:srgbClr>
          </a:solidFill>
          <a:ln w="12700">
            <a:solidFill>
              <a:srgbClr val="4CAF7D">
                <a:alpha val="4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07408" y="327355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883664" y="347472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services  →  278 143 196 FCFA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504688" y="3182112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04688" y="3182112"/>
            <a:ext cx="36576" cy="53035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32704" y="3246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[Revenu Consolide]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156448" y="3273552"/>
            <a:ext cx="804672" cy="182880"/>
          </a:xfrm>
          <a:prstGeom prst="rect">
            <a:avLst/>
          </a:prstGeom>
          <a:solidFill>
            <a:srgbClr val="4CAF7D">
              <a:alpha val="20000"/>
            </a:srgbClr>
          </a:solidFill>
          <a:ln w="12700">
            <a:solidFill>
              <a:srgbClr val="4CAF7D">
                <a:alpha val="4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56448" y="327355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632704" y="347472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Total + Extras  →  3.15 Mrd FCFA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755648" y="3767328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C98A4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755648" y="3767328"/>
            <a:ext cx="36576" cy="530352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883664" y="3831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[Revenu Mois Prec]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407408" y="3858768"/>
            <a:ext cx="804672" cy="182880"/>
          </a:xfrm>
          <a:prstGeom prst="rect">
            <a:avLst/>
          </a:prstGeom>
          <a:solidFill>
            <a:srgbClr val="C98A4C">
              <a:alpha val="20000"/>
            </a:srgbClr>
          </a:solidFill>
          <a:ln w="12700">
            <a:solidFill>
              <a:srgbClr val="C98A4C">
                <a:alpha val="4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07408" y="385876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1883664" y="405993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PREVIOUSMONTH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504688" y="3767328"/>
            <a:ext cx="3602736" cy="530352"/>
          </a:xfrm>
          <a:prstGeom prst="rect">
            <a:avLst/>
          </a:prstGeom>
          <a:solidFill>
            <a:srgbClr val="2D2D2D"/>
          </a:solidFill>
          <a:ln w="6350">
            <a:solidFill>
              <a:srgbClr val="C98A4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504688" y="3767328"/>
            <a:ext cx="36576" cy="530352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32704" y="3831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[Variation Revenu]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8156448" y="3858768"/>
            <a:ext cx="804672" cy="182880"/>
          </a:xfrm>
          <a:prstGeom prst="rect">
            <a:avLst/>
          </a:prstGeom>
          <a:solidFill>
            <a:srgbClr val="C98A4C">
              <a:alpha val="20000"/>
            </a:srgbClr>
          </a:solidFill>
          <a:ln w="12700">
            <a:solidFill>
              <a:srgbClr val="C98A4C">
                <a:alpha val="4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156448" y="385876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5632704" y="405993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actuel-prec / prec  →  %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755648" y="4809744"/>
            <a:ext cx="7315200" cy="219456"/>
          </a:xfrm>
          <a:prstGeom prst="rect">
            <a:avLst/>
          </a:prstGeom>
          <a:solidFill>
            <a:srgbClr val="232323"/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883664" y="4873752"/>
            <a:ext cx="4572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95728" y="4855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346704" y="4873752"/>
            <a:ext cx="457200" cy="914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58768" y="4855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809744" y="4873752"/>
            <a:ext cx="457200" cy="91440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321808" y="4855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943600" y="48554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validées contre SQL Server — NB3 Étape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978</Words>
  <Application>Microsoft Office PowerPoint</Application>
  <PresentationFormat>Affichage à l'écran (16:9)</PresentationFormat>
  <Paragraphs>453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HotelChain West — Dashboard V2 Dark Luxury</dc:title>
  <dc:subject>PptxGenJS Presentation</dc:subject>
  <dc:creator>PptxGenJS</dc:creator>
  <cp:lastModifiedBy>fab</cp:lastModifiedBy>
  <cp:revision>2</cp:revision>
  <dcterms:created xsi:type="dcterms:W3CDTF">2026-04-13T23:11:19Z</dcterms:created>
  <dcterms:modified xsi:type="dcterms:W3CDTF">2026-04-15T01:01:56Z</dcterms:modified>
</cp:coreProperties>
</file>