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04672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804672"/>
            <a:ext cx="9089136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" y="548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HOTELCHAIN WEST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37744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analytique — 30 mois · Jan 2022 – Jun 2024 · 5 hôtels · 515 chambres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"/>
            <a:ext cx="1554480" cy="274320"/>
          </a:xfrm>
          <a:prstGeom prst="rect">
            <a:avLst/>
          </a:prstGeom>
          <a:solidFill>
            <a:srgbClr val="C9A84C">
              <a:alpha val="1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82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DataProjectLab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7744" y="960120"/>
            <a:ext cx="36576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97840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2.87 Mrd FCFA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4048" y="125272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total validé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7744" y="1545336"/>
            <a:ext cx="2743200" cy="0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" y="1618488"/>
            <a:ext cx="36576" cy="475488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36776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4.01 / 5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" y="191109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moyen (sejours terminés)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" y="2203704"/>
            <a:ext cx="2743200" cy="0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" y="2276856"/>
            <a:ext cx="36576" cy="475488"/>
          </a:xfrm>
          <a:prstGeom prst="rect">
            <a:avLst/>
          </a:prstGeom>
          <a:solidFill>
            <a:srgbClr val="F0E6D3"/>
          </a:solidFill>
          <a:ln w="12700">
            <a:solidFill>
              <a:srgbClr val="F0E6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295144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7 992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4048" y="256946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 propres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37744" y="2862072"/>
            <a:ext cx="2743200" cy="0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" y="2935224"/>
            <a:ext cx="36576" cy="475488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953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4048" y="322783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annulation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7744" y="3520440"/>
            <a:ext cx="2743200" cy="0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" y="3593592"/>
            <a:ext cx="36576" cy="47548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61188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19 978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84048" y="388620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Nuits vendues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0" y="914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PAR HOTEL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1115568"/>
            <a:ext cx="3017520" cy="0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1152144"/>
            <a:ext cx="3017520" cy="237744"/>
          </a:xfrm>
          <a:prstGeom prst="rect">
            <a:avLst/>
          </a:prstGeom>
          <a:solidFill>
            <a:srgbClr val="C9A84C">
              <a:alpha val="15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36976" y="11521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06824" y="11521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réel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38344" y="11521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33288" y="115214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1408176"/>
            <a:ext cx="3017520" cy="457200"/>
          </a:xfrm>
          <a:prstGeom prst="rect">
            <a:avLst/>
          </a:prstGeom>
          <a:solidFill>
            <a:srgbClr val="232323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1408176"/>
            <a:ext cx="36576" cy="4572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1481328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 3★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06824" y="14813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105 248 F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38344" y="14813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8 154 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73552" y="1719072"/>
            <a:ext cx="2834640" cy="82296"/>
          </a:xfrm>
          <a:prstGeom prst="rect">
            <a:avLst/>
          </a:prstGeom>
          <a:solidFill>
            <a:srgbClr val="4CAF7D">
              <a:alpha val="50000"/>
            </a:srgbClr>
          </a:solidFill>
          <a:ln w="12700">
            <a:solidFill>
              <a:srgbClr val="4CAF7D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33288" y="1481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1883664"/>
            <a:ext cx="3017520" cy="457200"/>
          </a:xfrm>
          <a:prstGeom prst="rect">
            <a:avLst/>
          </a:prstGeom>
          <a:solidFill>
            <a:srgbClr val="2D2D2D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1883664"/>
            <a:ext cx="36576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1956816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Cocody 3★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06824" y="19568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96 100 F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038344" y="19568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6 436 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73552" y="2194560"/>
            <a:ext cx="2237398" cy="82296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33288" y="1956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2359152"/>
            <a:ext cx="3017520" cy="457200"/>
          </a:xfrm>
          <a:prstGeom prst="rect">
            <a:avLst/>
          </a:prstGeom>
          <a:solidFill>
            <a:srgbClr val="232323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2359152"/>
            <a:ext cx="36576" cy="457200"/>
          </a:xfrm>
          <a:prstGeom prst="rect">
            <a:avLst/>
          </a:prstGeom>
          <a:solidFill>
            <a:srgbClr val="D4C4A8"/>
          </a:solidFill>
          <a:ln w="12700">
            <a:solidFill>
              <a:srgbClr val="D4C4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3552" y="2432304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 4★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306824" y="24323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113 606 F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038344" y="24323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C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6 246 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73552" y="2670048"/>
            <a:ext cx="2171347" cy="82296"/>
          </a:xfrm>
          <a:prstGeom prst="rect">
            <a:avLst/>
          </a:prstGeom>
          <a:solidFill>
            <a:srgbClr val="D4C4A8">
              <a:alpha val="50000"/>
            </a:srgbClr>
          </a:solidFill>
          <a:ln w="12700">
            <a:solidFill>
              <a:srgbClr val="D4C4A8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33288" y="2432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0" y="2834640"/>
            <a:ext cx="3017520" cy="457200"/>
          </a:xfrm>
          <a:prstGeom prst="rect">
            <a:avLst/>
          </a:prstGeom>
          <a:solidFill>
            <a:srgbClr val="2D2D2D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0" y="2834640"/>
            <a:ext cx="36576" cy="457200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73552" y="2907792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4★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306824" y="29077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114 083 F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38344" y="29077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5 287 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73552" y="3145536"/>
            <a:ext cx="1837962" cy="82296"/>
          </a:xfrm>
          <a:prstGeom prst="rect">
            <a:avLst/>
          </a:prstGeom>
          <a:solidFill>
            <a:srgbClr val="C98A4C">
              <a:alpha val="50000"/>
            </a:srgbClr>
          </a:solidFill>
          <a:ln w="12700">
            <a:solidFill>
              <a:srgbClr val="C98A4C">
                <a:alpha val="5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33288" y="2907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0" y="3310128"/>
            <a:ext cx="3017520" cy="457200"/>
          </a:xfrm>
          <a:prstGeom prst="rect">
            <a:avLst/>
          </a:prstGeom>
          <a:solidFill>
            <a:srgbClr val="232323"/>
          </a:solidFill>
          <a:ln w="381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0" y="3310128"/>
            <a:ext cx="36576" cy="45720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73552" y="3383280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5★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306824" y="3383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142 970 F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038344" y="3383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4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4 851 F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273552" y="3621024"/>
            <a:ext cx="1686392" cy="82296"/>
          </a:xfrm>
          <a:prstGeom prst="rect">
            <a:avLst/>
          </a:prstGeom>
          <a:solidFill>
            <a:srgbClr val="C94C4C">
              <a:alpha val="50000"/>
            </a:srgbClr>
          </a:solidFill>
          <a:ln w="12700">
            <a:solidFill>
              <a:srgbClr val="C94C4C">
                <a:alpha val="5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33288" y="33832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#5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00400" y="3803904"/>
            <a:ext cx="3017520" cy="420624"/>
          </a:xfrm>
          <a:prstGeom prst="rect">
            <a:avLst/>
          </a:prstGeom>
          <a:solidFill>
            <a:srgbClr val="C94C4C">
              <a:alpha val="7000"/>
            </a:srgbClr>
          </a:solidFill>
          <a:ln w="6350">
            <a:solidFill>
              <a:srgbClr val="C94C4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00400" y="3803904"/>
            <a:ext cx="36576" cy="420624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10128" y="3840480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Accra 5★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310128" y="4005072"/>
            <a:ext cx="2852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le plus élevé (+38% vs Douala) mais RevPAR le plus bas. Taux occ. 2.77% vs 6.40%.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6345936" y="914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PRIORITÉS OPÉRATIONNELLES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345936" y="1115568"/>
            <a:ext cx="2651760" cy="0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45936" y="1188720"/>
            <a:ext cx="2651760" cy="859536"/>
          </a:xfrm>
          <a:prstGeom prst="rect">
            <a:avLst/>
          </a:prstGeom>
          <a:solidFill>
            <a:srgbClr val="232323"/>
          </a:solidFill>
          <a:ln w="6350">
            <a:solidFill>
              <a:srgbClr val="C94C4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45936" y="1188720"/>
            <a:ext cx="2651760" cy="36576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0" y="128016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6748272" y="128016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: baisser l'ADR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400800" y="1591056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 ADR → +46% RevPAR estimé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400800" y="175564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 dernier CSAT (3.98) ET RevPAR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345936" y="2121408"/>
            <a:ext cx="2651760" cy="859536"/>
          </a:xfrm>
          <a:prstGeom prst="rect">
            <a:avLst/>
          </a:prstGeom>
          <a:solidFill>
            <a:srgbClr val="232323"/>
          </a:solidFill>
          <a:ln w="6350">
            <a:solidFill>
              <a:srgbClr val="4CAF7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45936" y="2121408"/>
            <a:ext cx="265176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00800" y="221284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6748272" y="221284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Direct : investir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6400800" y="252374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881 M FCFA, 0% commission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400800" y="268833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 M FCFA par point gagné sur OTA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345936" y="3054096"/>
            <a:ext cx="2651760" cy="859536"/>
          </a:xfrm>
          <a:prstGeom prst="rect">
            <a:avLst/>
          </a:prstGeom>
          <a:solidFill>
            <a:srgbClr val="232323"/>
          </a:solidFill>
          <a:ln w="6350">
            <a:solidFill>
              <a:srgbClr val="C98A4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345936" y="3054096"/>
            <a:ext cx="2651760" cy="36576"/>
          </a:xfrm>
          <a:prstGeom prst="rect">
            <a:avLst/>
          </a:prstGeom>
          <a:solidFill>
            <a:srgbClr val="C98A4C"/>
          </a:solidFill>
          <a:ln w="12700">
            <a:solidFill>
              <a:srgbClr val="C98A4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00800" y="314553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6748272" y="314553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 : cible 15%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400800" y="345643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 actuel vs norme 15%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400800" y="362102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+153 M FCFA/an de potentiel extra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4864" y="4315968"/>
            <a:ext cx="9089136" cy="0"/>
          </a:xfrm>
          <a:prstGeom prst="line">
            <a:avLst/>
          </a:prstGeom>
          <a:noFill/>
          <a:ln w="635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4864" y="4334256"/>
            <a:ext cx="9089136" cy="809244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7744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278 M FCFA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237744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extras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298448" y="4407408"/>
            <a:ext cx="0" cy="566928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353312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9.7%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1353312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extras/chambre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414016" y="4407408"/>
            <a:ext cx="0" cy="566928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68880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C4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2.71 nuits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2468880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Nuits moy. séjour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529584" y="4407408"/>
            <a:ext cx="0" cy="566928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584448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30.1%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3584448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dominant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4645152" y="4407408"/>
            <a:ext cx="0" cy="566928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700016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Cocody 4.05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4700016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leader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760720" y="4407408"/>
            <a:ext cx="0" cy="566928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815584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Douala 8 154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5815584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RevPAR leader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876288" y="4407408"/>
            <a:ext cx="0" cy="566928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931152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revenu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6931152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VIP Q4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7991856" y="4407408"/>
            <a:ext cx="0" cy="566928"/>
          </a:xfrm>
          <a:prstGeom prst="line">
            <a:avLst/>
          </a:prstGeom>
          <a:noFill/>
          <a:ln w="5080">
            <a:solidFill>
              <a:srgbClr val="3A3A3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046720" y="438912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1200" dirty="0"/>
          </a:p>
        </p:txBody>
      </p:sp>
      <p:sp>
        <p:nvSpPr>
          <p:cNvPr id="118" name="Text 116"/>
          <p:cNvSpPr/>
          <p:nvPr/>
        </p:nvSpPr>
        <p:spPr>
          <a:xfrm>
            <a:off x="8046720" y="46451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annulation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2026-04-13T23:21:45Z</dcterms:created>
  <dcterms:modified xsi:type="dcterms:W3CDTF">2026-04-13T23:21:45Z</dcterms:modified>
</cp:coreProperties>
</file>