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2" autoAdjust="0"/>
  </p:normalViewPr>
  <p:slideViewPr>
    <p:cSldViewPr snapToGrid="0" snapToObjects="1">
      <p:cViewPr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3471" y="296227"/>
            <a:ext cx="113157" cy="188595"/>
          </a:xfrm>
          <a:prstGeom prst="roundRect">
            <a:avLst>
              <a:gd name="adj" fmla="val 18000"/>
            </a:avLst>
          </a:prstGeom>
          <a:noFill/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190" y="456533"/>
            <a:ext cx="37719" cy="94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955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IvoirCom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9100"/>
            <a:ext cx="2476500" cy="133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0B8C7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8" name="Oval 7"/>
          <p:cNvSpPr/>
          <p:nvPr/>
        </p:nvSpPr>
        <p:spPr>
          <a:xfrm>
            <a:off x="3219450" y="361950"/>
            <a:ext cx="104775" cy="104775"/>
          </a:xfrm>
          <a:prstGeom prst="ellipse">
            <a:avLst/>
          </a:prstGeom>
          <a:noFill/>
          <a:ln w="15240">
            <a:solidFill>
              <a:srgbClr val="E94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248263" y="390763"/>
            <a:ext cx="47148" cy="47148"/>
          </a:xfrm>
          <a:prstGeom prst="ellipse">
            <a:avLst/>
          </a:prstGeom>
          <a:noFill/>
          <a:ln w="12700">
            <a:solidFill>
              <a:srgbClr val="E94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262407" y="404907"/>
            <a:ext cx="18859" cy="18859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18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94E1B"/>
                </a:solidFill>
                <a:latin typeface="Segoe UI"/>
              </a:rPr>
              <a:t>Vue Executive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9450" y="523875"/>
            <a:ext cx="1028700" cy="1905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5788" y="419576"/>
            <a:ext cx="23050" cy="47148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9316" y="393382"/>
            <a:ext cx="23050" cy="733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72844" y="367188"/>
            <a:ext cx="23050" cy="99536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529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>
                <a:solidFill>
                  <a:srgbClr val="6B7B95"/>
                </a:solidFill>
                <a:latin typeface="Segoe UI"/>
              </a:rPr>
              <a:t>Segments</a:t>
            </a:r>
          </a:p>
        </p:txBody>
      </p:sp>
      <p:sp>
        <p:nvSpPr>
          <p:cNvPr id="17" name="Oval 16"/>
          <p:cNvSpPr/>
          <p:nvPr/>
        </p:nvSpPr>
        <p:spPr>
          <a:xfrm>
            <a:off x="5581650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40324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10987" y="420623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340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Cohortes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2750" y="377666"/>
            <a:ext cx="104775" cy="73342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15137" y="396716"/>
            <a:ext cx="4762" cy="352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151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Reclamations</a:t>
            </a:r>
          </a:p>
        </p:txBody>
      </p:sp>
      <p:sp>
        <p:nvSpPr>
          <p:cNvPr id="24" name="Lightning Bolt 23"/>
          <p:cNvSpPr/>
          <p:nvPr/>
        </p:nvSpPr>
        <p:spPr>
          <a:xfrm>
            <a:off x="7959566" y="361950"/>
            <a:ext cx="73342" cy="104775"/>
          </a:xfrm>
          <a:prstGeom prst="lightningBol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62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Plan d'action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29900" y="285750"/>
            <a:ext cx="1333500" cy="266700"/>
          </a:xfrm>
          <a:prstGeom prst="roundRect">
            <a:avLst>
              <a:gd name="adj" fmla="val 30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725150" y="379095"/>
            <a:ext cx="114300" cy="97155"/>
          </a:xfrm>
          <a:prstGeom prst="rect">
            <a:avLst/>
          </a:prstGeom>
          <a:noFill/>
          <a:ln w="12700">
            <a:solidFill>
              <a:srgbClr val="B0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25150" y="379095"/>
            <a:ext cx="114300" cy="22860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48010" y="361950"/>
            <a:ext cx="11430" cy="22860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805160" y="361950"/>
            <a:ext cx="11430" cy="22860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" y="6591300"/>
            <a:ext cx="381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rgbClr val="6B7B95"/>
                </a:solidFill>
                <a:latin typeface="Segoe UI"/>
              </a:rPr>
              <a:t>DataProjectLab</a:t>
            </a:r>
            <a:r>
              <a:rPr sz="900" b="0" i="0" dirty="0">
                <a:solidFill>
                  <a:srgbClr val="6B7B95"/>
                </a:solidFill>
                <a:latin typeface="Segoe UI"/>
              </a:rPr>
              <a:t>  -  </a:t>
            </a:r>
            <a:r>
              <a:rPr sz="900" b="0" i="0" dirty="0" err="1">
                <a:solidFill>
                  <a:srgbClr val="6B7B95"/>
                </a:solidFill>
                <a:latin typeface="Segoe UI"/>
              </a:rPr>
              <a:t>IvoirCom</a:t>
            </a:r>
            <a:endParaRPr sz="900" b="0" i="0" dirty="0">
              <a:solidFill>
                <a:srgbClr val="6B7B95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7B95"/>
                </a:solidFill>
                <a:latin typeface="Segoe UI"/>
              </a:rPr>
              <a:t>Page 1 /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1219200"/>
            <a:ext cx="11734800" cy="342900"/>
          </a:xfrm>
          <a:prstGeom prst="roundRect">
            <a:avLst>
              <a:gd name="adj" fmla="val 10000"/>
            </a:avLst>
          </a:prstGeom>
          <a:solidFill>
            <a:srgbClr val="3D1421"/>
          </a:solidFill>
          <a:ln w="63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28600" y="1219200"/>
            <a:ext cx="28575" cy="3429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228600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42900" y="17907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385762" y="1833562"/>
            <a:ext cx="54483" cy="54483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Oval 40"/>
          <p:cNvSpPr/>
          <p:nvPr/>
        </p:nvSpPr>
        <p:spPr>
          <a:xfrm>
            <a:off x="455104" y="1833562"/>
            <a:ext cx="54483" cy="54483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Oval 41"/>
          <p:cNvSpPr/>
          <p:nvPr/>
        </p:nvSpPr>
        <p:spPr>
          <a:xfrm>
            <a:off x="420433" y="1902904"/>
            <a:ext cx="54483" cy="54483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190875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3305175" y="17907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Isosceles Triangle 44"/>
          <p:cNvSpPr/>
          <p:nvPr/>
        </p:nvSpPr>
        <p:spPr>
          <a:xfrm rot="10800000">
            <a:off x="3348037" y="1833562"/>
            <a:ext cx="123825" cy="74295"/>
          </a:xfrm>
          <a:prstGeom prst="triangl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397567" y="1901666"/>
            <a:ext cx="24765" cy="55721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153150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267450" y="17907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6310312" y="1833562"/>
            <a:ext cx="123825" cy="123825"/>
          </a:xfrm>
          <a:prstGeom prst="ellipse">
            <a:avLst/>
          </a:prstGeom>
          <a:noFill/>
          <a:ln w="15240">
            <a:solidFill>
              <a:srgbClr val="10D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6344364" y="1867614"/>
            <a:ext cx="55721" cy="55721"/>
          </a:xfrm>
          <a:prstGeom prst="ellipse">
            <a:avLst/>
          </a:prstGeom>
          <a:noFill/>
          <a:ln w="12700">
            <a:solidFill>
              <a:srgbClr val="10D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6361080" y="1884330"/>
            <a:ext cx="22288" cy="22288"/>
          </a:xfrm>
          <a:prstGeom prst="ellipse">
            <a:avLst/>
          </a:prstGeom>
          <a:solidFill>
            <a:srgbClr val="10D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115425" y="1676400"/>
            <a:ext cx="2847975" cy="9525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229725" y="17907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272587" y="1852136"/>
            <a:ext cx="123825" cy="86677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334500" y="1871186"/>
            <a:ext cx="4762" cy="48577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28600" y="2743200"/>
            <a:ext cx="3867150" cy="19050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210050" y="2743200"/>
            <a:ext cx="7753350" cy="19050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228600" y="4762500"/>
            <a:ext cx="11734800" cy="17526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3471" y="296227"/>
            <a:ext cx="113157" cy="188595"/>
          </a:xfrm>
          <a:prstGeom prst="roundRect">
            <a:avLst>
              <a:gd name="adj" fmla="val 18000"/>
            </a:avLst>
          </a:prstGeom>
          <a:noFill/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190" y="456533"/>
            <a:ext cx="37719" cy="94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955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IvoirCom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9100"/>
            <a:ext cx="2476500" cy="133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0B8C7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8" name="Oval 7"/>
          <p:cNvSpPr/>
          <p:nvPr/>
        </p:nvSpPr>
        <p:spPr>
          <a:xfrm>
            <a:off x="3219450" y="361950"/>
            <a:ext cx="104775" cy="104775"/>
          </a:xfrm>
          <a:prstGeom prst="ellipse">
            <a:avLst/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248263" y="390763"/>
            <a:ext cx="47148" cy="47148"/>
          </a:xfrm>
          <a:prstGeom prst="ellipse">
            <a:avLst/>
          </a:prstGeom>
          <a:noFill/>
          <a:ln w="1270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262407" y="404907"/>
            <a:ext cx="18859" cy="18859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18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Vue Executive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788" y="419576"/>
            <a:ext cx="23050" cy="47148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9316" y="393382"/>
            <a:ext cx="23050" cy="7334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72844" y="367188"/>
            <a:ext cx="23050" cy="99536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29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94E1B"/>
                </a:solidFill>
                <a:latin typeface="Segoe UI"/>
              </a:rPr>
              <a:t>Segments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0550" y="523875"/>
            <a:ext cx="1028700" cy="1905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581650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40324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5610987" y="420623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340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Cohortes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2750" y="377666"/>
            <a:ext cx="104775" cy="73342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15137" y="396716"/>
            <a:ext cx="4762" cy="352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151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Reclamations</a:t>
            </a:r>
          </a:p>
        </p:txBody>
      </p:sp>
      <p:sp>
        <p:nvSpPr>
          <p:cNvPr id="24" name="Lightning Bolt 23"/>
          <p:cNvSpPr/>
          <p:nvPr/>
        </p:nvSpPr>
        <p:spPr>
          <a:xfrm>
            <a:off x="7959566" y="361950"/>
            <a:ext cx="73342" cy="104775"/>
          </a:xfrm>
          <a:prstGeom prst="lightningBol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62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Plan d'action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29900" y="290416"/>
            <a:ext cx="1333500" cy="266700"/>
          </a:xfrm>
          <a:prstGeom prst="roundRect">
            <a:avLst>
              <a:gd name="adj" fmla="val 30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0" name="Rectangle 29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" y="6591300"/>
            <a:ext cx="381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rgbClr val="6B7B95"/>
                </a:solidFill>
                <a:latin typeface="Segoe UI"/>
              </a:rPr>
              <a:t>DataProjectLab</a:t>
            </a:r>
            <a:r>
              <a:rPr sz="900" b="0" i="0" dirty="0">
                <a:solidFill>
                  <a:srgbClr val="6B7B95"/>
                </a:solidFill>
                <a:latin typeface="Segoe UI"/>
              </a:rPr>
              <a:t>  -  </a:t>
            </a:r>
            <a:r>
              <a:rPr sz="900" b="0" i="0" dirty="0" err="1">
                <a:solidFill>
                  <a:srgbClr val="6B7B95"/>
                </a:solidFill>
                <a:latin typeface="Segoe UI"/>
              </a:rPr>
              <a:t>IvoirCom</a:t>
            </a:r>
            <a:r>
              <a:rPr sz="900" b="0" i="0" dirty="0">
                <a:solidFill>
                  <a:srgbClr val="6B7B95"/>
                </a:solidFill>
                <a:latin typeface="Segoe UI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7B95"/>
                </a:solidFill>
                <a:latin typeface="Segoe UI"/>
              </a:rPr>
              <a:t>Page 2 /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29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385762" y="1376362"/>
            <a:ext cx="123825" cy="74295"/>
          </a:xfrm>
          <a:prstGeom prst="triangl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5292" y="1444466"/>
            <a:ext cx="24765" cy="55721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8625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4341495" y="1376362"/>
            <a:ext cx="99060" cy="99060"/>
          </a:xfrm>
          <a:prstGeom prst="ellipse">
            <a:avLst/>
          </a:prstGeom>
          <a:solidFill>
            <a:srgbClr val="8B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Isosceles Triangle 40"/>
          <p:cNvSpPr/>
          <p:nvPr/>
        </p:nvSpPr>
        <p:spPr>
          <a:xfrm rot="10800000">
            <a:off x="4366260" y="1444466"/>
            <a:ext cx="49530" cy="55721"/>
          </a:xfrm>
          <a:prstGeom prst="triangle">
            <a:avLst/>
          </a:prstGeom>
          <a:solidFill>
            <a:srgbClr val="8B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2296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8272462" y="1376362"/>
            <a:ext cx="123825" cy="123825"/>
          </a:xfrm>
          <a:prstGeom prst="ellipse">
            <a:avLst/>
          </a:prstGeom>
          <a:noFill/>
          <a:ln w="15240">
            <a:solidFill>
              <a:srgbClr val="E94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8306514" y="1410414"/>
            <a:ext cx="55721" cy="55721"/>
          </a:xfrm>
          <a:prstGeom prst="ellipse">
            <a:avLst/>
          </a:prstGeom>
          <a:noFill/>
          <a:ln w="12700">
            <a:solidFill>
              <a:srgbClr val="E94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8323230" y="1427130"/>
            <a:ext cx="22288" cy="22288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28600" y="2190750"/>
            <a:ext cx="11734800" cy="21907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228600" y="4495800"/>
            <a:ext cx="5810250" cy="20193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153150" y="4495800"/>
            <a:ext cx="5810250" cy="20193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3471" y="296227"/>
            <a:ext cx="113157" cy="188595"/>
          </a:xfrm>
          <a:prstGeom prst="roundRect">
            <a:avLst>
              <a:gd name="adj" fmla="val 18000"/>
            </a:avLst>
          </a:prstGeom>
          <a:noFill/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190" y="456533"/>
            <a:ext cx="37719" cy="94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955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IvoirCom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9100"/>
            <a:ext cx="2476500" cy="133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0B8C7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8" name="Oval 7"/>
          <p:cNvSpPr/>
          <p:nvPr/>
        </p:nvSpPr>
        <p:spPr>
          <a:xfrm>
            <a:off x="3219450" y="361950"/>
            <a:ext cx="104775" cy="104775"/>
          </a:xfrm>
          <a:prstGeom prst="ellipse">
            <a:avLst/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248263" y="390763"/>
            <a:ext cx="47148" cy="47148"/>
          </a:xfrm>
          <a:prstGeom prst="ellipse">
            <a:avLst/>
          </a:prstGeom>
          <a:noFill/>
          <a:ln w="1270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262407" y="404907"/>
            <a:ext cx="18859" cy="18859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18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Vue Executive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788" y="419576"/>
            <a:ext cx="23050" cy="47148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9316" y="393382"/>
            <a:ext cx="23050" cy="733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72844" y="367188"/>
            <a:ext cx="23050" cy="99536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29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Segments</a:t>
            </a:r>
          </a:p>
        </p:txBody>
      </p:sp>
      <p:sp>
        <p:nvSpPr>
          <p:cNvPr id="16" name="Oval 15"/>
          <p:cNvSpPr/>
          <p:nvPr/>
        </p:nvSpPr>
        <p:spPr>
          <a:xfrm>
            <a:off x="5581650" y="361950"/>
            <a:ext cx="46101" cy="46101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40324" y="361950"/>
            <a:ext cx="46101" cy="46101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10987" y="420623"/>
            <a:ext cx="46101" cy="46101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40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94E1B"/>
                </a:solidFill>
                <a:latin typeface="Segoe UI"/>
              </a:rPr>
              <a:t>Cohortes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81650" y="523875"/>
            <a:ext cx="1028700" cy="1905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62750" y="377666"/>
            <a:ext cx="104775" cy="73342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15137" y="396716"/>
            <a:ext cx="4762" cy="352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151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Reclamations</a:t>
            </a:r>
          </a:p>
        </p:txBody>
      </p:sp>
      <p:sp>
        <p:nvSpPr>
          <p:cNvPr id="24" name="Lightning Bolt 23"/>
          <p:cNvSpPr/>
          <p:nvPr/>
        </p:nvSpPr>
        <p:spPr>
          <a:xfrm>
            <a:off x="7959566" y="361950"/>
            <a:ext cx="73342" cy="104775"/>
          </a:xfrm>
          <a:prstGeom prst="lightningBol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62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Plan d'action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29900" y="285750"/>
            <a:ext cx="1333500" cy="266700"/>
          </a:xfrm>
          <a:prstGeom prst="roundRect">
            <a:avLst>
              <a:gd name="adj" fmla="val 30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725150" y="379095"/>
            <a:ext cx="114300" cy="97155"/>
          </a:xfrm>
          <a:prstGeom prst="rect">
            <a:avLst/>
          </a:prstGeom>
          <a:noFill/>
          <a:ln w="12700">
            <a:solidFill>
              <a:srgbClr val="B0B8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25150" y="379095"/>
            <a:ext cx="114300" cy="22860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48010" y="361950"/>
            <a:ext cx="11430" cy="22860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805160" y="361950"/>
            <a:ext cx="11430" cy="22860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Isosceles Triangle 30"/>
          <p:cNvSpPr/>
          <p:nvPr/>
        </p:nvSpPr>
        <p:spPr>
          <a:xfrm rot="10800000">
            <a:off x="11811000" y="390525"/>
            <a:ext cx="76200" cy="45720"/>
          </a:xfrm>
          <a:prstGeom prst="triangle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8600" y="6591300"/>
            <a:ext cx="381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rgbClr val="6B7B95"/>
                </a:solidFill>
                <a:latin typeface="Segoe UI"/>
              </a:rPr>
              <a:t>DataProjectLab</a:t>
            </a:r>
            <a:r>
              <a:rPr sz="900" b="0" i="0" dirty="0">
                <a:solidFill>
                  <a:srgbClr val="6B7B95"/>
                </a:solidFill>
                <a:latin typeface="Segoe UI"/>
              </a:rPr>
              <a:t>  -  </a:t>
            </a:r>
            <a:r>
              <a:rPr sz="900" b="0" i="0" dirty="0" err="1">
                <a:solidFill>
                  <a:srgbClr val="6B7B95"/>
                </a:solidFill>
                <a:latin typeface="Segoe UI"/>
              </a:rPr>
              <a:t>IvoirCo</a:t>
            </a:r>
            <a:r>
              <a:rPr lang="fr-FR" sz="900" b="0" i="0" dirty="0">
                <a:solidFill>
                  <a:srgbClr val="6B7B95"/>
                </a:solidFill>
                <a:latin typeface="Segoe UI"/>
              </a:rPr>
              <a:t>m</a:t>
            </a:r>
            <a:endParaRPr sz="900" b="0" i="0" dirty="0">
              <a:solidFill>
                <a:srgbClr val="6B7B95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7B95"/>
                </a:solidFill>
                <a:latin typeface="Segoe UI"/>
              </a:rPr>
              <a:t>Page 3 /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429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385762" y="1376362"/>
            <a:ext cx="123825" cy="123825"/>
          </a:xfrm>
          <a:prstGeom prst="ellipse">
            <a:avLst/>
          </a:prstGeom>
          <a:noFill/>
          <a:ln w="15240">
            <a:solidFill>
              <a:srgbClr val="10D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Oval 38"/>
          <p:cNvSpPr/>
          <p:nvPr/>
        </p:nvSpPr>
        <p:spPr>
          <a:xfrm>
            <a:off x="419814" y="1410414"/>
            <a:ext cx="55721" cy="55721"/>
          </a:xfrm>
          <a:prstGeom prst="ellipse">
            <a:avLst/>
          </a:prstGeom>
          <a:noFill/>
          <a:ln w="12700">
            <a:solidFill>
              <a:srgbClr val="10D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Oval 39"/>
          <p:cNvSpPr/>
          <p:nvPr/>
        </p:nvSpPr>
        <p:spPr>
          <a:xfrm>
            <a:off x="436530" y="1427130"/>
            <a:ext cx="22288" cy="22288"/>
          </a:xfrm>
          <a:prstGeom prst="ellipse">
            <a:avLst/>
          </a:prstGeom>
          <a:solidFill>
            <a:srgbClr val="10D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28625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Oval 42"/>
          <p:cNvSpPr/>
          <p:nvPr/>
        </p:nvSpPr>
        <p:spPr>
          <a:xfrm>
            <a:off x="4329112" y="1376362"/>
            <a:ext cx="123825" cy="123825"/>
          </a:xfrm>
          <a:prstGeom prst="ellipse">
            <a:avLst/>
          </a:prstGeom>
          <a:noFill/>
          <a:ln w="1524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4363164" y="1410414"/>
            <a:ext cx="55721" cy="55721"/>
          </a:xfrm>
          <a:prstGeom prst="ellipse">
            <a:avLst/>
          </a:prstGeom>
          <a:noFill/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4379880" y="1427130"/>
            <a:ext cx="22288" cy="22288"/>
          </a:xfrm>
          <a:prstGeom prst="ellips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2296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Oval 47"/>
          <p:cNvSpPr/>
          <p:nvPr/>
        </p:nvSpPr>
        <p:spPr>
          <a:xfrm>
            <a:off x="8272462" y="1376362"/>
            <a:ext cx="54483" cy="54483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Oval 48"/>
          <p:cNvSpPr/>
          <p:nvPr/>
        </p:nvSpPr>
        <p:spPr>
          <a:xfrm>
            <a:off x="8341804" y="1376362"/>
            <a:ext cx="54483" cy="54483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Oval 49"/>
          <p:cNvSpPr/>
          <p:nvPr/>
        </p:nvSpPr>
        <p:spPr>
          <a:xfrm>
            <a:off x="8307133" y="1445704"/>
            <a:ext cx="54483" cy="54483"/>
          </a:xfrm>
          <a:prstGeom prst="ellipse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228600" y="2190750"/>
            <a:ext cx="11734800" cy="26670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28600" y="4972050"/>
            <a:ext cx="11734800" cy="15430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3471" y="296227"/>
            <a:ext cx="113157" cy="188595"/>
          </a:xfrm>
          <a:prstGeom prst="roundRect">
            <a:avLst>
              <a:gd name="adj" fmla="val 18000"/>
            </a:avLst>
          </a:prstGeom>
          <a:noFill/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190" y="456533"/>
            <a:ext cx="37719" cy="94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955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IvoirCom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9100"/>
            <a:ext cx="2476500" cy="133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0B8C7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8" name="Oval 7"/>
          <p:cNvSpPr/>
          <p:nvPr/>
        </p:nvSpPr>
        <p:spPr>
          <a:xfrm>
            <a:off x="3219450" y="361950"/>
            <a:ext cx="104775" cy="104775"/>
          </a:xfrm>
          <a:prstGeom prst="ellipse">
            <a:avLst/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248263" y="390763"/>
            <a:ext cx="47148" cy="47148"/>
          </a:xfrm>
          <a:prstGeom prst="ellipse">
            <a:avLst/>
          </a:prstGeom>
          <a:noFill/>
          <a:ln w="1270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262407" y="404907"/>
            <a:ext cx="18859" cy="18859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18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Vue Executive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788" y="419576"/>
            <a:ext cx="23050" cy="47148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9316" y="393382"/>
            <a:ext cx="23050" cy="733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72844" y="367188"/>
            <a:ext cx="23050" cy="99536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29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Segments</a:t>
            </a:r>
          </a:p>
        </p:txBody>
      </p:sp>
      <p:sp>
        <p:nvSpPr>
          <p:cNvPr id="16" name="Oval 15"/>
          <p:cNvSpPr/>
          <p:nvPr/>
        </p:nvSpPr>
        <p:spPr>
          <a:xfrm>
            <a:off x="5581650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40324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10987" y="420623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40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Cohortes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2750" y="377666"/>
            <a:ext cx="104775" cy="73342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E94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15137" y="396716"/>
            <a:ext cx="4762" cy="35242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51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94E1B"/>
                </a:solidFill>
                <a:latin typeface="Segoe UI"/>
              </a:rPr>
              <a:t>Reclamations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2750" y="523875"/>
            <a:ext cx="1028700" cy="1905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Lightning Bolt 23"/>
          <p:cNvSpPr/>
          <p:nvPr/>
        </p:nvSpPr>
        <p:spPr>
          <a:xfrm>
            <a:off x="7959566" y="361950"/>
            <a:ext cx="73342" cy="104775"/>
          </a:xfrm>
          <a:prstGeom prst="lightningBol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962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Plan d'action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29900" y="285750"/>
            <a:ext cx="1333500" cy="266700"/>
          </a:xfrm>
          <a:prstGeom prst="roundRect">
            <a:avLst>
              <a:gd name="adj" fmla="val 30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10725150" y="361950"/>
            <a:ext cx="114300" cy="68580"/>
          </a:xfrm>
          <a:prstGeom prst="triangle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70870" y="424815"/>
            <a:ext cx="22860" cy="51435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11811000" y="390525"/>
            <a:ext cx="76200" cy="45720"/>
          </a:xfrm>
          <a:prstGeom prst="triangle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" y="6591300"/>
            <a:ext cx="381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rgbClr val="6B7B95"/>
                </a:solidFill>
                <a:latin typeface="Segoe UI"/>
              </a:rPr>
              <a:t>DataProjectLab</a:t>
            </a:r>
            <a:r>
              <a:rPr sz="900" b="0" i="0" dirty="0">
                <a:solidFill>
                  <a:srgbClr val="6B7B95"/>
                </a:solidFill>
                <a:latin typeface="Segoe UI"/>
              </a:rPr>
              <a:t>  -  </a:t>
            </a:r>
            <a:r>
              <a:rPr sz="900" b="0" i="0" dirty="0" err="1">
                <a:solidFill>
                  <a:srgbClr val="6B7B95"/>
                </a:solidFill>
                <a:latin typeface="Segoe UI"/>
              </a:rPr>
              <a:t>IvoirCom</a:t>
            </a:r>
            <a:endParaRPr sz="900" b="0" i="0" dirty="0">
              <a:solidFill>
                <a:srgbClr val="6B7B95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7B95"/>
                </a:solidFill>
                <a:latin typeface="Segoe UI"/>
              </a:rPr>
              <a:t>Page 4 /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29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85762" y="1394936"/>
            <a:ext cx="123825" cy="86677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B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7675" y="1413986"/>
            <a:ext cx="4762" cy="48577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28625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Isosceles Triangle 39"/>
          <p:cNvSpPr/>
          <p:nvPr/>
        </p:nvSpPr>
        <p:spPr>
          <a:xfrm rot="10800000">
            <a:off x="4329112" y="1376362"/>
            <a:ext cx="123825" cy="74295"/>
          </a:xfrm>
          <a:prstGeom prst="triangl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78642" y="1444466"/>
            <a:ext cx="24765" cy="55721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2296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Oval 43"/>
          <p:cNvSpPr/>
          <p:nvPr/>
        </p:nvSpPr>
        <p:spPr>
          <a:xfrm>
            <a:off x="8272462" y="1376362"/>
            <a:ext cx="123825" cy="123825"/>
          </a:xfrm>
          <a:prstGeom prst="ellipse">
            <a:avLst/>
          </a:prstGeom>
          <a:noFill/>
          <a:ln w="15240">
            <a:solidFill>
              <a:srgbClr val="8B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Oval 44"/>
          <p:cNvSpPr/>
          <p:nvPr/>
        </p:nvSpPr>
        <p:spPr>
          <a:xfrm>
            <a:off x="8306514" y="1410414"/>
            <a:ext cx="55721" cy="55721"/>
          </a:xfrm>
          <a:prstGeom prst="ellipse">
            <a:avLst/>
          </a:prstGeom>
          <a:noFill/>
          <a:ln w="12700">
            <a:solidFill>
              <a:srgbClr val="8B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Oval 45"/>
          <p:cNvSpPr/>
          <p:nvPr/>
        </p:nvSpPr>
        <p:spPr>
          <a:xfrm>
            <a:off x="8323230" y="1427130"/>
            <a:ext cx="22288" cy="22288"/>
          </a:xfrm>
          <a:prstGeom prst="ellipse">
            <a:avLst/>
          </a:prstGeom>
          <a:solidFill>
            <a:srgbClr val="8B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228600" y="2190750"/>
            <a:ext cx="6391275" cy="1619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6734175" y="2190750"/>
            <a:ext cx="5229225" cy="1619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28600" y="3924300"/>
            <a:ext cx="11734800" cy="762000"/>
          </a:xfrm>
          <a:prstGeom prst="roundRect">
            <a:avLst>
              <a:gd name="adj" fmla="val 6000"/>
            </a:avLst>
          </a:prstGeom>
          <a:solidFill>
            <a:srgbClr val="3D1421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28600" y="3924300"/>
            <a:ext cx="28575" cy="76200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228600" y="4781550"/>
            <a:ext cx="11734800" cy="17335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4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28600" y="219075"/>
            <a:ext cx="342900" cy="342900"/>
          </a:xfrm>
          <a:prstGeom prst="roundRect">
            <a:avLst>
              <a:gd name="adj" fmla="val 18000"/>
            </a:avLst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3471" y="296227"/>
            <a:ext cx="113157" cy="188595"/>
          </a:xfrm>
          <a:prstGeom prst="roundRect">
            <a:avLst>
              <a:gd name="adj" fmla="val 18000"/>
            </a:avLst>
          </a:prstGeom>
          <a:noFill/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81190" y="456533"/>
            <a:ext cx="37719" cy="942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9550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IvoirCom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9100"/>
            <a:ext cx="2476500" cy="133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B0B8C7"/>
                </a:solidFill>
                <a:latin typeface="Segoe UI"/>
              </a:rPr>
              <a:t>Customer Churn Analytics</a:t>
            </a:r>
          </a:p>
        </p:txBody>
      </p:sp>
      <p:sp>
        <p:nvSpPr>
          <p:cNvPr id="8" name="Oval 7"/>
          <p:cNvSpPr/>
          <p:nvPr/>
        </p:nvSpPr>
        <p:spPr>
          <a:xfrm>
            <a:off x="3219450" y="361950"/>
            <a:ext cx="104775" cy="104775"/>
          </a:xfrm>
          <a:prstGeom prst="ellipse">
            <a:avLst/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3248263" y="390763"/>
            <a:ext cx="47148" cy="47148"/>
          </a:xfrm>
          <a:prstGeom prst="ellipse">
            <a:avLst/>
          </a:prstGeom>
          <a:noFill/>
          <a:ln w="1270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262407" y="404907"/>
            <a:ext cx="18859" cy="18859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18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Vue Executive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5788" y="419576"/>
            <a:ext cx="23050" cy="47148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9316" y="393382"/>
            <a:ext cx="23050" cy="733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72844" y="367188"/>
            <a:ext cx="23050" cy="99536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29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Segments</a:t>
            </a:r>
          </a:p>
        </p:txBody>
      </p:sp>
      <p:sp>
        <p:nvSpPr>
          <p:cNvPr id="16" name="Oval 15"/>
          <p:cNvSpPr/>
          <p:nvPr/>
        </p:nvSpPr>
        <p:spPr>
          <a:xfrm>
            <a:off x="5581650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40324" y="361950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610987" y="420623"/>
            <a:ext cx="46101" cy="46101"/>
          </a:xfrm>
          <a:prstGeom prst="ellipse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340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Cohortes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2750" y="377666"/>
            <a:ext cx="104775" cy="73342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6B7B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15137" y="396716"/>
            <a:ext cx="4762" cy="35242"/>
          </a:xfrm>
          <a:prstGeom prst="rect">
            <a:avLst/>
          </a:prstGeom>
          <a:solidFill>
            <a:srgbClr val="6B7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9151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B95"/>
                </a:solidFill>
                <a:latin typeface="Segoe UI"/>
              </a:rPr>
              <a:t>Reclamations</a:t>
            </a:r>
          </a:p>
        </p:txBody>
      </p:sp>
      <p:sp>
        <p:nvSpPr>
          <p:cNvPr id="23" name="Lightning Bolt 22"/>
          <p:cNvSpPr/>
          <p:nvPr/>
        </p:nvSpPr>
        <p:spPr>
          <a:xfrm>
            <a:off x="7959566" y="361950"/>
            <a:ext cx="73342" cy="104775"/>
          </a:xfrm>
          <a:prstGeom prst="lightningBol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96250" y="333375"/>
            <a:ext cx="952500" cy="152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94E1B"/>
                </a:solidFill>
                <a:latin typeface="Segoe UI"/>
              </a:rPr>
              <a:t>Plan d'action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3850" y="523875"/>
            <a:ext cx="1028700" cy="19050"/>
          </a:xfrm>
          <a:prstGeom prst="rect">
            <a:avLst/>
          </a:prstGeom>
          <a:solidFill>
            <a:srgbClr val="E94E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629900" y="285750"/>
            <a:ext cx="1333500" cy="266700"/>
          </a:xfrm>
          <a:prstGeom prst="roundRect">
            <a:avLst>
              <a:gd name="adj" fmla="val 30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10725150" y="361950"/>
            <a:ext cx="114300" cy="68580"/>
          </a:xfrm>
          <a:prstGeom prst="triangle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770870" y="424815"/>
            <a:ext cx="22860" cy="51435"/>
          </a:xfrm>
          <a:prstGeom prst="rect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Isosceles Triangle 28"/>
          <p:cNvSpPr/>
          <p:nvPr/>
        </p:nvSpPr>
        <p:spPr>
          <a:xfrm rot="10800000">
            <a:off x="11811000" y="390525"/>
            <a:ext cx="76200" cy="45720"/>
          </a:xfrm>
          <a:prstGeom prst="triangle">
            <a:avLst/>
          </a:prstGeom>
          <a:solidFill>
            <a:srgbClr val="B0B8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647700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6562725"/>
            <a:ext cx="11734800" cy="4762"/>
          </a:xfrm>
          <a:prstGeom prst="rect">
            <a:avLst/>
          </a:prstGeom>
          <a:solidFill>
            <a:srgbClr val="2A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" y="6591300"/>
            <a:ext cx="38100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 err="1">
                <a:solidFill>
                  <a:srgbClr val="6B7B95"/>
                </a:solidFill>
                <a:latin typeface="Segoe UI"/>
              </a:rPr>
              <a:t>DataProjectLab</a:t>
            </a:r>
            <a:r>
              <a:rPr sz="900" b="0" i="0" dirty="0">
                <a:solidFill>
                  <a:srgbClr val="6B7B95"/>
                </a:solidFill>
                <a:latin typeface="Segoe UI"/>
              </a:rPr>
              <a:t>  -  </a:t>
            </a:r>
            <a:r>
              <a:rPr sz="900" b="0" i="0" dirty="0" err="1">
                <a:solidFill>
                  <a:srgbClr val="6B7B95"/>
                </a:solidFill>
                <a:latin typeface="Segoe UI"/>
              </a:rPr>
              <a:t>IvoirCo</a:t>
            </a:r>
            <a:r>
              <a:rPr lang="fr-FR" sz="900" b="0" i="0" dirty="0">
                <a:solidFill>
                  <a:srgbClr val="6B7B95"/>
                </a:solidFill>
                <a:latin typeface="Segoe UI"/>
              </a:rPr>
              <a:t>m</a:t>
            </a:r>
            <a:endParaRPr sz="900" b="0" i="0" dirty="0">
              <a:solidFill>
                <a:srgbClr val="6B7B95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201400" y="6591300"/>
            <a:ext cx="7620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7B95"/>
                </a:solidFill>
                <a:latin typeface="Segoe UI"/>
              </a:rPr>
              <a:t>Page 5 / 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29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385762" y="1376362"/>
            <a:ext cx="123825" cy="123825"/>
          </a:xfrm>
          <a:prstGeom prst="ellipse">
            <a:avLst/>
          </a:prstGeom>
          <a:noFill/>
          <a:ln w="15240">
            <a:solidFill>
              <a:srgbClr val="10D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419814" y="1410414"/>
            <a:ext cx="55721" cy="55721"/>
          </a:xfrm>
          <a:prstGeom prst="ellipse">
            <a:avLst/>
          </a:prstGeom>
          <a:noFill/>
          <a:ln w="12700">
            <a:solidFill>
              <a:srgbClr val="10D9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Oval 37"/>
          <p:cNvSpPr/>
          <p:nvPr/>
        </p:nvSpPr>
        <p:spPr>
          <a:xfrm>
            <a:off x="436530" y="1427130"/>
            <a:ext cx="22288" cy="22288"/>
          </a:xfrm>
          <a:prstGeom prst="ellipse">
            <a:avLst/>
          </a:prstGeom>
          <a:solidFill>
            <a:srgbClr val="10D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8600" y="1219200"/>
            <a:ext cx="19050" cy="857250"/>
          </a:xfrm>
          <a:prstGeom prst="rect">
            <a:avLst/>
          </a:prstGeom>
          <a:solidFill>
            <a:srgbClr val="10D9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17195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28625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Isosceles Triangle 41"/>
          <p:cNvSpPr/>
          <p:nvPr/>
        </p:nvSpPr>
        <p:spPr>
          <a:xfrm rot="10800000">
            <a:off x="4329112" y="1376362"/>
            <a:ext cx="123825" cy="74295"/>
          </a:xfrm>
          <a:prstGeom prst="triangle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378642" y="1444466"/>
            <a:ext cx="24765" cy="55721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71950" y="1219200"/>
            <a:ext cx="19050" cy="85725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115300" y="1219200"/>
            <a:ext cx="3829050" cy="8572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229600" y="1333500"/>
            <a:ext cx="209550" cy="209550"/>
          </a:xfrm>
          <a:prstGeom prst="roundRect">
            <a:avLst>
              <a:gd name="adj" fmla="val 22000"/>
            </a:avLst>
          </a:prstGeom>
          <a:solidFill>
            <a:srgbClr val="23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Isosceles Triangle 46"/>
          <p:cNvSpPr/>
          <p:nvPr/>
        </p:nvSpPr>
        <p:spPr>
          <a:xfrm rot="10800000">
            <a:off x="8272462" y="1376362"/>
            <a:ext cx="123825" cy="74295"/>
          </a:xfrm>
          <a:prstGeom prst="triangle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21992" y="1444466"/>
            <a:ext cx="24765" cy="55721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15300" y="1219200"/>
            <a:ext cx="19050" cy="85725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228600" y="2190750"/>
            <a:ext cx="5334000" cy="17145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676900" y="2190750"/>
            <a:ext cx="6286500" cy="171450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228600" y="4000500"/>
            <a:ext cx="11734800" cy="571500"/>
          </a:xfrm>
          <a:prstGeom prst="roundRect">
            <a:avLst>
              <a:gd name="adj" fmla="val 8000"/>
            </a:avLst>
          </a:prstGeom>
          <a:solidFill>
            <a:srgbClr val="2A1810"/>
          </a:solidFill>
          <a:ln w="12700">
            <a:solidFill>
              <a:srgbClr val="E94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228600" y="4667250"/>
            <a:ext cx="11734800" cy="1847850"/>
          </a:xfrm>
          <a:prstGeom prst="roundRect">
            <a:avLst>
              <a:gd name="adj" fmla="val 4000"/>
            </a:avLst>
          </a:prstGeom>
          <a:solidFill>
            <a:srgbClr val="1A2436"/>
          </a:solidFill>
          <a:ln w="635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92</Words>
  <Application>Microsoft Office PowerPoint</Application>
  <PresentationFormat>Grand écran</PresentationFormat>
  <Paragraphs>45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Segoe UI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user</dc:creator>
  <cp:keywords/>
  <dc:description>generated using python-pptx</dc:description>
  <cp:lastModifiedBy>soum youss</cp:lastModifiedBy>
  <cp:revision>4</cp:revision>
  <dcterms:created xsi:type="dcterms:W3CDTF">2013-01-27T09:14:16Z</dcterms:created>
  <dcterms:modified xsi:type="dcterms:W3CDTF">2026-05-10T01:17:12Z</dcterms:modified>
  <cp:category/>
</cp:coreProperties>
</file>