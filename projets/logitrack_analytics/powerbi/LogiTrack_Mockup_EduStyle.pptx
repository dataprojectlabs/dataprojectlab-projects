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Livraisons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J22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  <c:pt idx="12">
                    <c:v>J23</c:v>
                  </c:pt>
                  <c:pt idx="13">
                    <c:v>F</c:v>
                  </c:pt>
                  <c:pt idx="14">
                    <c:v>M</c:v>
                  </c:pt>
                  <c:pt idx="15">
                    <c:v>A</c:v>
                  </c:pt>
                  <c:pt idx="16">
                    <c:v>M</c:v>
                  </c:pt>
                  <c:pt idx="17">
                    <c:v>J</c:v>
                  </c:pt>
                  <c:pt idx="18">
                    <c:v>J</c:v>
                  </c:pt>
                  <c:pt idx="19">
                    <c:v>A</c:v>
                  </c:pt>
                  <c:pt idx="20">
                    <c:v>S</c:v>
                  </c:pt>
                  <c:pt idx="21">
                    <c:v>O</c:v>
                  </c:pt>
                  <c:pt idx="22">
                    <c:v>N</c:v>
                  </c:pt>
                  <c:pt idx="23">
                    <c:v>D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620</c:v>
                </c:pt>
                <c:pt idx="1">
                  <c:v>510</c:v>
                </c:pt>
                <c:pt idx="2">
                  <c:v>560</c:v>
                </c:pt>
                <c:pt idx="3">
                  <c:v>575</c:v>
                </c:pt>
                <c:pt idx="4">
                  <c:v>635</c:v>
                </c:pt>
                <c:pt idx="5">
                  <c:v>520</c:v>
                </c:pt>
                <c:pt idx="6">
                  <c:v>445</c:v>
                </c:pt>
                <c:pt idx="7">
                  <c:v>460</c:v>
                </c:pt>
                <c:pt idx="8">
                  <c:v>575</c:v>
                </c:pt>
                <c:pt idx="9">
                  <c:v>600</c:v>
                </c:pt>
                <c:pt idx="10">
                  <c:v>840</c:v>
                </c:pt>
                <c:pt idx="11">
                  <c:v>880</c:v>
                </c:pt>
                <c:pt idx="12">
                  <c:v>660</c:v>
                </c:pt>
                <c:pt idx="13">
                  <c:v>525</c:v>
                </c:pt>
                <c:pt idx="14">
                  <c:v>595</c:v>
                </c:pt>
                <c:pt idx="15">
                  <c:v>605</c:v>
                </c:pt>
                <c:pt idx="16">
                  <c:v>655</c:v>
                </c:pt>
                <c:pt idx="17">
                  <c:v>545</c:v>
                </c:pt>
                <c:pt idx="18">
                  <c:v>460</c:v>
                </c:pt>
                <c:pt idx="19">
                  <c:v>475</c:v>
                </c:pt>
                <c:pt idx="20">
                  <c:v>580</c:v>
                </c:pt>
                <c:pt idx="21">
                  <c:v>625</c:v>
                </c:pt>
                <c:pt idx="22">
                  <c:v>815</c:v>
                </c:pt>
                <c:pt idx="23">
                  <c:v>865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E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bubble3D val="0"/>
            <c:spPr>
              <a:solidFill>
                <a:srgbClr val="E24B4A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Livré</c:v>
                </c:pt>
                <c:pt idx="1">
                  <c:v>Livré retard</c:v>
                </c:pt>
                <c:pt idx="2">
                  <c:v>Perdu</c:v>
                </c:pt>
                <c:pt idx="3">
                  <c:v>En transit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9120</c:v>
                </c:pt>
                <c:pt idx="1">
                  <c:v>5733</c:v>
                </c:pt>
                <c:pt idx="2">
                  <c:v>117</c:v>
                </c:pt>
                <c:pt idx="3">
                  <c:v>30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À l'heure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Sén.→Mali</c:v>
                  </c:pt>
                  <c:pt idx="1">
                    <c:v>CI→Bkn</c:v>
                  </c:pt>
                  <c:pt idx="2">
                    <c:v>Gh.→Mali</c:v>
                  </c:pt>
                  <c:pt idx="3">
                    <c:v>Mali→Cam</c:v>
                  </c:pt>
                  <c:pt idx="4">
                    <c:v>Bkn→Sén</c:v>
                  </c:pt>
                  <c:pt idx="5">
                    <c:v>Mali→Sén</c:v>
                  </c:pt>
                  <c:pt idx="6">
                    <c:v>Cam.→Bkn</c:v>
                  </c:pt>
                  <c:pt idx="7">
                    <c:v>Gh.→Sén</c:v>
                  </c:pt>
                  <c:pt idx="8">
                    <c:v>CI→Cam</c:v>
                  </c:pt>
                  <c:pt idx="9">
                    <c:v>CI→Sén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</c:v>
                </c:pt>
                <c:pt idx="1">
                  <c:v>51</c:v>
                </c:pt>
                <c:pt idx="2">
                  <c:v>53</c:v>
                </c:pt>
                <c:pt idx="3">
                  <c:v>55</c:v>
                </c:pt>
                <c:pt idx="4">
                  <c:v>57</c:v>
                </c:pt>
                <c:pt idx="5">
                  <c:v>59</c:v>
                </c:pt>
                <c:pt idx="6">
                  <c:v>61</c:v>
                </c:pt>
                <c:pt idx="7">
                  <c:v>65</c:v>
                </c:pt>
                <c:pt idx="8">
                  <c:v>72</c:v>
                </c:pt>
                <c:pt idx="9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Breach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Sén.→Mali</c:v>
                  </c:pt>
                  <c:pt idx="1">
                    <c:v>CI→Bkn</c:v>
                  </c:pt>
                  <c:pt idx="2">
                    <c:v>Gh.→Mali</c:v>
                  </c:pt>
                  <c:pt idx="3">
                    <c:v>Mali→Cam</c:v>
                  </c:pt>
                  <c:pt idx="4">
                    <c:v>Bkn→Sén</c:v>
                  </c:pt>
                  <c:pt idx="5">
                    <c:v>Mali→Sén</c:v>
                  </c:pt>
                  <c:pt idx="6">
                    <c:v>Cam.→Bkn</c:v>
                  </c:pt>
                  <c:pt idx="7">
                    <c:v>Gh.→Sén</c:v>
                  </c:pt>
                  <c:pt idx="8">
                    <c:v>CI→Cam</c:v>
                  </c:pt>
                  <c:pt idx="9">
                    <c:v>CI→Sén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52</c:v>
                </c:pt>
                <c:pt idx="1">
                  <c:v>49</c:v>
                </c:pt>
                <c:pt idx="2">
                  <c:v>47</c:v>
                </c:pt>
                <c:pt idx="3">
                  <c:v>45</c:v>
                </c:pt>
                <c:pt idx="4">
                  <c:v>43</c:v>
                </c:pt>
                <c:pt idx="5">
                  <c:v>41</c:v>
                </c:pt>
                <c:pt idx="6">
                  <c:v>39</c:v>
                </c:pt>
                <c:pt idx="7">
                  <c:v>35</c:v>
                </c:pt>
                <c:pt idx="8">
                  <c:v>28</c:v>
                </c:pt>
                <c:pt idx="9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381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Pénalités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94A3B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NordSud</c:v>
                  </c:pt>
                  <c:pt idx="1">
                    <c:v>Sahel</c:v>
                  </c:pt>
                  <c:pt idx="2">
                    <c:v>BurkinaFret</c:v>
                  </c:pt>
                  <c:pt idx="3">
                    <c:v>WestAfrica</c:v>
                  </c:pt>
                  <c:pt idx="4">
                    <c:v>LastMile</c:v>
                  </c:pt>
                  <c:pt idx="5">
                    <c:v>FastCargo</c:v>
                  </c:pt>
                  <c:pt idx="6">
                    <c:v>RegLink</c:v>
                  </c:pt>
                  <c:pt idx="7">
                    <c:v>OceanRoute</c:v>
                  </c:pt>
                  <c:pt idx="8">
                    <c:v>TransOuest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</c:v>
                </c:pt>
                <c:pt idx="1">
                  <c:v>38</c:v>
                </c:pt>
                <c:pt idx="2">
                  <c:v>32</c:v>
                </c:pt>
                <c:pt idx="3">
                  <c:v>26</c:v>
                </c:pt>
                <c:pt idx="4">
                  <c:v>19</c:v>
                </c:pt>
                <c:pt idx="5">
                  <c:v>14</c:v>
                </c:pt>
                <c:pt idx="6">
                  <c:v>9</c:v>
                </c:pt>
                <c:pt idx="7">
                  <c:v>7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94A3B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E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CSAT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J22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  <c:pt idx="12">
                    <c:v>J23</c:v>
                  </c:pt>
                  <c:pt idx="13">
                    <c:v>F</c:v>
                  </c:pt>
                  <c:pt idx="14">
                    <c:v>M</c:v>
                  </c:pt>
                  <c:pt idx="15">
                    <c:v>A</c:v>
                  </c:pt>
                  <c:pt idx="16">
                    <c:v>M</c:v>
                  </c:pt>
                  <c:pt idx="17">
                    <c:v>J</c:v>
                  </c:pt>
                  <c:pt idx="18">
                    <c:v>J</c:v>
                  </c:pt>
                  <c:pt idx="19">
                    <c:v>A</c:v>
                  </c:pt>
                  <c:pt idx="20">
                    <c:v>S</c:v>
                  </c:pt>
                  <c:pt idx="21">
                    <c:v>O</c:v>
                  </c:pt>
                  <c:pt idx="22">
                    <c:v>N</c:v>
                  </c:pt>
                  <c:pt idx="23">
                    <c:v>D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3.9</c:v>
                </c:pt>
                <c:pt idx="1">
                  <c:v>3.7</c:v>
                </c:pt>
                <c:pt idx="2">
                  <c:v>3.5</c:v>
                </c:pt>
                <c:pt idx="3">
                  <c:v>3.6</c:v>
                </c:pt>
                <c:pt idx="4">
                  <c:v>3.7</c:v>
                </c:pt>
                <c:pt idx="5">
                  <c:v>3.8</c:v>
                </c:pt>
                <c:pt idx="6">
                  <c:v>4</c:v>
                </c:pt>
                <c:pt idx="7">
                  <c:v>3.9</c:v>
                </c:pt>
                <c:pt idx="8">
                  <c:v>3.7</c:v>
                </c:pt>
                <c:pt idx="9">
                  <c:v>3.5</c:v>
                </c:pt>
                <c:pt idx="10">
                  <c:v>3.2</c:v>
                </c:pt>
                <c:pt idx="11">
                  <c:v>3.1</c:v>
                </c:pt>
                <c:pt idx="12">
                  <c:v>3.8</c:v>
                </c:pt>
                <c:pt idx="13">
                  <c:v>3.6</c:v>
                </c:pt>
                <c:pt idx="14">
                  <c:v>3.5</c:v>
                </c:pt>
                <c:pt idx="15">
                  <c:v>3.6</c:v>
                </c:pt>
                <c:pt idx="16">
                  <c:v>3.7</c:v>
                </c:pt>
                <c:pt idx="17">
                  <c:v>3.8</c:v>
                </c:pt>
                <c:pt idx="18">
                  <c:v>3.9</c:v>
                </c:pt>
                <c:pt idx="19">
                  <c:v>4</c:v>
                </c:pt>
                <c:pt idx="20">
                  <c:v>3.7</c:v>
                </c:pt>
                <c:pt idx="21">
                  <c:v>3.6</c:v>
                </c:pt>
                <c:pt idx="22">
                  <c:v>3.3</c:v>
                </c:pt>
                <c:pt idx="23">
                  <c:v>3.2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Breach% / 10</c:v>
                </c:pt>
              </c:strCache>
            </c:strRef>
          </c:tx>
          <c:spPr>
            <a:solidFill>
              <a:srgbClr val="E24B4A"/>
            </a:solidFill>
            <a:ln w="31750" cap="flat">
              <a:solidFill>
                <a:srgbClr val="E24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J22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  <c:pt idx="12">
                    <c:v>J23</c:v>
                  </c:pt>
                  <c:pt idx="13">
                    <c:v>F</c:v>
                  </c:pt>
                  <c:pt idx="14">
                    <c:v>M</c:v>
                  </c:pt>
                  <c:pt idx="15">
                    <c:v>A</c:v>
                  </c:pt>
                  <c:pt idx="16">
                    <c:v>M</c:v>
                  </c:pt>
                  <c:pt idx="17">
                    <c:v>J</c:v>
                  </c:pt>
                  <c:pt idx="18">
                    <c:v>J</c:v>
                  </c:pt>
                  <c:pt idx="19">
                    <c:v>A</c:v>
                  </c:pt>
                  <c:pt idx="20">
                    <c:v>S</c:v>
                  </c:pt>
                  <c:pt idx="21">
                    <c:v>O</c:v>
                  </c:pt>
                  <c:pt idx="22">
                    <c:v>N</c:v>
                  </c:pt>
                  <c:pt idx="23">
                    <c:v>D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3.7</c:v>
                </c:pt>
                <c:pt idx="1">
                  <c:v>3.5</c:v>
                </c:pt>
                <c:pt idx="2">
                  <c:v>4.1</c:v>
                </c:pt>
                <c:pt idx="3">
                  <c:v>3.8</c:v>
                </c:pt>
                <c:pt idx="4">
                  <c:v>3.9</c:v>
                </c:pt>
                <c:pt idx="5">
                  <c:v>3.6</c:v>
                </c:pt>
                <c:pt idx="6">
                  <c:v>3.4</c:v>
                </c:pt>
                <c:pt idx="7">
                  <c:v>3.3</c:v>
                </c:pt>
                <c:pt idx="8">
                  <c:v>3.8</c:v>
                </c:pt>
                <c:pt idx="9">
                  <c:v>4</c:v>
                </c:pt>
                <c:pt idx="10">
                  <c:v>4.6</c:v>
                </c:pt>
                <c:pt idx="11">
                  <c:v>5</c:v>
                </c:pt>
                <c:pt idx="12">
                  <c:v>3.9</c:v>
                </c:pt>
                <c:pt idx="13">
                  <c:v>3.7</c:v>
                </c:pt>
                <c:pt idx="14">
                  <c:v>4.2</c:v>
                </c:pt>
                <c:pt idx="15">
                  <c:v>4</c:v>
                </c:pt>
                <c:pt idx="16">
                  <c:v>4.1</c:v>
                </c:pt>
                <c:pt idx="17">
                  <c:v>3.7</c:v>
                </c:pt>
                <c:pt idx="18">
                  <c:v>3.5</c:v>
                </c:pt>
                <c:pt idx="19">
                  <c:v>3.4</c:v>
                </c:pt>
                <c:pt idx="20">
                  <c:v>3.9</c:v>
                </c:pt>
                <c:pt idx="21">
                  <c:v>4.1</c:v>
                </c:pt>
                <c:pt idx="22">
                  <c:v>4.5</c:v>
                </c:pt>
                <c:pt idx="23">
                  <c:v>4.8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CSAT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94A3B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4785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1★</c:v>
                  </c:pt>
                  <c:pt idx="1">
                    <c:v>2★</c:v>
                  </c:pt>
                  <c:pt idx="2">
                    <c:v>3★</c:v>
                  </c:pt>
                  <c:pt idx="3">
                    <c:v>4★</c:v>
                  </c:pt>
                  <c:pt idx="4">
                    <c:v>5★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9</c:v>
                </c:pt>
                <c:pt idx="2">
                  <c:v>12</c:v>
                </c:pt>
                <c:pt idx="3">
                  <c:v>22</c:v>
                </c:pt>
                <c:pt idx="4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94A3B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E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2D6E"/>
          </a:solidFill>
          <a:ln w="12700">
            <a:solidFill>
              <a:srgbClr val="2D2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274320"/>
            <a:ext cx="2743200" cy="2743200"/>
          </a:xfrm>
          <a:prstGeom prst="ellipse">
            <a:avLst/>
          </a:prstGeom>
          <a:solidFill>
            <a:srgbClr val="3B3B80">
              <a:alpha val="80000"/>
            </a:srgbClr>
          </a:solidFill>
          <a:ln w="12700">
            <a:solidFill>
              <a:srgbClr val="3B3B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3200400"/>
            <a:ext cx="2743200" cy="2743200"/>
          </a:xfrm>
          <a:prstGeom prst="ellipse">
            <a:avLst/>
          </a:prstGeom>
          <a:solidFill>
            <a:srgbClr val="2A2A60">
              <a:alpha val="70000"/>
            </a:srgbClr>
          </a:solidFill>
          <a:ln w="12700">
            <a:solidFill>
              <a:srgbClr val="2A2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2004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20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DataProjectLab  ·  2024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LogiTrack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BBBBEE"/>
                </a:solidFill>
              </a:rPr>
              <a:t>Supply Chain Analytics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BB"/>
                </a:solidFill>
              </a:rPr>
              <a:t>Dashboard Power BI — 5 pages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246120"/>
            <a:ext cx="8229600" cy="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383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15 000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</a:rPr>
              <a:t>Livraisons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3383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39.0%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48840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</a:rPr>
              <a:t>Taux breach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3383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3.65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86200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</a:rPr>
              <a:t>CSAT moyen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3383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280k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23560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</a:rPr>
              <a:t>FCFA pénalités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60920" y="3383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 pages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60920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553712"/>
            <a:ext cx="9144000" cy="594360"/>
          </a:xfrm>
          <a:prstGeom prst="rect">
            <a:avLst/>
          </a:prstGeom>
          <a:solidFill>
            <a:srgbClr val="14143A"/>
          </a:solidFill>
          <a:ln w="12700">
            <a:solidFill>
              <a:srgbClr val="1414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45537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01 Vue Executive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65960" y="4663440"/>
            <a:ext cx="0" cy="36576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45537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02 Corridors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94760" y="4663440"/>
            <a:ext cx="0" cy="36576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45537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03 Transporteurs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23560" y="4663440"/>
            <a:ext cx="0" cy="36576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45537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04 CSAT &amp; Qualité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52360" y="4663440"/>
            <a:ext cx="0" cy="36576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45537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05 Alertes 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17320" cy="5143500"/>
          </a:xfrm>
          <a:prstGeom prst="rect">
            <a:avLst/>
          </a:prstGeom>
          <a:solidFill>
            <a:srgbClr val="1E1E3F"/>
          </a:solidFill>
          <a:ln w="12700">
            <a:solidFill>
              <a:srgbClr val="1E1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914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25603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BB"/>
                </a:solidFill>
              </a:rPr>
              <a:t>Analytics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30352"/>
            <a:ext cx="1188720" cy="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" y="621792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" y="621792"/>
            <a:ext cx="36576" cy="42062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" y="694944"/>
            <a:ext cx="274320" cy="27432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" y="694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64008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Vue executive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5448" y="1207008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" y="1152144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Corridors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5448" y="1719072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166420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Transporteurs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5448" y="2231136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17627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CSAT &amp; Qualité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5448" y="2743200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688336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Alertes ML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9728" y="4553712"/>
            <a:ext cx="1188720" cy="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88"/>
                </a:solidFill>
              </a:rPr>
              <a:t>DataProjectLab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9728" y="477316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77"/>
                </a:solidFill>
              </a:rPr>
              <a:t>2022 - 2024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417320" y="0"/>
            <a:ext cx="7726680" cy="621792"/>
          </a:xfrm>
          <a:prstGeom prst="rect">
            <a:avLst/>
          </a:prstGeom>
          <a:solidFill>
            <a:srgbClr val="F5F5F8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0"/>
            <a:ext cx="274320" cy="621792"/>
          </a:xfrm>
          <a:prstGeom prst="rtTriangle">
            <a:avLst/>
          </a:prstGeom>
          <a:solidFill>
            <a:srgbClr val="534AB7">
              <a:alpha val="7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65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Vue executive — LogiTrack Analytics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37360" y="38404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Janv. 2022 – Déc. 2023  ·  Tous corridors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508760" y="694944"/>
            <a:ext cx="17830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508760" y="694944"/>
            <a:ext cx="178308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73352" y="786384"/>
            <a:ext cx="158191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34AB7"/>
                </a:solidFill>
              </a:rPr>
              <a:t>6 853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673352" y="118872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Livraisons livrées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73352" y="1336853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+8.2% vs période préc.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64992" y="694944"/>
            <a:ext cx="17830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64992" y="694944"/>
            <a:ext cx="178308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9584" y="786384"/>
            <a:ext cx="158191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</a:rPr>
              <a:t>39.0%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3529584" y="118872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Taux SLA breach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29584" y="1336853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Cible : &lt;30%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221224" y="694944"/>
            <a:ext cx="17830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221224" y="694944"/>
            <a:ext cx="1783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85816" y="786384"/>
            <a:ext cx="158191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3.65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5385816" y="118872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CSAT moyen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85816" y="1336853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Sur parcours livrés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077456" y="694944"/>
            <a:ext cx="18745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077456" y="694944"/>
            <a:ext cx="187452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786384"/>
            <a:ext cx="167335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280k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7242048" y="118872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Pénalités FCFA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242048" y="1336853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Coût direct retards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508760" y="1591056"/>
            <a:ext cx="7443216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00200" y="15910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4B4A"/>
                </a:solidFill>
              </a:rPr>
              <a:t>⚠  47 livraisons en risque critique — score &gt; 0.75 — intervention requise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508760" y="1920240"/>
            <a:ext cx="5074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8100000">
              <a:srgbClr val="C4C9D4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645920" y="1956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Livraisons mensuelles + taux breach</a:t>
            </a:r>
            <a:endParaRPr lang="en-US" sz="1100" dirty="0"/>
          </a:p>
        </p:txBody>
      </p:sp>
      <p:graphicFrame>
        <p:nvGraphicFramePr>
          <p:cNvPr id="56" name="Chart 0" descr=""/>
          <p:cNvGraphicFramePr/>
          <p:nvPr/>
        </p:nvGraphicFramePr>
        <p:xfrm>
          <a:off x="1554480" y="2176272"/>
          <a:ext cx="4983480" cy="26151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7" name="Shape 54"/>
          <p:cNvSpPr/>
          <p:nvPr/>
        </p:nvSpPr>
        <p:spPr>
          <a:xfrm>
            <a:off x="6656832" y="1920240"/>
            <a:ext cx="2286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8100000">
              <a:srgbClr val="C4C9D4">
                <a:alpha val="15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6748272" y="1956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Répartition statuts</a:t>
            </a:r>
            <a:endParaRPr lang="en-US" sz="1100" dirty="0"/>
          </a:p>
        </p:txBody>
      </p:sp>
      <p:graphicFrame>
        <p:nvGraphicFramePr>
          <p:cNvPr id="59" name="Chart 1" descr=""/>
          <p:cNvGraphicFramePr/>
          <p:nvPr/>
        </p:nvGraphicFramePr>
        <p:xfrm>
          <a:off x="6656832" y="2176272"/>
          <a:ext cx="22860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0" name="Text 56"/>
          <p:cNvSpPr/>
          <p:nvPr/>
        </p:nvSpPr>
        <p:spPr>
          <a:xfrm>
            <a:off x="6858000" y="281635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3F"/>
                </a:solidFill>
              </a:rPr>
              <a:t>15 000</a:t>
            </a:r>
            <a:endParaRPr lang="en-US" sz="1300" dirty="0"/>
          </a:p>
        </p:txBody>
      </p:sp>
      <p:sp>
        <p:nvSpPr>
          <p:cNvPr id="61" name="Text 57"/>
          <p:cNvSpPr/>
          <p:nvPr/>
        </p:nvSpPr>
        <p:spPr>
          <a:xfrm>
            <a:off x="6858000" y="307238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total</a:t>
            </a:r>
            <a:endParaRPr lang="en-US" sz="750" dirty="0"/>
          </a:p>
        </p:txBody>
      </p:sp>
      <p:sp>
        <p:nvSpPr>
          <p:cNvPr id="62" name="Text 58"/>
          <p:cNvSpPr/>
          <p:nvPr/>
        </p:nvSpPr>
        <p:spPr>
          <a:xfrm>
            <a:off x="1645920" y="4846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Top corridors — taux de breach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17320" cy="5143500"/>
          </a:xfrm>
          <a:prstGeom prst="rect">
            <a:avLst/>
          </a:prstGeom>
          <a:solidFill>
            <a:srgbClr val="1E1E3F"/>
          </a:solidFill>
          <a:ln w="12700">
            <a:solidFill>
              <a:srgbClr val="1E1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914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25603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BB"/>
                </a:solidFill>
              </a:rPr>
              <a:t>Analytics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30352"/>
            <a:ext cx="1188720" cy="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" y="694944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" y="694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64008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Vue executive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" y="1133856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" y="1133856"/>
            <a:ext cx="36576" cy="42062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" y="1207008"/>
            <a:ext cx="274320" cy="27432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" y="1152144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Corridors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5448" y="1719072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166420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Transporteurs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5448" y="2231136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17627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CSAT &amp; Qualité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5448" y="2743200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688336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Alertes ML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9728" y="4553712"/>
            <a:ext cx="1188720" cy="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88"/>
                </a:solidFill>
              </a:rPr>
              <a:t>DataProjectLab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9728" y="477316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77"/>
                </a:solidFill>
              </a:rPr>
              <a:t>2022 - 2024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417320" y="0"/>
            <a:ext cx="7726680" cy="621792"/>
          </a:xfrm>
          <a:prstGeom prst="rect">
            <a:avLst/>
          </a:prstGeom>
          <a:solidFill>
            <a:srgbClr val="F5F5F8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0"/>
            <a:ext cx="274320" cy="621792"/>
          </a:xfrm>
          <a:prstGeom prst="rtTriangle">
            <a:avLst/>
          </a:prstGeom>
          <a:solidFill>
            <a:srgbClr val="534AB7">
              <a:alpha val="7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65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Corridors &amp; Routes — Performance SLA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37360" y="38404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30 corridors actifs  ·  Risque douanier coloré  ·  Top 10 routes affichées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508760" y="694944"/>
            <a:ext cx="1783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508760" y="694944"/>
            <a:ext cx="178308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73352" y="786384"/>
            <a:ext cx="158191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34AB7"/>
                </a:solidFill>
              </a:rPr>
              <a:t>30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673352" y="113385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Corridors actifs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73352" y="1265530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6 pays couverts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64992" y="694944"/>
            <a:ext cx="1783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64992" y="694944"/>
            <a:ext cx="178308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9584" y="786384"/>
            <a:ext cx="158191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</a:rPr>
              <a:t>52%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3529584" y="113385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Breach max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29584" y="1265530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Sénégal → Mali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221224" y="694944"/>
            <a:ext cx="1783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221224" y="694944"/>
            <a:ext cx="1783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85816" y="786384"/>
            <a:ext cx="158191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Élevé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5385816" y="113385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Risque principal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85816" y="1265530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Mali · Burkina Faso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077456" y="694944"/>
            <a:ext cx="1874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077456" y="694944"/>
            <a:ext cx="187452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786384"/>
            <a:ext cx="167335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6.3j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7242048" y="1133856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Retard moyen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242048" y="1265530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Sur livraisons breach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508760" y="1508760"/>
            <a:ext cx="4709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8100000">
              <a:srgbClr val="C4C9D4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627632" y="1536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Taux breach par corridor — Top 10</a:t>
            </a:r>
            <a:endParaRPr lang="en-US" sz="1100" dirty="0"/>
          </a:p>
        </p:txBody>
      </p:sp>
      <p:graphicFrame>
        <p:nvGraphicFramePr>
          <p:cNvPr id="54" name="Chart 0" descr=""/>
          <p:cNvGraphicFramePr/>
          <p:nvPr/>
        </p:nvGraphicFramePr>
        <p:xfrm>
          <a:off x="1554480" y="1783080"/>
          <a:ext cx="46177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5" name="Shape 52"/>
          <p:cNvSpPr/>
          <p:nvPr/>
        </p:nvSpPr>
        <p:spPr>
          <a:xfrm>
            <a:off x="6291072" y="1508760"/>
            <a:ext cx="26700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8100000">
              <a:srgbClr val="C4C9D4">
                <a:alpha val="15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6400800" y="1536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Distance × Breach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6492240" y="4590288"/>
            <a:ext cx="23317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492240" y="1828800"/>
            <a:ext cx="0" cy="2761488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92240" y="462686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Distance →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6707673" y="2142622"/>
            <a:ext cx="201168" cy="201168"/>
          </a:xfrm>
          <a:prstGeom prst="ellipse">
            <a:avLst/>
          </a:prstGeom>
          <a:solidFill>
            <a:srgbClr val="E24B4A">
              <a:alpha val="70000"/>
            </a:srgbClr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881774" y="2273381"/>
            <a:ext cx="201168" cy="201168"/>
          </a:xfrm>
          <a:prstGeom prst="ellipse">
            <a:avLst/>
          </a:prstGeom>
          <a:solidFill>
            <a:srgbClr val="E24B4A">
              <a:alpha val="70000"/>
            </a:srgbClr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838249" y="2351837"/>
            <a:ext cx="201168" cy="201168"/>
          </a:xfrm>
          <a:prstGeom prst="ellipse">
            <a:avLst/>
          </a:prstGeom>
          <a:solidFill>
            <a:srgbClr val="E24B4A">
              <a:alpha val="70000"/>
            </a:srgbClr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055876" y="2482596"/>
            <a:ext cx="201168" cy="201168"/>
          </a:xfrm>
          <a:prstGeom prst="ellipse">
            <a:avLst/>
          </a:prstGeom>
          <a:solidFill>
            <a:srgbClr val="E24B4A">
              <a:alpha val="70000"/>
            </a:srgbClr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273503" y="2665659"/>
            <a:ext cx="201168" cy="201168"/>
          </a:xfrm>
          <a:prstGeom prst="ellipse">
            <a:avLst/>
          </a:prstGeom>
          <a:solidFill>
            <a:srgbClr val="F59E0B">
              <a:alpha val="7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425842" y="2822570"/>
            <a:ext cx="201168" cy="201168"/>
          </a:xfrm>
          <a:prstGeom prst="ellipse">
            <a:avLst/>
          </a:prstGeom>
          <a:solidFill>
            <a:srgbClr val="F59E0B">
              <a:alpha val="7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578181" y="2979481"/>
            <a:ext cx="201168" cy="201168"/>
          </a:xfrm>
          <a:prstGeom prst="ellipse">
            <a:avLst/>
          </a:prstGeom>
          <a:solidFill>
            <a:srgbClr val="F59E0B">
              <a:alpha val="7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926385" y="3293303"/>
            <a:ext cx="201168" cy="201168"/>
          </a:xfrm>
          <a:prstGeom prst="ellipse">
            <a:avLst/>
          </a:prstGeom>
          <a:solidFill>
            <a:srgbClr val="1D9E75">
              <a:alpha val="70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187538" y="3580973"/>
            <a:ext cx="201168" cy="201168"/>
          </a:xfrm>
          <a:prstGeom prst="ellipse">
            <a:avLst/>
          </a:prstGeom>
          <a:solidFill>
            <a:srgbClr val="1D9E75">
              <a:alpha val="70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448690" y="3868644"/>
            <a:ext cx="201168" cy="201168"/>
          </a:xfrm>
          <a:prstGeom prst="ellipse">
            <a:avLst/>
          </a:prstGeom>
          <a:solidFill>
            <a:srgbClr val="1D9E75">
              <a:alpha val="70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382512" y="4782312"/>
            <a:ext cx="109728" cy="109728"/>
          </a:xfrm>
          <a:prstGeom prst="ellipse">
            <a:avLst/>
          </a:prstGeom>
          <a:solidFill>
            <a:srgbClr val="E24B4A">
              <a:alpha val="75000"/>
            </a:srgbClr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528816" y="47548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Élevé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7223760" y="4782312"/>
            <a:ext cx="109728" cy="109728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370064" y="47548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Moyen</a:t>
            </a:r>
            <a:endParaRPr lang="en-US" sz="700" dirty="0"/>
          </a:p>
        </p:txBody>
      </p:sp>
      <p:sp>
        <p:nvSpPr>
          <p:cNvPr id="74" name="Shape 71"/>
          <p:cNvSpPr/>
          <p:nvPr/>
        </p:nvSpPr>
        <p:spPr>
          <a:xfrm>
            <a:off x="8065008" y="4782312"/>
            <a:ext cx="109728" cy="109728"/>
          </a:xfrm>
          <a:prstGeom prst="ellipse">
            <a:avLst/>
          </a:prstGeom>
          <a:solidFill>
            <a:srgbClr val="1D9E75">
              <a:alpha val="75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211312" y="47548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Faible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17320" cy="5143500"/>
          </a:xfrm>
          <a:prstGeom prst="rect">
            <a:avLst/>
          </a:prstGeom>
          <a:solidFill>
            <a:srgbClr val="1E1E3F"/>
          </a:solidFill>
          <a:ln w="12700">
            <a:solidFill>
              <a:srgbClr val="1E1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914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25603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BB"/>
                </a:solidFill>
              </a:rPr>
              <a:t>Analytics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30352"/>
            <a:ext cx="1188720" cy="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" y="694944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" y="694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64008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Vue executive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5448" y="1207008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" y="1152144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Corridors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" y="1645920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" y="1645920"/>
            <a:ext cx="36576" cy="42062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" y="1719072"/>
            <a:ext cx="274320" cy="27432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166420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Transporteurs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5448" y="2231136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17627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CSAT &amp; Qualité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5448" y="2743200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688336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Alertes ML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9728" y="4553712"/>
            <a:ext cx="1188720" cy="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88"/>
                </a:solidFill>
              </a:rPr>
              <a:t>DataProjectLab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9728" y="477316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77"/>
                </a:solidFill>
              </a:rPr>
              <a:t>2022 - 2024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417320" y="0"/>
            <a:ext cx="7726680" cy="621792"/>
          </a:xfrm>
          <a:prstGeom prst="rect">
            <a:avLst/>
          </a:prstGeom>
          <a:solidFill>
            <a:srgbClr val="F5F5F8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0"/>
            <a:ext cx="274320" cy="621792"/>
          </a:xfrm>
          <a:prstGeom prst="rtTriangle">
            <a:avLst/>
          </a:prstGeom>
          <a:solidFill>
            <a:srgbClr val="534AB7">
              <a:alpha val="7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65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Transporteurs — Matrice Performance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37360" y="38404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 partenaires actifs  ·  Quadrant fiabilité × satisfaction  ·  Taille bulle = volume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508760" y="694944"/>
            <a:ext cx="1783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508760" y="694944"/>
            <a:ext cx="178308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73352" y="786384"/>
            <a:ext cx="158191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</a:rPr>
              <a:t>68%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673352" y="113385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Breach max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73352" y="1265530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NordSud Express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64992" y="694944"/>
            <a:ext cx="1783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64992" y="694944"/>
            <a:ext cx="17830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9584" y="786384"/>
            <a:ext cx="158191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9%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3529584" y="113385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Breach min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29584" y="1265530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TransOuest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221224" y="694944"/>
            <a:ext cx="1783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221224" y="694944"/>
            <a:ext cx="1783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85816" y="786384"/>
            <a:ext cx="158191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4.8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5385816" y="113385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CSAT max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85816" y="1265530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AirFreight Premium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077456" y="694944"/>
            <a:ext cx="1874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077456" y="694944"/>
            <a:ext cx="187452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786384"/>
            <a:ext cx="167335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34AB7"/>
                </a:solidFill>
              </a:rPr>
              <a:t>47k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7242048" y="1133856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Pénalités max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242048" y="1265530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NordSud Express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508760" y="1508760"/>
            <a:ext cx="4251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8100000">
              <a:srgbClr val="C4C9D4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627632" y="1536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Matrice performance transporteurs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554480" y="1563624"/>
            <a:ext cx="2048256" cy="1901952"/>
          </a:xfrm>
          <a:prstGeom prst="rect">
            <a:avLst/>
          </a:prstGeom>
          <a:solidFill>
            <a:srgbClr val="1D9E75">
              <a:alpha val="8000"/>
            </a:srgbClr>
          </a:solidFill>
          <a:ln w="3810">
            <a:solidFill>
              <a:srgbClr val="EEEDF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02736" y="1563624"/>
            <a:ext cx="2112264" cy="1901952"/>
          </a:xfrm>
          <a:prstGeom prst="rect">
            <a:avLst/>
          </a:prstGeom>
          <a:solidFill>
            <a:srgbClr val="F59E0B">
              <a:alpha val="7000"/>
            </a:srgbClr>
          </a:solidFill>
          <a:ln w="3810">
            <a:solidFill>
              <a:srgbClr val="EEEDF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54480" y="3465576"/>
            <a:ext cx="2048256" cy="1389888"/>
          </a:xfrm>
          <a:prstGeom prst="rect">
            <a:avLst/>
          </a:prstGeom>
          <a:solidFill>
            <a:srgbClr val="94A3B8">
              <a:alpha val="5000"/>
            </a:srgbClr>
          </a:solidFill>
          <a:ln w="3810">
            <a:solidFill>
              <a:srgbClr val="EEEDF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02736" y="3465576"/>
            <a:ext cx="2112264" cy="1389888"/>
          </a:xfrm>
          <a:prstGeom prst="rect">
            <a:avLst/>
          </a:prstGeom>
          <a:solidFill>
            <a:srgbClr val="E24B4A">
              <a:alpha val="8000"/>
            </a:srgbClr>
          </a:solidFill>
          <a:ln w="3810">
            <a:solidFill>
              <a:srgbClr val="EEEDF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54480" y="3465576"/>
            <a:ext cx="41605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3602736" y="1563624"/>
            <a:ext cx="0" cy="329184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1627632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Top Performer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675888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Apprécié · peu fiable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627632" y="3483864"/>
            <a:ext cx="1920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Fiable · peu apprécié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675888" y="3483864"/>
            <a:ext cx="1920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24B4A"/>
                </a:solidFill>
              </a:rPr>
              <a:t>À Surveiller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865742" y="4322917"/>
            <a:ext cx="164592" cy="164592"/>
          </a:xfrm>
          <a:prstGeom prst="ellipse">
            <a:avLst/>
          </a:prstGeom>
          <a:solidFill>
            <a:srgbClr val="1D9E75">
              <a:alpha val="65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57766" y="4313773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AirFreight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2247961" y="3982761"/>
            <a:ext cx="201168" cy="201168"/>
          </a:xfrm>
          <a:prstGeom prst="ellipse">
            <a:avLst/>
          </a:prstGeom>
          <a:solidFill>
            <a:srgbClr val="1D9E75">
              <a:alpha val="65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76561" y="3991905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TransOuest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2582083" y="3642421"/>
            <a:ext cx="173736" cy="173736"/>
          </a:xfrm>
          <a:prstGeom prst="ellipse">
            <a:avLst/>
          </a:prstGeom>
          <a:solidFill>
            <a:srgbClr val="1D9E75">
              <a:alpha val="65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83251" y="3637849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CamLog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831531" y="3361883"/>
            <a:ext cx="155448" cy="155448"/>
          </a:xfrm>
          <a:prstGeom prst="ellipse">
            <a:avLst/>
          </a:prstGeom>
          <a:solidFill>
            <a:srgbClr val="1D9E75">
              <a:alpha val="65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14411" y="3348167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GhanaLink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3213750" y="3086100"/>
            <a:ext cx="192024" cy="192024"/>
          </a:xfrm>
          <a:prstGeom prst="ellipse">
            <a:avLst/>
          </a:prstGeom>
          <a:solidFill>
            <a:srgbClr val="F59E0B">
              <a:alpha val="6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33206" y="30906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FastCargo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3476915" y="2851465"/>
            <a:ext cx="146304" cy="146304"/>
          </a:xfrm>
          <a:prstGeom prst="ellipse">
            <a:avLst/>
          </a:prstGeom>
          <a:solidFill>
            <a:srgbClr val="F59E0B">
              <a:alpha val="6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0651" y="2833177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OceanRoute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677168" y="2722717"/>
            <a:ext cx="146304" cy="146304"/>
          </a:xfrm>
          <a:prstGeom prst="ellipse">
            <a:avLst/>
          </a:prstGeom>
          <a:solidFill>
            <a:srgbClr val="94A3B8">
              <a:alpha val="65000"/>
            </a:srgbClr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50904" y="2704429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RegLink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3962095" y="2534168"/>
            <a:ext cx="137160" cy="137160"/>
          </a:xfrm>
          <a:prstGeom prst="ellipse">
            <a:avLst/>
          </a:prstGeom>
          <a:solidFill>
            <a:srgbClr val="94A3B8">
              <a:alpha val="65000"/>
            </a:srgbClr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26687" y="25113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LastMile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148633" y="2391705"/>
            <a:ext cx="164592" cy="164592"/>
          </a:xfrm>
          <a:prstGeom prst="ellipse">
            <a:avLst/>
          </a:prstGeom>
          <a:solidFill>
            <a:srgbClr val="E24B4A">
              <a:alpha val="65000"/>
            </a:srgbClr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40657" y="238256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WestAfrica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4438132" y="2207727"/>
            <a:ext cx="146304" cy="146304"/>
          </a:xfrm>
          <a:prstGeom prst="ellipse">
            <a:avLst/>
          </a:prstGeom>
          <a:solidFill>
            <a:srgbClr val="E24B4A">
              <a:alpha val="65000"/>
            </a:srgbClr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11868" y="2189439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Sahel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683008" y="2083552"/>
            <a:ext cx="137160" cy="137160"/>
          </a:xfrm>
          <a:prstGeom prst="ellipse">
            <a:avLst/>
          </a:prstGeom>
          <a:solidFill>
            <a:srgbClr val="E24B4A">
              <a:alpha val="65000"/>
            </a:srgbClr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47600" y="20606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BurkinaFret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5140757" y="1803197"/>
            <a:ext cx="182880" cy="182880"/>
          </a:xfrm>
          <a:prstGeom prst="ellipse">
            <a:avLst/>
          </a:prstGeom>
          <a:solidFill>
            <a:srgbClr val="E24B4A">
              <a:alpha val="65000"/>
            </a:srgbClr>
          </a:solidFill>
          <a:ln w="10160">
            <a:solidFill>
              <a:srgbClr val="E24B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51069" y="1803197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NordSud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1591056" y="48463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← Fiable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3529584" y="48463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Breach élevé →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5833872" y="1508760"/>
            <a:ext cx="31272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8100000">
              <a:srgbClr val="C4C9D4">
                <a:alpha val="15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5943600" y="1536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Pénalités par transporteur (k FCFA)</a:t>
            </a:r>
            <a:endParaRPr lang="en-US" sz="1100" dirty="0"/>
          </a:p>
        </p:txBody>
      </p:sp>
      <p:graphicFrame>
        <p:nvGraphicFramePr>
          <p:cNvPr id="92" name="Chart 0" descr=""/>
          <p:cNvGraphicFramePr/>
          <p:nvPr/>
        </p:nvGraphicFramePr>
        <p:xfrm>
          <a:off x="5870448" y="1783080"/>
          <a:ext cx="30632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17320" cy="5143500"/>
          </a:xfrm>
          <a:prstGeom prst="rect">
            <a:avLst/>
          </a:prstGeom>
          <a:solidFill>
            <a:srgbClr val="1E1E3F"/>
          </a:solidFill>
          <a:ln w="12700">
            <a:solidFill>
              <a:srgbClr val="1E1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914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25603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BB"/>
                </a:solidFill>
              </a:rPr>
              <a:t>Analytics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30352"/>
            <a:ext cx="1188720" cy="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" y="694944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" y="694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64008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Vue executive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5448" y="1207008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" y="1152144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Corridors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5448" y="1719072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166420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Transporteurs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" y="2157984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" y="2157984"/>
            <a:ext cx="36576" cy="42062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" y="2231136"/>
            <a:ext cx="274320" cy="27432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17627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CSAT &amp; Qualité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5448" y="2743200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688336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Alertes ML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9728" y="4553712"/>
            <a:ext cx="1188720" cy="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88"/>
                </a:solidFill>
              </a:rPr>
              <a:t>DataProjectLab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9728" y="477316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77"/>
                </a:solidFill>
              </a:rPr>
              <a:t>2022 - 2024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417320" y="0"/>
            <a:ext cx="7726680" cy="621792"/>
          </a:xfrm>
          <a:prstGeom prst="rect">
            <a:avLst/>
          </a:prstGeom>
          <a:solidFill>
            <a:srgbClr val="F5F5F8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0"/>
            <a:ext cx="274320" cy="621792"/>
          </a:xfrm>
          <a:prstGeom prst="rtTriangle">
            <a:avLst/>
          </a:prstGeom>
          <a:solidFill>
            <a:srgbClr val="534AB7">
              <a:alpha val="7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65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CSAT &amp; Qualité de Service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37360" y="38404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9 876 avis collectés  ·  Satisfaction vs taux breach  ·  24 mois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508760" y="694944"/>
            <a:ext cx="1783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508760" y="694944"/>
            <a:ext cx="1783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73352" y="786384"/>
            <a:ext cx="158191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3.65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673352" y="113385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CSAT moyen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73352" y="1265530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Sur livrés notés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64992" y="694944"/>
            <a:ext cx="1783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64992" y="694944"/>
            <a:ext cx="17830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9584" y="786384"/>
            <a:ext cx="158191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</a:rPr>
              <a:t>41%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3529584" y="113385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CSAT ≥ 4★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29584" y="1265530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Des livraisons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221224" y="694944"/>
            <a:ext cx="1783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221224" y="694944"/>
            <a:ext cx="178308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85816" y="786384"/>
            <a:ext cx="158191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</a:rPr>
              <a:t>23%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5385816" y="1133856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CSAT ≤ 2★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85816" y="1265530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Corrélé aux breaches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077456" y="694944"/>
            <a:ext cx="1874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EEDFE"/>
            </a:solidFill>
            <a:prstDash val="solid"/>
          </a:ln>
          <a:effectLst>
            <a:outerShdw sx="100000" sy="100000" kx="0" ky="0" algn="bl" rotWithShape="0" blurRad="101600" dist="25400" dir="8100000">
              <a:srgbClr val="C4C9D4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077456" y="694944"/>
            <a:ext cx="187452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786384"/>
            <a:ext cx="167335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34AB7"/>
                </a:solidFill>
              </a:rPr>
              <a:t>915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7242048" y="1133856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3F"/>
                </a:solidFill>
              </a:rPr>
              <a:t>Nb escalades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242048" y="1265530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6.1% du total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508760" y="1508760"/>
            <a:ext cx="4709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8100000">
              <a:srgbClr val="C4C9D4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627632" y="1536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Inscriptions mensuelles + taux abandon</a:t>
            </a:r>
            <a:endParaRPr lang="en-US" sz="1100" dirty="0"/>
          </a:p>
        </p:txBody>
      </p:sp>
      <p:graphicFrame>
        <p:nvGraphicFramePr>
          <p:cNvPr id="54" name="Chart 0" descr=""/>
          <p:cNvGraphicFramePr/>
          <p:nvPr/>
        </p:nvGraphicFramePr>
        <p:xfrm>
          <a:off x="1554480" y="1783080"/>
          <a:ext cx="46177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5" name="Shape 52"/>
          <p:cNvSpPr/>
          <p:nvPr/>
        </p:nvSpPr>
        <p:spPr>
          <a:xfrm>
            <a:off x="6291072" y="1508760"/>
            <a:ext cx="26700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8100000">
              <a:srgbClr val="C4C9D4">
                <a:alpha val="15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6400800" y="1536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Distribution CSAT</a:t>
            </a:r>
            <a:endParaRPr lang="en-US" sz="1100" dirty="0"/>
          </a:p>
        </p:txBody>
      </p:sp>
      <p:graphicFrame>
        <p:nvGraphicFramePr>
          <p:cNvPr id="57" name="Chart 1" descr=""/>
          <p:cNvGraphicFramePr/>
          <p:nvPr/>
        </p:nvGraphicFramePr>
        <p:xfrm>
          <a:off x="6327648" y="1783080"/>
          <a:ext cx="2596896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8" name="Text 54"/>
          <p:cNvSpPr/>
          <p:nvPr/>
        </p:nvSpPr>
        <p:spPr>
          <a:xfrm>
            <a:off x="6327648" y="453542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Bimodale — satisfaits vs déçus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17320" cy="5143500"/>
          </a:xfrm>
          <a:prstGeom prst="rect">
            <a:avLst/>
          </a:prstGeom>
          <a:solidFill>
            <a:srgbClr val="1E1E3F"/>
          </a:solidFill>
          <a:ln w="12700">
            <a:solidFill>
              <a:srgbClr val="1E1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914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25603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BB"/>
                </a:solidFill>
              </a:rPr>
              <a:t>Analytics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30352"/>
            <a:ext cx="1188720" cy="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" y="694944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" y="694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64008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Vue executive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5448" y="1207008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" y="120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" y="1152144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Corridors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5448" y="1719072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166420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Transporteurs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55448" y="2231136"/>
            <a:ext cx="274320" cy="274320"/>
          </a:xfrm>
          <a:prstGeom prst="ellipse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2176272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BB"/>
                </a:solidFill>
              </a:rPr>
              <a:t>CSAT &amp; Qualité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" y="2670048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" y="2670048"/>
            <a:ext cx="36576" cy="42062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5448" y="2743200"/>
            <a:ext cx="274320" cy="27432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688336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Alertes ML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9728" y="4553712"/>
            <a:ext cx="1188720" cy="0"/>
          </a:xfrm>
          <a:prstGeom prst="line">
            <a:avLst/>
          </a:prstGeom>
          <a:noFill/>
          <a:ln w="12700">
            <a:solidFill>
              <a:srgbClr val="2E2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88"/>
                </a:solidFill>
              </a:rPr>
              <a:t>DataProjectLab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9728" y="477316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77"/>
                </a:solidFill>
              </a:rPr>
              <a:t>2022 - 2024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417320" y="0"/>
            <a:ext cx="7726680" cy="621792"/>
          </a:xfrm>
          <a:prstGeom prst="rect">
            <a:avLst/>
          </a:prstGeom>
          <a:solidFill>
            <a:srgbClr val="F5F5F8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0"/>
            <a:ext cx="274320" cy="621792"/>
          </a:xfrm>
          <a:prstGeom prst="rtTriangle">
            <a:avLst/>
          </a:prstGeom>
          <a:solidFill>
            <a:srgbClr val="534AB7">
              <a:alpha val="7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65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Alertes ML — Détection du retard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37360" y="38404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Random Forest  ·  Seuil 0.30  ·  Recall 96%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508760" y="694944"/>
            <a:ext cx="7443216" cy="475488"/>
          </a:xfrm>
          <a:prstGeom prst="rect">
            <a:avLst/>
          </a:prstGeom>
          <a:solidFill>
            <a:srgbClr val="FEF2F2"/>
          </a:solidFill>
          <a:ln w="1905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69494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4B4A"/>
                </a:solidFill>
              </a:rPr>
              <a:t>1 542 livraisons en alerte de retard sur 3 742 en cours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92440" y="694944"/>
            <a:ext cx="859536" cy="47548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694944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41.2%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taux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508760" y="1243584"/>
            <a:ext cx="1892808" cy="987552"/>
          </a:xfrm>
          <a:prstGeom prst="rect">
            <a:avLst/>
          </a:prstGeom>
          <a:solidFill>
            <a:srgbClr val="FFF1F2"/>
          </a:solidFill>
          <a:ln w="19050">
            <a:solidFill>
              <a:srgbClr val="E24B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00200" y="1335024"/>
            <a:ext cx="365760" cy="36576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00200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020824" y="12618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4B4A"/>
                </a:solidFill>
              </a:rPr>
              <a:t>Score &gt; 0.75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020824" y="14813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3F"/>
                </a:solidFill>
              </a:rPr>
              <a:t>Appel dispatcher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600200" y="17739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~~47 livraisons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493008" y="1243584"/>
            <a:ext cx="1892808" cy="987552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84448" y="1335024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84448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@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005072" y="12618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Score 0.55–0.75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005072" y="14813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3F"/>
                </a:solidFill>
              </a:rPr>
              <a:t>Email transporteur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584448" y="17739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~~183 livraisons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477256" y="1243584"/>
            <a:ext cx="1892808" cy="987552"/>
          </a:xfrm>
          <a:prstGeom prst="rect">
            <a:avLst/>
          </a:prstGeom>
          <a:solidFill>
            <a:srgbClr val="EEF2FF"/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68696" y="1335024"/>
            <a:ext cx="365760" cy="36576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68696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89320" y="12618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4AB7"/>
                </a:solidFill>
              </a:rPr>
              <a:t>Score 0.30–0.55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989320" y="14813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3F"/>
                </a:solidFill>
              </a:rPr>
              <a:t>Notification push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568696" y="17739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~~312 livraisons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508760" y="2304288"/>
            <a:ext cx="744321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8100000">
              <a:srgbClr val="C4C9D4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627632" y="23317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Top livraisons à risque — Tableau d'alerte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554480" y="2560320"/>
            <a:ext cx="7351776" cy="27432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72768" y="2560320"/>
            <a:ext cx="6766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Livraison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286000" y="2560320"/>
            <a:ext cx="8778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Corridor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200400" y="2560320"/>
            <a:ext cx="56692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Type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803904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Priorité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334256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Transporteur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193792" y="2560320"/>
            <a:ext cx="6583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Inactivité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888736" y="2560320"/>
            <a:ext cx="8412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Score risque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766560" y="2560320"/>
            <a:ext cx="126187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Action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554480" y="2852928"/>
            <a:ext cx="7351776" cy="301752"/>
          </a:xfrm>
          <a:prstGeom prst="rect">
            <a:avLst/>
          </a:prstGeom>
          <a:solidFill>
            <a:srgbClr val="F9F9FF"/>
          </a:solidFill>
          <a:ln w="3810">
            <a:solidFill>
              <a:srgbClr val="EEEDF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72768" y="2852928"/>
            <a:ext cx="6766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LIV002341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286000" y="2852928"/>
            <a:ext cx="87782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Mali → Cam.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200400" y="2852928"/>
            <a:ext cx="5669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Express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803904" y="2852928"/>
            <a:ext cx="50292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Urgent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334256" y="2852928"/>
            <a:ext cx="8229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Sahel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193792" y="2852928"/>
            <a:ext cx="65836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8j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888736" y="2852928"/>
            <a:ext cx="84124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4B4A"/>
                </a:solidFill>
              </a:rPr>
              <a:t>0.91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803136" y="2907792"/>
            <a:ext cx="1170432" cy="201168"/>
          </a:xfrm>
          <a:prstGeom prst="roundRect">
            <a:avLst>
              <a:gd name="adj" fmla="val 22727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03136" y="29077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Appel urgent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572768" y="3172968"/>
            <a:ext cx="6766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LIV007823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2286000" y="3172968"/>
            <a:ext cx="87782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Sén. → Mali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200400" y="3172968"/>
            <a:ext cx="5669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Standard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803904" y="3172968"/>
            <a:ext cx="50292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Express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334256" y="3172968"/>
            <a:ext cx="8229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NordSud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193792" y="3172968"/>
            <a:ext cx="65836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6j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888736" y="3172968"/>
            <a:ext cx="84124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4B4A"/>
                </a:solidFill>
              </a:rPr>
              <a:t>0.87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803136" y="3227832"/>
            <a:ext cx="1170432" cy="201168"/>
          </a:xfrm>
          <a:prstGeom prst="roundRect">
            <a:avLst>
              <a:gd name="adj" fmla="val 22727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03136" y="322783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Appel urgent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1554480" y="3493008"/>
            <a:ext cx="7351776" cy="301752"/>
          </a:xfrm>
          <a:prstGeom prst="rect">
            <a:avLst/>
          </a:prstGeom>
          <a:solidFill>
            <a:srgbClr val="F9F9FF"/>
          </a:solidFill>
          <a:ln w="3810">
            <a:solidFill>
              <a:srgbClr val="EEEDF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572768" y="3493008"/>
            <a:ext cx="6766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LIV000142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2286000" y="3493008"/>
            <a:ext cx="87782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CI → Burkina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3200400" y="3493008"/>
            <a:ext cx="5669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Express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803904" y="3493008"/>
            <a:ext cx="50292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Urgent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334256" y="3493008"/>
            <a:ext cx="8229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BurkinaF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193792" y="3493008"/>
            <a:ext cx="65836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5j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888736" y="3493008"/>
            <a:ext cx="84124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4B4A"/>
                </a:solidFill>
              </a:rPr>
              <a:t>0.84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803136" y="3547872"/>
            <a:ext cx="1170432" cy="201168"/>
          </a:xfrm>
          <a:prstGeom prst="roundRect">
            <a:avLst>
              <a:gd name="adj" fmla="val 22727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03136" y="35478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Appel urgent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1572768" y="3813048"/>
            <a:ext cx="6766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LIV000891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2286000" y="3813048"/>
            <a:ext cx="87782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Bkn. → Sén.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3200400" y="3813048"/>
            <a:ext cx="5669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Pharma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803904" y="3813048"/>
            <a:ext cx="50292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Urgent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4334256" y="3813048"/>
            <a:ext cx="8229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Sahel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5193792" y="3813048"/>
            <a:ext cx="65836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7j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5888736" y="3813048"/>
            <a:ext cx="84124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4B4A"/>
                </a:solidFill>
              </a:rPr>
              <a:t>0.79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803136" y="3867912"/>
            <a:ext cx="1170432" cy="201168"/>
          </a:xfrm>
          <a:prstGeom prst="roundRect">
            <a:avLst>
              <a:gd name="adj" fmla="val 22727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803136" y="38679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Appel urgent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554480" y="4133088"/>
            <a:ext cx="7351776" cy="301752"/>
          </a:xfrm>
          <a:prstGeom prst="rect">
            <a:avLst/>
          </a:prstGeom>
          <a:solidFill>
            <a:srgbClr val="F9F9FF"/>
          </a:solidFill>
          <a:ln w="3810">
            <a:solidFill>
              <a:srgbClr val="EEEDF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572768" y="4133088"/>
            <a:ext cx="6766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LIV001205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2286000" y="4133088"/>
            <a:ext cx="87782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Ghana → Mali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200400" y="4133088"/>
            <a:ext cx="5669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Standard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3803904" y="4133088"/>
            <a:ext cx="50292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Express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4334256" y="4133088"/>
            <a:ext cx="8229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NordSud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5193792" y="4133088"/>
            <a:ext cx="65836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4j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5888736" y="4133088"/>
            <a:ext cx="84124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0.73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6803136" y="4187952"/>
            <a:ext cx="1170432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803136" y="41879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Email perso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1572768" y="4453128"/>
            <a:ext cx="676656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LIV006712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2286000" y="4453128"/>
            <a:ext cx="87782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3F"/>
                </a:solidFill>
              </a:rPr>
              <a:t>Mali → Sén.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3200400" y="4453128"/>
            <a:ext cx="56692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Industriel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3803904" y="4453128"/>
            <a:ext cx="50292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Standard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4334256" y="4453128"/>
            <a:ext cx="8229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WestAf.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5193792" y="4453128"/>
            <a:ext cx="65836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3j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5888736" y="4453128"/>
            <a:ext cx="84124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0.68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6803136" y="4507992"/>
            <a:ext cx="1170432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803136" y="45079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Email perso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2026-04-18T17:01:45Z</dcterms:created>
  <dcterms:modified xsi:type="dcterms:W3CDTF">2026-04-18T17:01:45Z</dcterms:modified>
</cp:coreProperties>
</file>