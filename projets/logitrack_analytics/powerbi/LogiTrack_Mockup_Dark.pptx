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Livraisons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Fév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Aoû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Déc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620</c:v>
                </c:pt>
                <c:pt idx="1">
                  <c:v>645</c:v>
                </c:pt>
                <c:pt idx="2">
                  <c:v>670</c:v>
                </c:pt>
                <c:pt idx="3">
                  <c:v>705</c:v>
                </c:pt>
                <c:pt idx="4">
                  <c:v>730</c:v>
                </c:pt>
                <c:pt idx="5">
                  <c:v>745</c:v>
                </c:pt>
                <c:pt idx="6">
                  <c:v>760</c:v>
                </c:pt>
                <c:pt idx="7">
                  <c:v>715</c:v>
                </c:pt>
                <c:pt idx="8">
                  <c:v>740</c:v>
                </c:pt>
                <c:pt idx="9">
                  <c:v>770</c:v>
                </c:pt>
                <c:pt idx="10">
                  <c:v>820</c:v>
                </c:pt>
                <c:pt idx="11">
                  <c:v>870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32A33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2A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32A33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Breach %</c:v>
                </c:pt>
              </c:strCache>
            </c:strRef>
          </c:tx>
          <c:spPr>
            <a:solidFill>
              <a:srgbClr val="FF4D6D"/>
            </a:solidFill>
            <a:ln w="31750" cap="flat">
              <a:solidFill>
                <a:srgbClr val="FF4D6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4D6D"/>
              </a:solidFill>
              <a:ln w="9525" cap="flat">
                <a:solidFill>
                  <a:srgbClr val="FF4D6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Fév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Aoû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Déc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</c:v>
                </c:pt>
                <c:pt idx="1">
                  <c:v>30</c:v>
                </c:pt>
                <c:pt idx="2">
                  <c:v>31</c:v>
                </c:pt>
                <c:pt idx="3">
                  <c:v>29</c:v>
                </c:pt>
                <c:pt idx="4">
                  <c:v>30</c:v>
                </c:pt>
                <c:pt idx="5">
                  <c:v>32</c:v>
                </c:pt>
                <c:pt idx="6">
                  <c:v>33</c:v>
                </c:pt>
                <c:pt idx="7">
                  <c:v>35</c:v>
                </c:pt>
                <c:pt idx="8">
                  <c:v>33</c:v>
                </c:pt>
                <c:pt idx="9">
                  <c:v>31</c:v>
                </c:pt>
                <c:pt idx="10">
                  <c:v>30</c:v>
                </c:pt>
                <c:pt idx="11">
                  <c:v>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32A33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232A33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232A33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Breach %</c:v>
                </c:pt>
              </c:strCache>
            </c:strRef>
          </c:tx>
          <c:spPr>
            <a:solidFill>
              <a:srgbClr val="FF4D6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CI→Sénégal</c:v>
                  </c:pt>
                  <c:pt idx="1">
                    <c:v>Mali→CI</c:v>
                  </c:pt>
                  <c:pt idx="2">
                    <c:v>Burkina→Ghana</c:v>
                  </c:pt>
                  <c:pt idx="3">
                    <c:v>Cameroun→RCA</c:v>
                  </c:pt>
                  <c:pt idx="4">
                    <c:v>Togo→Nigéria</c:v>
                  </c:pt>
                  <c:pt idx="5">
                    <c:v>CI→Mali</c:v>
                  </c:pt>
                  <c:pt idx="6">
                    <c:v>Sénégal→Mali</c:v>
                  </c:pt>
                  <c:pt idx="7">
                    <c:v>Ghana→Burkina</c:v>
                  </c:pt>
                  <c:pt idx="8">
                    <c:v>Nigéria→Bénin</c:v>
                  </c:pt>
                  <c:pt idx="9">
                    <c:v>Niger→CI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</c:v>
                </c:pt>
                <c:pt idx="1">
                  <c:v>48</c:v>
                </c:pt>
                <c:pt idx="2">
                  <c:v>44</c:v>
                </c:pt>
                <c:pt idx="3">
                  <c:v>42</c:v>
                </c:pt>
                <c:pt idx="4">
                  <c:v>38</c:v>
                </c:pt>
                <c:pt idx="5">
                  <c:v>34</c:v>
                </c:pt>
                <c:pt idx="6">
                  <c:v>30</c:v>
                </c:pt>
                <c:pt idx="7">
                  <c:v>26</c:v>
                </c:pt>
                <c:pt idx="8">
                  <c:v>23</c:v>
                </c:pt>
                <c:pt idx="9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Conforme %</c:v>
                </c:pt>
              </c:strCache>
            </c:strRef>
          </c:tx>
          <c:spPr>
            <a:solidFill>
              <a:srgbClr val="10D9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CI→Sénégal</c:v>
                  </c:pt>
                  <c:pt idx="1">
                    <c:v>Mali→CI</c:v>
                  </c:pt>
                  <c:pt idx="2">
                    <c:v>Burkina→Ghana</c:v>
                  </c:pt>
                  <c:pt idx="3">
                    <c:v>Cameroun→RCA</c:v>
                  </c:pt>
                  <c:pt idx="4">
                    <c:v>Togo→Nigéria</c:v>
                  </c:pt>
                  <c:pt idx="5">
                    <c:v>CI→Mali</c:v>
                  </c:pt>
                  <c:pt idx="6">
                    <c:v>Sénégal→Mali</c:v>
                  </c:pt>
                  <c:pt idx="7">
                    <c:v>Ghana→Burkina</c:v>
                  </c:pt>
                  <c:pt idx="8">
                    <c:v>Nigéria→Bénin</c:v>
                  </c:pt>
                  <c:pt idx="9">
                    <c:v>Niger→CI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48</c:v>
                </c:pt>
                <c:pt idx="1">
                  <c:v>52</c:v>
                </c:pt>
                <c:pt idx="2">
                  <c:v>56</c:v>
                </c:pt>
                <c:pt idx="3">
                  <c:v>58</c:v>
                </c:pt>
                <c:pt idx="4">
                  <c:v>62</c:v>
                </c:pt>
                <c:pt idx="5">
                  <c:v>66</c:v>
                </c:pt>
                <c:pt idx="6">
                  <c:v>70</c:v>
                </c:pt>
                <c:pt idx="7">
                  <c:v>74</c:v>
                </c:pt>
                <c:pt idx="8">
                  <c:v>77</c:v>
                </c:pt>
                <c:pt idx="9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32A33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32A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32A33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AA5B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Risque Faible</c:v>
                </c:pt>
              </c:strCache>
            </c:strRef>
          </c:tx>
          <c:spPr>
            <a:solidFill>
              <a:srgbClr val="10D9A3"/>
            </a:solidFill>
            <a:ln>
              <a:noFill/>
            </a:ln>
            <a:effectLst/>
          </c:spPr>
          <c:marker>
            <c:symbol val="circle"/>
            <c:size val="14"/>
            <c:spPr>
              <a:solidFill>
                <a:srgbClr val="10D9A3"/>
              </a:solidFill>
              <a:ln w="9525" cap="flat">
                <a:solidFill>
                  <a:srgbClr val="10D9A3"/>
                </a:solidFill>
                <a:prstDash val="solid"/>
                <a:round/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350</c:v>
                </c:pt>
                <c:pt idx="1">
                  <c:v>720</c:v>
                </c:pt>
                <c:pt idx="2">
                  <c:v>850</c:v>
                </c:pt>
                <c:pt idx="3">
                  <c:v>1100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22</c:v>
                </c:pt>
                <c:pt idx="2">
                  <c:v>26</c:v>
                </c:pt>
                <c:pt idx="3">
                  <c:v>23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600"/>
          <c:min val="200"/>
        </c:scaling>
        <c:delete val="0"/>
        <c:axPos val="b"/>
        <c:majorGridlines>
          <c:spPr>
            <a:ln w="6350" cap="flat">
              <a:solidFill>
                <a:srgbClr val="232A33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232A33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232A33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232A33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A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Breach %</c:v>
                </c:pt>
              </c:strCache>
            </c:strRef>
          </c:tx>
          <c:spPr>
            <a:solidFill>
              <a:srgbClr val="FF4D6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8EAED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TransAfrica</c:v>
                  </c:pt>
                  <c:pt idx="1">
                    <c:v>SaharaLog</c:v>
                  </c:pt>
                  <c:pt idx="2">
                    <c:v>WestRoute</c:v>
                  </c:pt>
                  <c:pt idx="3">
                    <c:v>CoteExpress</c:v>
                  </c:pt>
                  <c:pt idx="4">
                    <c:v>NigerTrans</c:v>
                  </c:pt>
                  <c:pt idx="5">
                    <c:v>MaliCargo</c:v>
                  </c:pt>
                  <c:pt idx="6">
                    <c:v>SénégalRoute</c:v>
                  </c:pt>
                  <c:pt idx="7">
                    <c:v>GhanaShip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54</c:v>
                </c:pt>
                <c:pt idx="1">
                  <c:v>48</c:v>
                </c:pt>
                <c:pt idx="2">
                  <c:v>45</c:v>
                </c:pt>
                <c:pt idx="3">
                  <c:v>39</c:v>
                </c:pt>
                <c:pt idx="4">
                  <c:v>36</c:v>
                </c:pt>
                <c:pt idx="5">
                  <c:v>32</c:v>
                </c:pt>
                <c:pt idx="6">
                  <c:v>28</c:v>
                </c:pt>
                <c:pt idx="7">
                  <c:v>24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800" u="none">
                  <a:solidFill>
                    <a:srgbClr val="E8EAED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32A33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6350" cap="flat">
              <a:solidFill>
                <a:srgbClr val="232A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32A33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CSAT</c:v>
                </c:pt>
              </c:strCache>
            </c:strRef>
          </c:tx>
          <c:spPr>
            <a:solidFill>
              <a:srgbClr val="00E5FF"/>
            </a:solidFill>
            <a:ln w="31750" cap="flat">
              <a:solidFill>
                <a:srgbClr val="00E5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E5FF"/>
              </a:solidFill>
              <a:ln w="9525" cap="flat">
                <a:solidFill>
                  <a:srgbClr val="00E5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Fév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Aoû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Déc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4.21</c:v>
                </c:pt>
                <c:pt idx="1">
                  <c:v>4.18</c:v>
                </c:pt>
                <c:pt idx="2">
                  <c:v>4.15</c:v>
                </c:pt>
                <c:pt idx="3">
                  <c:v>4.2</c:v>
                </c:pt>
                <c:pt idx="4">
                  <c:v>4.16</c:v>
                </c:pt>
                <c:pt idx="5">
                  <c:v>4.1</c:v>
                </c:pt>
                <c:pt idx="6">
                  <c:v>4.05</c:v>
                </c:pt>
                <c:pt idx="7">
                  <c:v>3.98</c:v>
                </c:pt>
                <c:pt idx="8">
                  <c:v>4.02</c:v>
                </c:pt>
                <c:pt idx="9">
                  <c:v>4.08</c:v>
                </c:pt>
                <c:pt idx="10">
                  <c:v>4.12</c:v>
                </c:pt>
                <c:pt idx="11">
                  <c:v>4.18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Breach %</c:v>
                </c:pt>
              </c:strCache>
            </c:strRef>
          </c:tx>
          <c:spPr>
            <a:solidFill>
              <a:srgbClr val="FF4D6D"/>
            </a:solidFill>
            <a:ln w="31750" cap="flat">
              <a:solidFill>
                <a:srgbClr val="FF4D6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4D6D"/>
              </a:solidFill>
              <a:ln w="9525" cap="flat">
                <a:solidFill>
                  <a:srgbClr val="FF4D6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Fév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Aoû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Déc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3.1</c:v>
                </c:pt>
                <c:pt idx="1">
                  <c:v>3</c:v>
                </c:pt>
                <c:pt idx="2">
                  <c:v>3.1</c:v>
                </c:pt>
                <c:pt idx="3">
                  <c:v>2.9</c:v>
                </c:pt>
                <c:pt idx="4">
                  <c:v>3</c:v>
                </c:pt>
                <c:pt idx="5">
                  <c:v>3.2</c:v>
                </c:pt>
                <c:pt idx="6">
                  <c:v>3.3</c:v>
                </c:pt>
                <c:pt idx="7">
                  <c:v>3.5</c:v>
                </c:pt>
                <c:pt idx="8">
                  <c:v>3.3</c:v>
                </c:pt>
                <c:pt idx="9">
                  <c:v>3.1</c:v>
                </c:pt>
                <c:pt idx="10">
                  <c:v>3</c:v>
                </c:pt>
                <c:pt idx="11">
                  <c:v>2.8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32A33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2A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32A33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AA5B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Urgence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4D6D"/>
              </a:solidFill>
              <a:effectLst/>
            </c:spPr>
          </c:dPt>
          <c:dPt>
            <c:idx val="1"/>
            <c:bubble3D val="0"/>
            <c:spPr>
              <a:solidFill>
                <a:srgbClr val="FFB547"/>
              </a:solidFill>
              <a:effectLst/>
            </c:spPr>
          </c:dPt>
          <c:dPt>
            <c:idx val="2"/>
            <c:bubble3D val="0"/>
            <c:spPr>
              <a:solidFill>
                <a:srgbClr val="00E5F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8EAED"/>
                      </a:solidFill>
                      <a:latin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8EAED"/>
                      </a:solidFill>
                      <a:latin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8EAED"/>
                      </a:solidFill>
                      <a:latin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Critique</c:v>
                </c:pt>
                <c:pt idx="1">
                  <c:v>Élevé</c:v>
                </c:pt>
                <c:pt idx="2">
                  <c:v>Moyen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23</c:v>
                </c:pt>
                <c:pt idx="1">
                  <c:v>61</c:v>
                </c:pt>
                <c:pt idx="2">
                  <c:v>84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13716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640080"/>
            <a:ext cx="9144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0664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0" y="201168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0" y="20116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📅 Q4 2024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1463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Synthèse direction — Q4 2024 · 8 450 livraisons analysées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87452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F4D6D">
              <a:alpha val="2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8745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1874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livraisons en risque critique — intervention requise immédiatement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807208"/>
            <a:ext cx="502920" cy="502920"/>
          </a:xfrm>
          <a:prstGeom prst="ellipse">
            <a:avLst/>
          </a:prstGeom>
          <a:solidFill>
            <a:srgbClr val="00E5FF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" y="2871216"/>
            <a:ext cx="374904" cy="374904"/>
          </a:xfrm>
          <a:prstGeom prst="ellipse">
            <a:avLst/>
          </a:prstGeom>
          <a:solidFill>
            <a:srgbClr val="00E5FF">
              <a:alpha val="15000"/>
            </a:srgbClr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28072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Livraisons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8 450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34440" y="35661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D9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+6.3% vs Q3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26060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07208"/>
            <a:ext cx="502920" cy="502920"/>
          </a:xfrm>
          <a:prstGeom prst="ellipse">
            <a:avLst/>
          </a:prstGeom>
          <a:solidFill>
            <a:srgbClr val="FF4D6D">
              <a:alpha val="2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538728" y="2871216"/>
            <a:ext cx="374904" cy="374904"/>
          </a:xfrm>
          <a:prstGeom prst="ellipse">
            <a:avLst/>
          </a:prstGeom>
          <a:solidFill>
            <a:srgbClr val="FF4D6D">
              <a:alpha val="15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872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069080" y="28072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Taux SLA Breach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06908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28.4%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069080" y="35661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D9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-2.1pp vs Q3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26060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2807208"/>
            <a:ext cx="502920" cy="502920"/>
          </a:xfrm>
          <a:prstGeom prst="ellipse">
            <a:avLst/>
          </a:prstGeom>
          <a:solidFill>
            <a:srgbClr val="10D9A3">
              <a:alpha val="2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373368" y="2871216"/>
            <a:ext cx="374904" cy="374904"/>
          </a:xfrm>
          <a:prstGeom prst="ellipse">
            <a:avLst/>
          </a:prstGeom>
          <a:solidFill>
            <a:srgbClr val="10D9A3">
              <a:alpha val="15000"/>
            </a:srgbClr>
          </a:solidFill>
          <a:ln w="15875">
            <a:solidFill>
              <a:srgbClr val="10D9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7336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D9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03720" y="28072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Moyen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0372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D9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4.12 / 5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903720" y="35661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D9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+0.08 vs Q3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961120" y="26060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00" y="2807208"/>
            <a:ext cx="502920" cy="502920"/>
          </a:xfrm>
          <a:prstGeom prst="ellipse">
            <a:avLst/>
          </a:prstGeom>
          <a:solidFill>
            <a:srgbClr val="FFB547">
              <a:alpha val="2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208008" y="2871216"/>
            <a:ext cx="374904" cy="374904"/>
          </a:xfrm>
          <a:prstGeom prst="ellipse">
            <a:avLst/>
          </a:prstGeom>
          <a:solidFill>
            <a:srgbClr val="FFB547">
              <a:alpha val="15000"/>
            </a:srgbClr>
          </a:solidFill>
          <a:ln w="15875">
            <a:solidFill>
              <a:srgbClr val="FFB5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0800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738360" y="28072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Pénalités Totales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73836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42,8 M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9738360" y="35661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FCFA · ↑ +12.4% vs Q3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411480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4206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mensuel de livraisons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40080" y="44348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Évolution du volume total · 12 mois 2024</a:t>
            </a:r>
            <a:endParaRPr lang="en-US" sz="900" dirty="0"/>
          </a:p>
        </p:txBody>
      </p:sp>
      <p:graphicFrame>
        <p:nvGraphicFramePr>
          <p:cNvPr id="52" name="Chart 0" descr=""/>
          <p:cNvGraphicFramePr/>
          <p:nvPr/>
        </p:nvGraphicFramePr>
        <p:xfrm>
          <a:off x="640080" y="4709160"/>
          <a:ext cx="521208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3" name="Shape 50"/>
          <p:cNvSpPr/>
          <p:nvPr/>
        </p:nvSpPr>
        <p:spPr>
          <a:xfrm>
            <a:off x="6217920" y="411480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00800" y="4206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Taux de SLA Breach mensuel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6400800" y="44348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Tendance — % des livraisons en retard</a:t>
            </a:r>
            <a:endParaRPr lang="en-US" sz="900" dirty="0"/>
          </a:p>
        </p:txBody>
      </p:sp>
      <p:graphicFrame>
        <p:nvGraphicFramePr>
          <p:cNvPr id="56" name="Chart 1" descr=""/>
          <p:cNvGraphicFramePr/>
          <p:nvPr/>
        </p:nvGraphicFramePr>
        <p:xfrm>
          <a:off x="6400800" y="4709160"/>
          <a:ext cx="512064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7" name="Text 53"/>
          <p:cNvSpPr/>
          <p:nvPr/>
        </p:nvSpPr>
        <p:spPr>
          <a:xfrm>
            <a:off x="0" y="653796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DataProjectLab</a:t>
            </a:r>
            <a:pPr algn="ctr" indent="0" marL="0">
              <a:buNone/>
            </a:pPr>
            <a:r>
              <a:rPr lang="en-US" sz="900" dirty="0">
                <a:solidFill>
                  <a:srgbClr val="5F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LogiTrack  ·  </a:t>
            </a:r>
            <a:pPr algn="ct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1 — Vue Executive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13716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640080"/>
            <a:ext cx="9144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0664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0" y="201168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0" y="20116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📅 Q4 2024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des Corridors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1463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corridors d'Afrique de l'Ouest · Identifier les routes à risque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828800"/>
            <a:ext cx="5669280" cy="2468880"/>
          </a:xfrm>
          <a:prstGeom prst="roundRect">
            <a:avLst>
              <a:gd name="adj" fmla="val 3704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9202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Taux de livraisons SLA breachées par corridor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1488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Rouge = retards · Vert = conformes</a:t>
            </a:r>
            <a:endParaRPr lang="en-US" sz="9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48640" y="237744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6217920" y="1828800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0" y="1920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Distance vs Taux breach (bulle = volume)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00800" y="21488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Corrélation : corridors longs → plus de breach</a:t>
            </a:r>
            <a:endParaRPr lang="en-US" sz="900" dirty="0"/>
          </a:p>
        </p:txBody>
      </p:sp>
      <p:graphicFrame>
        <p:nvGraphicFramePr>
          <p:cNvPr id="25" name="Chart 1" descr=""/>
          <p:cNvGraphicFramePr/>
          <p:nvPr/>
        </p:nvGraphicFramePr>
        <p:xfrm>
          <a:off x="6400800" y="2377440"/>
          <a:ext cx="52120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457200" y="457200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0080" y="4645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 Détail des 7 corridors les plus critiques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94360" y="5029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2148840" y="5029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Risque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3429000" y="5029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Livraisons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617720" y="5029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Distance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806440" y="5029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Breach %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995160" y="5029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Retard (j)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8183880" y="5029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Pénalités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9555480" y="5029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594360" y="5321808"/>
            <a:ext cx="10972800" cy="10973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37" name="Shape 33"/>
          <p:cNvSpPr/>
          <p:nvPr/>
        </p:nvSpPr>
        <p:spPr>
          <a:xfrm>
            <a:off x="548640" y="5394960"/>
            <a:ext cx="11064240" cy="246888"/>
          </a:xfrm>
          <a:prstGeom prst="rect">
            <a:avLst/>
          </a:prstGeom>
          <a:solidFill>
            <a:srgbClr val="FF4D6D">
              <a:alpha val="8000"/>
            </a:srgbClr>
          </a:solidFill>
          <a:ln/>
        </p:spPr>
      </p:sp>
      <p:sp>
        <p:nvSpPr>
          <p:cNvPr id="38" name="Text 34"/>
          <p:cNvSpPr/>
          <p:nvPr/>
        </p:nvSpPr>
        <p:spPr>
          <a:xfrm>
            <a:off x="594360" y="54132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→ Sénégal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2148840" y="54132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 Élevé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3429000" y="5413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584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4617720" y="5413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1 250 km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5806440" y="5413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52.1%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6995160" y="5413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3.4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8183880" y="54132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8.2 M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9555480" y="54132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548640" y="5641848"/>
            <a:ext cx="11064240" cy="246888"/>
          </a:xfrm>
          <a:prstGeom prst="rect">
            <a:avLst/>
          </a:prstGeom>
          <a:solidFill>
            <a:srgbClr val="FF4D6D">
              <a:alpha val="8000"/>
            </a:srgbClr>
          </a:solidFill>
          <a:ln/>
        </p:spPr>
      </p:sp>
      <p:sp>
        <p:nvSpPr>
          <p:cNvPr id="47" name="Text 43"/>
          <p:cNvSpPr/>
          <p:nvPr/>
        </p:nvSpPr>
        <p:spPr>
          <a:xfrm>
            <a:off x="594360" y="56601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 → CI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2148840" y="56601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 Élevé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3429000" y="56601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612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4617720" y="56601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1 450 km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5806440" y="56601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48.3%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6995160" y="56601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8183880" y="56601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7.6 M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9555480" y="56601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594360" y="590702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Burkina → Ghana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2148840" y="59070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🟠 Moyen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3429000" y="59070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498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4617720" y="59070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980 km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5806440" y="59070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44.2%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6995160" y="59070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2.8</a:t>
            </a:r>
            <a:endParaRPr lang="en-US" sz="900" dirty="0"/>
          </a:p>
        </p:txBody>
      </p:sp>
      <p:sp>
        <p:nvSpPr>
          <p:cNvPr id="61" name="Text 57"/>
          <p:cNvSpPr/>
          <p:nvPr/>
        </p:nvSpPr>
        <p:spPr>
          <a:xfrm>
            <a:off x="8183880" y="59070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6.4 M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9555480" y="59070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</a:t>
            </a:r>
            <a:endParaRPr lang="en-US" sz="900" dirty="0"/>
          </a:p>
        </p:txBody>
      </p:sp>
      <p:sp>
        <p:nvSpPr>
          <p:cNvPr id="63" name="Text 59"/>
          <p:cNvSpPr/>
          <p:nvPr/>
        </p:nvSpPr>
        <p:spPr>
          <a:xfrm>
            <a:off x="594360" y="61539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Cameroun → RCA</a:t>
            </a:r>
            <a:endParaRPr lang="en-US" sz="900" dirty="0"/>
          </a:p>
        </p:txBody>
      </p:sp>
      <p:sp>
        <p:nvSpPr>
          <p:cNvPr id="64" name="Text 60"/>
          <p:cNvSpPr/>
          <p:nvPr/>
        </p:nvSpPr>
        <p:spPr>
          <a:xfrm>
            <a:off x="2148840" y="61539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 Élevé</a:t>
            </a:r>
            <a:endParaRPr lang="en-US" sz="900" dirty="0"/>
          </a:p>
        </p:txBody>
      </p:sp>
      <p:sp>
        <p:nvSpPr>
          <p:cNvPr id="65" name="Text 61"/>
          <p:cNvSpPr/>
          <p:nvPr/>
        </p:nvSpPr>
        <p:spPr>
          <a:xfrm>
            <a:off x="3429000" y="61539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425</a:t>
            </a:r>
            <a:endParaRPr lang="en-US" sz="900" dirty="0"/>
          </a:p>
        </p:txBody>
      </p:sp>
      <p:sp>
        <p:nvSpPr>
          <p:cNvPr id="66" name="Text 62"/>
          <p:cNvSpPr/>
          <p:nvPr/>
        </p:nvSpPr>
        <p:spPr>
          <a:xfrm>
            <a:off x="4617720" y="61539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1 380 km</a:t>
            </a:r>
            <a:endParaRPr lang="en-US" sz="900" dirty="0"/>
          </a:p>
        </p:txBody>
      </p:sp>
      <p:sp>
        <p:nvSpPr>
          <p:cNvPr id="67" name="Text 63"/>
          <p:cNvSpPr/>
          <p:nvPr/>
        </p:nvSpPr>
        <p:spPr>
          <a:xfrm>
            <a:off x="5806440" y="61539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41.7%</a:t>
            </a:r>
            <a:endParaRPr lang="en-US" sz="900" dirty="0"/>
          </a:p>
        </p:txBody>
      </p:sp>
      <p:sp>
        <p:nvSpPr>
          <p:cNvPr id="68" name="Text 64"/>
          <p:cNvSpPr/>
          <p:nvPr/>
        </p:nvSpPr>
        <p:spPr>
          <a:xfrm>
            <a:off x="6995160" y="61539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</a:t>
            </a:r>
            <a:endParaRPr lang="en-US" sz="900" dirty="0"/>
          </a:p>
        </p:txBody>
      </p:sp>
      <p:sp>
        <p:nvSpPr>
          <p:cNvPr id="69" name="Text 65"/>
          <p:cNvSpPr/>
          <p:nvPr/>
        </p:nvSpPr>
        <p:spPr>
          <a:xfrm>
            <a:off x="8183880" y="61539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5.8 M</a:t>
            </a:r>
            <a:endParaRPr lang="en-US" sz="900" dirty="0"/>
          </a:p>
        </p:txBody>
      </p:sp>
      <p:sp>
        <p:nvSpPr>
          <p:cNvPr id="70" name="Text 66"/>
          <p:cNvSpPr/>
          <p:nvPr/>
        </p:nvSpPr>
        <p:spPr>
          <a:xfrm>
            <a:off x="9555480" y="61539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#4</a:t>
            </a:r>
            <a:endParaRPr lang="en-US" sz="900" dirty="0"/>
          </a:p>
        </p:txBody>
      </p:sp>
      <p:sp>
        <p:nvSpPr>
          <p:cNvPr id="71" name="Text 67"/>
          <p:cNvSpPr/>
          <p:nvPr/>
        </p:nvSpPr>
        <p:spPr>
          <a:xfrm>
            <a:off x="0" y="653796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DataProjectLab</a:t>
            </a:r>
            <a:pPr algn="ctr" indent="0" marL="0">
              <a:buNone/>
            </a:pPr>
            <a:r>
              <a:rPr lang="en-US" sz="900" dirty="0">
                <a:solidFill>
                  <a:srgbClr val="5F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LogiTrack  ·  </a:t>
            </a:r>
            <a:pPr algn="ct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2 — Corridors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13716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640080"/>
            <a:ext cx="9144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0" y="201168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0" y="20116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📅 Q4 2024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des Transporteurs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1463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transporteurs actifs · Classement et risques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029968"/>
            <a:ext cx="502920" cy="502920"/>
          </a:xfrm>
          <a:prstGeom prst="ellipse">
            <a:avLst/>
          </a:prstGeom>
          <a:solidFill>
            <a:srgbClr val="00E5FF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" y="2093976"/>
            <a:ext cx="374904" cy="374904"/>
          </a:xfrm>
          <a:prstGeom prst="ellipse">
            <a:avLst/>
          </a:prstGeom>
          <a:solidFill>
            <a:srgbClr val="00E5FF">
              <a:alpha val="15000"/>
            </a:srgbClr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 Actifs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34440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conformes · 4 à surveiller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9768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2029968"/>
            <a:ext cx="502920" cy="502920"/>
          </a:xfrm>
          <a:prstGeom prst="ellipse">
            <a:avLst/>
          </a:prstGeom>
          <a:solidFill>
            <a:srgbClr val="FF4D6D">
              <a:alpha val="2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44568" y="2093976"/>
            <a:ext cx="374904" cy="374904"/>
          </a:xfrm>
          <a:prstGeom prst="ellipse">
            <a:avLst/>
          </a:prstGeom>
          <a:solidFill>
            <a:srgbClr val="FF4D6D">
              <a:alpha val="15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456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7492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Retard Moyen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 j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074920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+0.3j vs Q3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13816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2029968"/>
            <a:ext cx="502920" cy="502920"/>
          </a:xfrm>
          <a:prstGeom prst="ellipse">
            <a:avLst/>
          </a:prstGeom>
          <a:solidFill>
            <a:srgbClr val="FFB547">
              <a:alpha val="2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385048" y="2093976"/>
            <a:ext cx="374904" cy="374904"/>
          </a:xfrm>
          <a:prstGeom prst="ellipse">
            <a:avLst/>
          </a:prstGeom>
          <a:solidFill>
            <a:srgbClr val="FFB547">
              <a:alpha val="15000"/>
            </a:srgbClr>
          </a:solidFill>
          <a:ln w="15875">
            <a:solidFill>
              <a:srgbClr val="FFB5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8504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💸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1540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Pénalités / Transporteur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1540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 M FCFA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915400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Moyenne sur 12 transporteurs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291840"/>
            <a:ext cx="5669280" cy="3108960"/>
          </a:xfrm>
          <a:prstGeom prst="roundRect">
            <a:avLst>
              <a:gd name="adj" fmla="val 2941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383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8 transporteurs par taux de breach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36118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 décroissant · Rouge = &gt; 40%</a:t>
            </a:r>
            <a:endParaRPr lang="en-US" sz="90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594360" y="3886200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Shape 40"/>
          <p:cNvSpPr/>
          <p:nvPr/>
        </p:nvSpPr>
        <p:spPr>
          <a:xfrm>
            <a:off x="6309360" y="329184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9224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Classement détaillé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400800" y="3749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94944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9235440" y="3749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Livraisons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051560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Pénalités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400800" y="4041648"/>
            <a:ext cx="5212080" cy="10973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50" name="Text 47"/>
          <p:cNvSpPr/>
          <p:nvPr/>
        </p:nvSpPr>
        <p:spPr>
          <a:xfrm>
            <a:off x="6400800" y="4160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949440" y="4160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TransAfrica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9235440" y="4160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542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0515600" y="4160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9.2 M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6400800" y="44439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6949440" y="4443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SaharaLog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9235440" y="44439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486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10515600" y="44439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7.8 M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400800" y="47274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6949440" y="4727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WestRoute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9235440" y="47274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428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10515600" y="47274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6.5 M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6400800" y="50109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#4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6949440" y="5010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CoteExpress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9235440" y="50109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395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10515600" y="50109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5.4 M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6400800" y="5294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#5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6949440" y="5294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NigerTrans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9235440" y="5294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362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10515600" y="52943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4.8 M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6400800" y="55778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6949440" y="5577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MaliCargo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9235440" y="5577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324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10515600" y="5577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 M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6400800" y="58613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#7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6949440" y="58613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SénégalRoute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9235440" y="58613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298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10515600" y="5861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 M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6400800" y="61447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#8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6949440" y="6144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GhanaShip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9235440" y="6144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276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10515600" y="61447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 M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0" y="653796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DataProjectLab</a:t>
            </a:r>
            <a:pPr algn="ctr" indent="0" marL="0">
              <a:buNone/>
            </a:pPr>
            <a:r>
              <a:rPr lang="en-US" sz="900" dirty="0">
                <a:solidFill>
                  <a:srgbClr val="5F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LogiTrack  ·  </a:t>
            </a:r>
            <a:pPr algn="ct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3 — Transporteurs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13716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640080"/>
            <a:ext cx="9144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0" y="201168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0" y="20116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📅 Q4 2024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 Service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1463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satisfaction client est-elle corrélée au taux de breach 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029968"/>
            <a:ext cx="502920" cy="502920"/>
          </a:xfrm>
          <a:prstGeom prst="ellipse">
            <a:avLst/>
          </a:prstGeom>
          <a:solidFill>
            <a:srgbClr val="10D9A3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" y="2093976"/>
            <a:ext cx="374904" cy="374904"/>
          </a:xfrm>
          <a:prstGeom prst="ellipse">
            <a:avLst/>
          </a:prstGeom>
          <a:solidFill>
            <a:srgbClr val="10D9A3">
              <a:alpha val="15000"/>
            </a:srgbClr>
          </a:solidFill>
          <a:ln w="15875">
            <a:solidFill>
              <a:srgbClr val="10D9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D9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Moyen Global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D9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4.12 / 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34440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8 450 livraisons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9768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2029968"/>
            <a:ext cx="502920" cy="502920"/>
          </a:xfrm>
          <a:prstGeom prst="ellipse">
            <a:avLst/>
          </a:prstGeom>
          <a:solidFill>
            <a:srgbClr val="00E5FF">
              <a:alpha val="2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44568" y="2093976"/>
            <a:ext cx="374904" cy="374904"/>
          </a:xfrm>
          <a:prstGeom prst="ellipse">
            <a:avLst/>
          </a:prstGeom>
          <a:solidFill>
            <a:srgbClr val="00E5FF">
              <a:alpha val="15000"/>
            </a:srgbClr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456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7492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Livraisons CSAT ≥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68.4%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074920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D9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+3.2pp vs Q3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13816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2029968"/>
            <a:ext cx="502920" cy="502920"/>
          </a:xfrm>
          <a:prstGeom prst="ellipse">
            <a:avLst/>
          </a:prstGeom>
          <a:solidFill>
            <a:srgbClr val="FF4D6D">
              <a:alpha val="2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385048" y="2093976"/>
            <a:ext cx="374904" cy="374904"/>
          </a:xfrm>
          <a:prstGeom prst="ellipse">
            <a:avLst/>
          </a:prstGeom>
          <a:solidFill>
            <a:srgbClr val="FF4D6D">
              <a:alpha val="15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8504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🚨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1540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Escalades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1540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412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915400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4.9% du volume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291840"/>
            <a:ext cx="6858000" cy="3108960"/>
          </a:xfrm>
          <a:prstGeom prst="roundRect">
            <a:avLst>
              <a:gd name="adj" fmla="val 2941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3832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Évolution mensuelle CSAT vs Taux Breach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361188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Corrélation inverse : CSAT baisse quand breach monte</a:t>
            </a:r>
            <a:endParaRPr lang="en-US" sz="90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594360" y="3886200"/>
          <a:ext cx="65836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Shape 40"/>
          <p:cNvSpPr/>
          <p:nvPr/>
        </p:nvSpPr>
        <p:spPr>
          <a:xfrm>
            <a:off x="7498080" y="3291840"/>
            <a:ext cx="4206240" cy="3108960"/>
          </a:xfrm>
          <a:prstGeom prst="roundRect">
            <a:avLst>
              <a:gd name="adj" fmla="val 2941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8096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 avec CSAT le plus bas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758952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9052560" y="3749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9875520" y="3749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Breach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0698480" y="3749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Esc.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7589520" y="4041648"/>
            <a:ext cx="4023360" cy="10973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50" name="Text 47"/>
          <p:cNvSpPr/>
          <p:nvPr/>
        </p:nvSpPr>
        <p:spPr>
          <a:xfrm>
            <a:off x="7589520" y="4160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 → CI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9052560" y="4160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3.21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9875520" y="4160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48%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0698480" y="4160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7589520" y="4434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→ Sénégal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9052560" y="4434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3.35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9875520" y="4434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52%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10698480" y="4434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7589520" y="4709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Cameroun → RCA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9052560" y="47091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3.42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9875520" y="47091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42%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10698480" y="47091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7589520" y="4983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Togo → Nigéria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9052560" y="49834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3.68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9875520" y="49834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38%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10698480" y="49834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7589520" y="5257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Burkina → Ghana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9052560" y="5257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3.82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9875520" y="5257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44%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10698480" y="5257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7589520" y="5532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→ Mali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9052560" y="5532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D9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4.02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9875520" y="5532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34%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10698480" y="55321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7589520" y="5806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Sénégal → Mali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9052560" y="5806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D9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4.18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9875520" y="5806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10698480" y="5806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7589520" y="6080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 → CI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9052560" y="6080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D9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4.58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9875520" y="6080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10698480" y="6080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0" y="653796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DataProjectLab</a:t>
            </a:r>
            <a:pPr algn="ctr" indent="0" marL="0">
              <a:buNone/>
            </a:pPr>
            <a:r>
              <a:rPr lang="en-US" sz="900" dirty="0">
                <a:solidFill>
                  <a:srgbClr val="5F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LogiTrack  ·  </a:t>
            </a:r>
            <a:pPr algn="ct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4 — CSAT &amp; Qualité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13716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4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0" y="640080"/>
            <a:ext cx="9144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0" y="201168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0" y="20116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📅 Q4 2024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960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 &amp; Prédictions de Retard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1463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opérationnelle · Consultée chaque matin par les dispatchers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87452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F4D6D">
              <a:alpha val="2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8745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1874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livraisons en risque critique — score &gt; 0.75 · Action immédiate requise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807208"/>
            <a:ext cx="502920" cy="502920"/>
          </a:xfrm>
          <a:prstGeom prst="ellipse">
            <a:avLst/>
          </a:prstGeom>
          <a:solidFill>
            <a:srgbClr val="FF4D6D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" y="2871216"/>
            <a:ext cx="374904" cy="374904"/>
          </a:xfrm>
          <a:prstGeom prst="ellipse">
            <a:avLst/>
          </a:prstGeom>
          <a:solidFill>
            <a:srgbClr val="FF4D6D">
              <a:alpha val="15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2807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Critiques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3444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&gt; 0.75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97680" y="26060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0" y="2807208"/>
            <a:ext cx="502920" cy="502920"/>
          </a:xfrm>
          <a:prstGeom prst="ellipse">
            <a:avLst/>
          </a:prstGeom>
          <a:solidFill>
            <a:srgbClr val="FFB547">
              <a:alpha val="2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44568" y="2871216"/>
            <a:ext cx="374904" cy="374904"/>
          </a:xfrm>
          <a:prstGeom prst="ellipse">
            <a:avLst/>
          </a:prstGeom>
          <a:solidFill>
            <a:srgbClr val="FFB547">
              <a:alpha val="15000"/>
            </a:srgbClr>
          </a:solidFill>
          <a:ln w="15875">
            <a:solidFill>
              <a:srgbClr val="FFB5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4456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🟠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74920" y="2807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Élevées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7492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07492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0.55 — 0.75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138160" y="26060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040" y="2807208"/>
            <a:ext cx="502920" cy="502920"/>
          </a:xfrm>
          <a:prstGeom prst="ellipse">
            <a:avLst/>
          </a:prstGeom>
          <a:solidFill>
            <a:srgbClr val="00E5FF">
              <a:alpha val="2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385048" y="2871216"/>
            <a:ext cx="374904" cy="374904"/>
          </a:xfrm>
          <a:prstGeom prst="ellipse">
            <a:avLst/>
          </a:prstGeom>
          <a:solidFill>
            <a:srgbClr val="00E5FF">
              <a:alpha val="15000"/>
            </a:srgbClr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8504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915400" y="2807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Risque Moyen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91540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0.68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891540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84 alertes ouvertes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069080"/>
            <a:ext cx="8229600" cy="2331720"/>
          </a:xfrm>
          <a:prstGeom prst="roundRect">
            <a:avLst>
              <a:gd name="adj" fmla="val 3922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🚨  Top 10 alertes prioritaires — Tri par score de risque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4360" y="4526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600200" y="4526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697480" y="4526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069080" y="4526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Priorité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83480" y="4526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prév.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80760" y="45262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12280" y="4526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Niv.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94360" y="4800600"/>
            <a:ext cx="7955280" cy="10973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" y="4873752"/>
            <a:ext cx="8092440" cy="246888"/>
          </a:xfrm>
          <a:prstGeom prst="rect">
            <a:avLst/>
          </a:prstGeom>
          <a:solidFill>
            <a:srgbClr val="FF4D6D">
              <a:alpha val="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94360" y="4892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LIV-8245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600200" y="4892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697480" y="4892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Côte d'Ivoire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06908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Haute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83480" y="4892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28/12/24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080760" y="4892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0.92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81228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48640" y="5120640"/>
            <a:ext cx="8092440" cy="246888"/>
          </a:xfrm>
          <a:prstGeom prst="rect">
            <a:avLst/>
          </a:prstGeom>
          <a:solidFill>
            <a:srgbClr val="FF4D6D">
              <a:alpha val="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594360" y="51389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LIV-8198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600200" y="51389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Cameroun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2697480" y="51389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RCA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069080" y="51389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Haute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983480" y="51389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29/12/24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080760" y="51389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0.88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812280" y="51389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48640" y="5367528"/>
            <a:ext cx="8092440" cy="246888"/>
          </a:xfrm>
          <a:prstGeom prst="rect">
            <a:avLst/>
          </a:prstGeom>
          <a:solidFill>
            <a:srgbClr val="FF4D6D">
              <a:alpha val="5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594360" y="53858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LIV-8312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600200" y="53858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2697480" y="5385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Sénégal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069080" y="53858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Haute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983480" y="53858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30/12/24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080760" y="53858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0.85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812280" y="53858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48640" y="5614416"/>
            <a:ext cx="8092440" cy="246888"/>
          </a:xfrm>
          <a:prstGeom prst="rect">
            <a:avLst/>
          </a:prstGeom>
          <a:solidFill>
            <a:srgbClr val="FF4D6D">
              <a:alpha val="5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594360" y="56327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LIV-8276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600200" y="56327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Burkina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697480" y="56327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Ghana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069080" y="56327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Moy.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4983480" y="56327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28/12/24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080760" y="563270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0.81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812280" y="56327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48640" y="5861304"/>
            <a:ext cx="8092440" cy="246888"/>
          </a:xfrm>
          <a:prstGeom prst="rect">
            <a:avLst/>
          </a:prstGeom>
          <a:solidFill>
            <a:srgbClr val="FF4D6D">
              <a:alpha val="5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594360" y="5879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LIV-8354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1600200" y="5879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Togo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2697480" y="5879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Nigéria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4069080" y="5879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Haute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4983480" y="5879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31/12/24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6080760" y="5879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0.78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812280" y="5879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94360" y="6126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LIV-8389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1600200" y="6126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2697480" y="6126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Côte d'Ivoire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4069080" y="6126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Moy.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4983480" y="6126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02/01/25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6080760" y="6126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0.72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6812280" y="6126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🟠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594360" y="63733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LIV-8401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1600200" y="6373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2697480" y="6373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4069080" y="6373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Haute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4983480" y="6373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02/01/25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6080760" y="63733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0.68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6812280" y="63733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🟠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8869680" y="4069080"/>
            <a:ext cx="2834640" cy="2331720"/>
          </a:xfrm>
          <a:prstGeom prst="roundRect">
            <a:avLst>
              <a:gd name="adj" fmla="val 3922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00684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Répartition urgence</a:t>
            </a:r>
            <a:endParaRPr lang="en-US" sz="1100" dirty="0"/>
          </a:p>
        </p:txBody>
      </p:sp>
      <p:graphicFrame>
        <p:nvGraphicFramePr>
          <p:cNvPr id="108" name="Chart 0" descr=""/>
          <p:cNvGraphicFramePr/>
          <p:nvPr/>
        </p:nvGraphicFramePr>
        <p:xfrm>
          <a:off x="8869680" y="4434840"/>
          <a:ext cx="283464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9" name="Shape 106"/>
          <p:cNvSpPr/>
          <p:nvPr/>
        </p:nvSpPr>
        <p:spPr>
          <a:xfrm>
            <a:off x="9006840" y="6099048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10" name="Text 107"/>
          <p:cNvSpPr/>
          <p:nvPr/>
        </p:nvSpPr>
        <p:spPr>
          <a:xfrm>
            <a:off x="9144000" y="6035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Critique  23</a:t>
            </a:r>
            <a:endParaRPr lang="en-US" sz="800" dirty="0"/>
          </a:p>
        </p:txBody>
      </p:sp>
      <p:sp>
        <p:nvSpPr>
          <p:cNvPr id="111" name="Shape 108"/>
          <p:cNvSpPr/>
          <p:nvPr/>
        </p:nvSpPr>
        <p:spPr>
          <a:xfrm>
            <a:off x="10058400" y="6099048"/>
            <a:ext cx="109728" cy="109728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112" name="Text 109"/>
          <p:cNvSpPr/>
          <p:nvPr/>
        </p:nvSpPr>
        <p:spPr>
          <a:xfrm>
            <a:off x="10195560" y="6035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Élevé  61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10972800" y="6099048"/>
            <a:ext cx="109728" cy="10972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14" name="Text 111"/>
          <p:cNvSpPr/>
          <p:nvPr/>
        </p:nvSpPr>
        <p:spPr>
          <a:xfrm>
            <a:off x="11109960" y="6035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Moyen  84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0" y="653796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DataProjectLab</a:t>
            </a:r>
            <a:pPr algn="ctr" indent="0" marL="0">
              <a:buNone/>
            </a:pPr>
            <a:r>
              <a:rPr lang="en-US" sz="900" dirty="0">
                <a:solidFill>
                  <a:srgbClr val="5F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LogiTrack  ·  </a:t>
            </a:r>
            <a:pPr algn="ct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5 — Alertes ML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LogiTrack — Supply Chain Analytics (Dark)</dc:title>
  <dc:subject>PptxGenJS Presentation</dc:subject>
  <dc:creator>DataProjectLab</dc:creator>
  <cp:lastModifiedBy>DataProjectLab</cp:lastModifiedBy>
  <cp:revision>1</cp:revision>
  <dcterms:created xsi:type="dcterms:W3CDTF">2026-04-26T12:31:54Z</dcterms:created>
  <dcterms:modified xsi:type="dcterms:W3CDTF">2026-04-26T12:31:54Z</dcterms:modified>
</cp:coreProperties>
</file>