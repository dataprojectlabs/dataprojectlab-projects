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livraisons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620</c:v>
                </c:pt>
                <c:pt idx="1">
                  <c:v>640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780</c:v>
                </c:pt>
                <c:pt idx="6">
                  <c:v>760</c:v>
                </c:pt>
                <c:pt idx="7">
                  <c:v>720</c:v>
                </c:pt>
                <c:pt idx="8">
                  <c:v>780</c:v>
                </c:pt>
                <c:pt idx="9">
                  <c:v>820</c:v>
                </c:pt>
                <c:pt idx="10">
                  <c:v>870</c:v>
                </c:pt>
                <c:pt idx="11">
                  <c:v>910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3D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Breach %</c:v>
                </c:pt>
              </c:strCache>
            </c:strRef>
          </c:tx>
          <c:spPr>
            <a:solidFill>
              <a:srgbClr val="E24B4A"/>
            </a:solidFill>
            <a:ln w="38100" cap="flat">
              <a:solidFill>
                <a:srgbClr val="E24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</c:v>
                </c:pt>
                <c:pt idx="1">
                  <c:v>31</c:v>
                </c:pt>
                <c:pt idx="2">
                  <c:v>30</c:v>
                </c:pt>
                <c:pt idx="3">
                  <c:v>29</c:v>
                </c:pt>
                <c:pt idx="4">
                  <c:v>31</c:v>
                </c:pt>
                <c:pt idx="5">
                  <c:v>33</c:v>
                </c:pt>
                <c:pt idx="6">
                  <c:v>34</c:v>
                </c:pt>
                <c:pt idx="7">
                  <c:v>35</c:v>
                </c:pt>
                <c:pt idx="8">
                  <c:v>33</c:v>
                </c:pt>
                <c:pt idx="9">
                  <c:v>30</c:v>
                </c:pt>
                <c:pt idx="10">
                  <c:v>28</c:v>
                </c:pt>
                <c:pt idx="11">
                  <c:v>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3D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Breach %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Niger → CI</c:v>
                  </c:pt>
                  <c:pt idx="1">
                    <c:v>Nigéria → Bénin</c:v>
                  </c:pt>
                  <c:pt idx="2">
                    <c:v>Ghana → Burkina</c:v>
                  </c:pt>
                  <c:pt idx="3">
                    <c:v>Sénégal → Mali</c:v>
                  </c:pt>
                  <c:pt idx="4">
                    <c:v>CI → Mali</c:v>
                  </c:pt>
                  <c:pt idx="5">
                    <c:v>Togo → Nigéria</c:v>
                  </c:pt>
                  <c:pt idx="6">
                    <c:v>Cameroun → RCA</c:v>
                  </c:pt>
                  <c:pt idx="7">
                    <c:v>Burkina → Ghana</c:v>
                  </c:pt>
                  <c:pt idx="8">
                    <c:v>Mali → CI</c:v>
                  </c:pt>
                  <c:pt idx="9">
                    <c:v>CI → Sénégal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22</c:v>
                </c:pt>
                <c:pt idx="2">
                  <c:v>26</c:v>
                </c:pt>
                <c:pt idx="3">
                  <c:v>30</c:v>
                </c:pt>
                <c:pt idx="4">
                  <c:v>34</c:v>
                </c:pt>
                <c:pt idx="5">
                  <c:v>38</c:v>
                </c:pt>
                <c:pt idx="6">
                  <c:v>41</c:v>
                </c:pt>
                <c:pt idx="7">
                  <c:v>44</c:v>
                </c:pt>
                <c:pt idx="8">
                  <c:v>48</c:v>
                </c:pt>
                <c:pt idx="9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Conforme %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Niger → CI</c:v>
                  </c:pt>
                  <c:pt idx="1">
                    <c:v>Nigéria → Bénin</c:v>
                  </c:pt>
                  <c:pt idx="2">
                    <c:v>Ghana → Burkina</c:v>
                  </c:pt>
                  <c:pt idx="3">
                    <c:v>Sénégal → Mali</c:v>
                  </c:pt>
                  <c:pt idx="4">
                    <c:v>CI → Mali</c:v>
                  </c:pt>
                  <c:pt idx="5">
                    <c:v>Togo → Nigéria</c:v>
                  </c:pt>
                  <c:pt idx="6">
                    <c:v>Cameroun → RCA</c:v>
                  </c:pt>
                  <c:pt idx="7">
                    <c:v>Burkina → Ghana</c:v>
                  </c:pt>
                  <c:pt idx="8">
                    <c:v>Mali → CI</c:v>
                  </c:pt>
                  <c:pt idx="9">
                    <c:v>CI → Sénégal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82</c:v>
                </c:pt>
                <c:pt idx="1">
                  <c:v>78</c:v>
                </c:pt>
                <c:pt idx="2">
                  <c:v>74</c:v>
                </c:pt>
                <c:pt idx="3">
                  <c:v>70</c:v>
                </c:pt>
                <c:pt idx="4">
                  <c:v>66</c:v>
                </c:pt>
                <c:pt idx="5">
                  <c:v>62</c:v>
                </c:pt>
                <c:pt idx="6">
                  <c:v>59</c:v>
                </c:pt>
                <c:pt idx="7">
                  <c:v>56</c:v>
                </c:pt>
                <c:pt idx="8">
                  <c:v>52</c:v>
                </c:pt>
                <c:pt idx="9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3D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D3D4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Risque Faible (breach %)</c:v>
                </c:pt>
              </c:strCache>
            </c:strRef>
          </c:tx>
          <c:spPr>
            <a:solidFill>
              <a:srgbClr val="1D9E75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850</c:v>
                </c:pt>
                <c:pt idx="1">
                  <c:v>450</c:v>
                </c:pt>
                <c:pt idx="2">
                  <c:v>620</c:v>
                </c:pt>
                <c:pt idx="3">
                  <c:v>780</c:v>
                </c:pt>
                <c:pt idx="4">
                  <c:v>1250</c:v>
                </c:pt>
                <c:pt idx="5">
                  <c:v>350</c:v>
                </c:pt>
                <c:pt idx="6">
                  <c:v>580</c:v>
                </c:pt>
                <c:pt idx="7">
                  <c:v>1450</c:v>
                </c:pt>
                <c:pt idx="8">
                  <c:v>980</c:v>
                </c:pt>
                <c:pt idx="9">
                  <c:v>520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22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26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30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3D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CSAT Moyen</c:v>
                </c:pt>
              </c:strCache>
            </c:strRef>
          </c:tx>
          <c:spPr>
            <a:solidFill>
              <a:srgbClr val="534AB7"/>
            </a:solidFill>
            <a:ln w="38100" cap="flat">
              <a:solidFill>
                <a:srgbClr val="534A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34AB7"/>
              </a:solidFill>
              <a:ln w="9525" cap="flat">
                <a:solidFill>
                  <a:srgbClr val="534A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4.25</c:v>
                </c:pt>
                <c:pt idx="1">
                  <c:v>4.22</c:v>
                </c:pt>
                <c:pt idx="2">
                  <c:v>4.2</c:v>
                </c:pt>
                <c:pt idx="3">
                  <c:v>4.18</c:v>
                </c:pt>
                <c:pt idx="4">
                  <c:v>4.1</c:v>
                </c:pt>
                <c:pt idx="5">
                  <c:v>4.02</c:v>
                </c:pt>
                <c:pt idx="6">
                  <c:v>3.95</c:v>
                </c:pt>
                <c:pt idx="7">
                  <c:v>3.88</c:v>
                </c:pt>
                <c:pt idx="8">
                  <c:v>3.98</c:v>
                </c:pt>
                <c:pt idx="9">
                  <c:v>4.1</c:v>
                </c:pt>
                <c:pt idx="10">
                  <c:v>4.18</c:v>
                </c:pt>
                <c:pt idx="11">
                  <c:v>4.25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D3D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3.5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3D3D4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Breach %</c:v>
                </c:pt>
              </c:strCache>
            </c:strRef>
          </c:tx>
          <c:spPr>
            <a:solidFill>
              <a:srgbClr val="E24B4A"/>
            </a:solidFill>
            <a:ln w="38100" cap="flat">
              <a:solidFill>
                <a:srgbClr val="E24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</c:v>
                </c:pt>
                <c:pt idx="1">
                  <c:v>28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33</c:v>
                </c:pt>
                <c:pt idx="6">
                  <c:v>34</c:v>
                </c:pt>
                <c:pt idx="7">
                  <c:v>35</c:v>
                </c:pt>
                <c:pt idx="8">
                  <c:v>33</c:v>
                </c:pt>
                <c:pt idx="9">
                  <c:v>30</c:v>
                </c:pt>
                <c:pt idx="10">
                  <c:v>28</c:v>
                </c:pt>
                <c:pt idx="11">
                  <c:v>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D3D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3D3D4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Nb livraisons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9F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C04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D8B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★ 1</c:v>
                  </c:pt>
                  <c:pt idx="1">
                    <c:v>★★ 2</c:v>
                  </c:pt>
                  <c:pt idx="2">
                    <c:v>★★★ 3</c:v>
                  </c:pt>
                  <c:pt idx="3">
                    <c:v>★★★★ 4</c:v>
                  </c:pt>
                  <c:pt idx="4">
                    <c:v>★★★★★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215</c:v>
                </c:pt>
                <c:pt idx="1">
                  <c:v>542</c:v>
                </c:pt>
                <c:pt idx="2">
                  <c:v>2068</c:v>
                </c:pt>
                <c:pt idx="3">
                  <c:v>3112</c:v>
                </c:pt>
                <c:pt idx="4">
                  <c:v>2513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D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D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Alertes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bubble3D val="0"/>
            <c:spPr>
              <a:solidFill>
                <a:srgbClr val="EF9F27"/>
              </a:solidFill>
              <a:effectLst/>
            </c:spPr>
          </c:dPt>
          <c:dPt>
            <c:idx val="2"/>
            <c:bubble3D val="0"/>
            <c:spPr>
              <a:solidFill>
                <a:srgbClr val="F0C04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Critique</c:v>
                </c:pt>
                <c:pt idx="1">
                  <c:v>Élevé</c:v>
                </c:pt>
                <c:pt idx="2">
                  <c:v>Modéré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23</c:v>
                </c:pt>
                <c:pt idx="1">
                  <c:v>61</c:v>
                </c:pt>
                <c:pt idx="2">
                  <c:v>128</c:v>
                </c:pt>
              </c:numCache>
            </c:numRef>
          </c:val>
        </c:ser>
        <c:firstSliceAng val="0"/>
        <c:holeSize val="55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D3D4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2" Type="http://schemas.openxmlformats.org/officeDocument/2006/relationships/chart" Target="/ppt/charts/chart1.xml"/><Relationship Id="rId13" Type="http://schemas.openxmlformats.org/officeDocument/2006/relationships/chart" Target="/ppt/charts/chart2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.xml"/><Relationship Id="rId7" Type="http://schemas.openxmlformats.org/officeDocument/2006/relationships/chart" Target="/ppt/charts/chart6.xml"/><Relationship Id="rId8" Type="http://schemas.openxmlformats.org/officeDocument/2006/relationships/chart" Target="/ppt/charts/chart7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8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2377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1752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576072"/>
            <a:ext cx="8686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9" name="Text 6"/>
          <p:cNvSpPr/>
          <p:nvPr/>
        </p:nvSpPr>
        <p:spPr>
          <a:xfrm>
            <a:off x="443484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5216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6948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515600" y="201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2024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5760" y="1170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 direction — Q4 2024 · 8 450 livraisons analysées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1508760"/>
            <a:ext cx="11430000" cy="502920"/>
          </a:xfrm>
          <a:prstGeom prst="roundRect">
            <a:avLst>
              <a:gd name="adj" fmla="val 14545"/>
            </a:avLst>
          </a:prstGeom>
          <a:solidFill>
            <a:srgbClr val="E24B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76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 23 livraisons en risque critique — intervention requise immédiatement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65760" y="214884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3172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Livraisons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051560" y="2532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8 450</a:t>
            </a:r>
            <a:endParaRPr lang="en-US" sz="2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98648"/>
            <a:ext cx="128016" cy="12801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" y="2862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+6.3% vs Q3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337560" y="214884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33172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02336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SLA Breach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023360" y="2532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28.4%</a:t>
            </a:r>
            <a:endParaRPr lang="en-US" sz="20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2898648"/>
            <a:ext cx="128016" cy="12801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703320" y="2862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-2.1pp vs Q3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309360" y="214884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2331720"/>
            <a:ext cx="384048" cy="3840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9516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Moyen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6995160" y="2532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4.12 / 5</a:t>
            </a:r>
            <a:endParaRPr lang="en-US" sz="20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2898648"/>
            <a:ext cx="128016" cy="12801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675120" y="2862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+0.08 vs Q3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9281160" y="214884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4040" y="2331720"/>
            <a:ext cx="384048" cy="38404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96696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Pénalités Totales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9966960" y="2532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9F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42,8 M FCFA</a:t>
            </a:r>
            <a:endParaRPr lang="en-US" sz="20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4040" y="2898648"/>
            <a:ext cx="128016" cy="128016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646920" y="2862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+12.4% vs Q3</a:t>
            </a:r>
            <a:endParaRPr lang="en-US" sz="900" dirty="0"/>
          </a:p>
        </p:txBody>
      </p:sp>
      <p:sp>
        <p:nvSpPr>
          <p:cNvPr id="44" name="Shape 31"/>
          <p:cNvSpPr/>
          <p:nvPr/>
        </p:nvSpPr>
        <p:spPr>
          <a:xfrm>
            <a:off x="365760" y="333756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5" name="Text 32"/>
          <p:cNvSpPr/>
          <p:nvPr/>
        </p:nvSpPr>
        <p:spPr>
          <a:xfrm>
            <a:off x="502920" y="3429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mensuel de livraisons</a:t>
            </a:r>
            <a:endParaRPr lang="en-US" sz="1100" dirty="0"/>
          </a:p>
        </p:txBody>
      </p:sp>
      <p:sp>
        <p:nvSpPr>
          <p:cNvPr id="46" name="Text 33"/>
          <p:cNvSpPr/>
          <p:nvPr/>
        </p:nvSpPr>
        <p:spPr>
          <a:xfrm>
            <a:off x="502920" y="3657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Évolution du volume total · 12 mois 2024</a:t>
            </a:r>
            <a:endParaRPr lang="en-US" sz="80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457200" y="3886200"/>
          <a:ext cx="54864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8" name="Shape 34"/>
          <p:cNvSpPr/>
          <p:nvPr/>
        </p:nvSpPr>
        <p:spPr>
          <a:xfrm>
            <a:off x="6172200" y="333756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9" name="Text 35"/>
          <p:cNvSpPr/>
          <p:nvPr/>
        </p:nvSpPr>
        <p:spPr>
          <a:xfrm>
            <a:off x="6309360" y="3429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SLA Breach mensuel</a:t>
            </a:r>
            <a:endParaRPr lang="en-US" sz="1100" dirty="0"/>
          </a:p>
        </p:txBody>
      </p:sp>
      <p:sp>
        <p:nvSpPr>
          <p:cNvPr id="50" name="Text 36"/>
          <p:cNvSpPr/>
          <p:nvPr/>
        </p:nvSpPr>
        <p:spPr>
          <a:xfrm>
            <a:off x="6309360" y="3657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Tendance — % des livraisons en retard</a:t>
            </a:r>
            <a:endParaRPr lang="en-US" sz="800" dirty="0"/>
          </a:p>
        </p:txBody>
      </p:sp>
      <p:graphicFrame>
        <p:nvGraphicFramePr>
          <p:cNvPr id="51" name="Chart 1" descr=""/>
          <p:cNvGraphicFramePr/>
          <p:nvPr/>
        </p:nvGraphicFramePr>
        <p:xfrm>
          <a:off x="6263640" y="3886200"/>
          <a:ext cx="54864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52" name="Text 37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LogiTrack  ·  Page 1 — Vue Executive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2377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1752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3484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576072"/>
            <a:ext cx="8686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6948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515600" y="201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2024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des Corridors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5760" y="11704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corridors d'Afrique de l'Ouest · Identifier les routes à risque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1554480"/>
            <a:ext cx="55778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02920" y="1645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livraisons SLA breachées par corridor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" y="1874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Rouge = retards · Vert = livraisons conformes</a:t>
            </a:r>
            <a:endParaRPr lang="en-US" sz="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103120"/>
          <a:ext cx="53949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Shape 16"/>
          <p:cNvSpPr/>
          <p:nvPr/>
        </p:nvSpPr>
        <p:spPr>
          <a:xfrm>
            <a:off x="6080760" y="1554480"/>
            <a:ext cx="55778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217920" y="1645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 vs Taux breach (bulle = volume)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17920" y="1874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Corrélation attendue : corridors longs → plus de breach</a:t>
            </a:r>
            <a:endParaRPr lang="en-US" sz="8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6217920" y="2103120"/>
          <a:ext cx="53949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hape 19"/>
          <p:cNvSpPr/>
          <p:nvPr/>
        </p:nvSpPr>
        <p:spPr>
          <a:xfrm>
            <a:off x="6355080" y="4160520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6" name="Text 20"/>
          <p:cNvSpPr/>
          <p:nvPr/>
        </p:nvSpPr>
        <p:spPr>
          <a:xfrm>
            <a:off x="6519672" y="41330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Faible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7680960" y="4160520"/>
            <a:ext cx="128016" cy="128016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8" name="Text 22"/>
          <p:cNvSpPr/>
          <p:nvPr/>
        </p:nvSpPr>
        <p:spPr>
          <a:xfrm>
            <a:off x="7845552" y="41330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Moyen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9006840" y="4160520"/>
            <a:ext cx="128016" cy="128016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30" name="Text 24"/>
          <p:cNvSpPr/>
          <p:nvPr/>
        </p:nvSpPr>
        <p:spPr>
          <a:xfrm>
            <a:off x="9171432" y="4133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Élevé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365760" y="4572000"/>
            <a:ext cx="11430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50292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Détail des 7 corridors les plus critiques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19472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188720"/>
                <a:gridCol w="1280160"/>
                <a:gridCol w="1371600"/>
                <a:gridCol w="1371600"/>
                <a:gridCol w="1737360"/>
                <a:gridCol w="109728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Corridor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Risque Douanier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Nb Livraisons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Distance (km)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Taux Breach 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Retard Moy (j)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Pénalités (M FCFA)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Rang Risque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 → Sénégal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Élevé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584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1 250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52.1%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#1 🔴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Mali → CI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Élevé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612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1 450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48.3%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7.6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#2 🔴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Burkina → Ghana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 Moyen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498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44.2%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2.8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#3 🟠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Cameroun → RCA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Élevé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1 380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41.7%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5.8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#4 🔴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Togo → Nigéria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 Moyen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386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720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38.1%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4.9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#5 🟠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 → Mali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 Moyen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542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34.2%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#6 🟠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27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LogiTrack  ·  Page 2 — Corridors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2377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1752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3484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5216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576072"/>
            <a:ext cx="8686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515600" y="201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2024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des Transporteurs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5760" y="11704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transporteurs évalués · Quadrant fiabilité × satisfaction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1554480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564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1691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Meilleur transporteur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88720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FastCargo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188720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 12.3%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224528" y="1554480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75564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47488" y="1691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 à risque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047488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RoutierSud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5047488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 58.7%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083296" y="1554480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1755648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906256" y="1691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Économie potentielle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906256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11,2 M FCFA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8906256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tier 3 → tier 1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365760" y="2606040"/>
            <a:ext cx="5577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50292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Matrice Fiabilité × Satisfaction client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02920" y="292608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Axe X : Taux Breach (bas = bon) · Axe Y : CSAT (haut = bon) · Taille = volume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914400" y="3246120"/>
            <a:ext cx="2286000" cy="960120"/>
          </a:xfrm>
          <a:prstGeom prst="rect">
            <a:avLst/>
          </a:prstGeom>
          <a:solidFill>
            <a:srgbClr val="A8D8B9">
              <a:alpha val="50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3200400" y="3246120"/>
            <a:ext cx="2286000" cy="960120"/>
          </a:xfrm>
          <a:prstGeom prst="rect">
            <a:avLst/>
          </a:prstGeom>
          <a:solidFill>
            <a:srgbClr val="FDE1B2">
              <a:alpha val="50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914400" y="4206240"/>
            <a:ext cx="2286000" cy="960120"/>
          </a:xfrm>
          <a:prstGeom prst="rect">
            <a:avLst/>
          </a:prstGeom>
          <a:solidFill>
            <a:srgbClr val="D6EDFC">
              <a:alpha val="5000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3200400" y="4206240"/>
            <a:ext cx="2286000" cy="960120"/>
          </a:xfrm>
          <a:prstGeom prst="rect">
            <a:avLst/>
          </a:prstGeom>
          <a:solidFill>
            <a:srgbClr val="F8C8C6">
              <a:alpha val="50000"/>
            </a:srgbClr>
          </a:solidFill>
          <a:ln/>
        </p:spPr>
      </p:sp>
      <p:sp>
        <p:nvSpPr>
          <p:cNvPr id="39" name="Shape 32"/>
          <p:cNvSpPr/>
          <p:nvPr/>
        </p:nvSpPr>
        <p:spPr>
          <a:xfrm>
            <a:off x="3200400" y="3246120"/>
            <a:ext cx="0" cy="1920240"/>
          </a:xfrm>
          <a:prstGeom prst="line">
            <a:avLst/>
          </a:prstGeom>
          <a:noFill/>
          <a:ln w="19050">
            <a:solidFill>
              <a:srgbClr val="E5E5E9"/>
            </a:solidFill>
            <a:prstDash val="dash"/>
          </a:ln>
        </p:spPr>
      </p:sp>
      <p:sp>
        <p:nvSpPr>
          <p:cNvPr id="40" name="Shape 33"/>
          <p:cNvSpPr/>
          <p:nvPr/>
        </p:nvSpPr>
        <p:spPr>
          <a:xfrm>
            <a:off x="914400" y="4206240"/>
            <a:ext cx="4572000" cy="0"/>
          </a:xfrm>
          <a:prstGeom prst="line">
            <a:avLst/>
          </a:prstGeom>
          <a:noFill/>
          <a:ln w="19050">
            <a:solidFill>
              <a:srgbClr val="E5E5E9"/>
            </a:solidFill>
            <a:prstDash val="dash"/>
          </a:ln>
        </p:spPr>
      </p:sp>
      <p:sp>
        <p:nvSpPr>
          <p:cNvPr id="41" name="Text 34"/>
          <p:cNvSpPr/>
          <p:nvPr/>
        </p:nvSpPr>
        <p:spPr>
          <a:xfrm>
            <a:off x="1005840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Top Performer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3291840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Apprécié Peu Fiable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1005840" y="4919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🔧 Fiable Peu Apprécié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3291840" y="4919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À Surveiller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1463040" y="3396996"/>
            <a:ext cx="274320" cy="274320"/>
          </a:xfrm>
          <a:prstGeom prst="ellipse">
            <a:avLst/>
          </a:prstGeom>
          <a:solidFill>
            <a:srgbClr val="1D9E75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1051560" y="36804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FastCargo</a:t>
            </a:r>
            <a:endParaRPr lang="en-US" sz="600" dirty="0"/>
          </a:p>
        </p:txBody>
      </p:sp>
      <p:sp>
        <p:nvSpPr>
          <p:cNvPr id="47" name="Shape 40"/>
          <p:cNvSpPr/>
          <p:nvPr/>
        </p:nvSpPr>
        <p:spPr>
          <a:xfrm>
            <a:off x="1943100" y="3554273"/>
            <a:ext cx="228600" cy="228600"/>
          </a:xfrm>
          <a:prstGeom prst="ellipse">
            <a:avLst/>
          </a:prstGeom>
          <a:solidFill>
            <a:srgbClr val="1D9E75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1508760" y="3792017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ExpressWA</a:t>
            </a:r>
            <a:endParaRPr lang="en-US" sz="600" dirty="0"/>
          </a:p>
        </p:txBody>
      </p:sp>
      <p:sp>
        <p:nvSpPr>
          <p:cNvPr id="49" name="Shape 42"/>
          <p:cNvSpPr/>
          <p:nvPr/>
        </p:nvSpPr>
        <p:spPr>
          <a:xfrm>
            <a:off x="1627632" y="3808476"/>
            <a:ext cx="219456" cy="219456"/>
          </a:xfrm>
          <a:prstGeom prst="ellipse">
            <a:avLst/>
          </a:prstGeom>
          <a:solidFill>
            <a:srgbClr val="1D9E75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1188720" y="403707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TransAfrique</a:t>
            </a:r>
            <a:endParaRPr lang="en-US" sz="600" dirty="0"/>
          </a:p>
        </p:txBody>
      </p:sp>
      <p:sp>
        <p:nvSpPr>
          <p:cNvPr id="51" name="Shape 44"/>
          <p:cNvSpPr/>
          <p:nvPr/>
        </p:nvSpPr>
        <p:spPr>
          <a:xfrm>
            <a:off x="2423160" y="3692347"/>
            <a:ext cx="182880" cy="182880"/>
          </a:xfrm>
          <a:prstGeom prst="ellipse">
            <a:avLst/>
          </a:prstGeom>
          <a:solidFill>
            <a:srgbClr val="1D9E75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1965960" y="3884371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BenTrans</a:t>
            </a:r>
            <a:endParaRPr lang="en-US" sz="600" dirty="0"/>
          </a:p>
        </p:txBody>
      </p:sp>
      <p:sp>
        <p:nvSpPr>
          <p:cNvPr id="53" name="Shape 46"/>
          <p:cNvSpPr/>
          <p:nvPr/>
        </p:nvSpPr>
        <p:spPr>
          <a:xfrm>
            <a:off x="3785616" y="3529584"/>
            <a:ext cx="201168" cy="201168"/>
          </a:xfrm>
          <a:prstGeom prst="ellipse">
            <a:avLst/>
          </a:prstGeom>
          <a:solidFill>
            <a:srgbClr val="EF9F27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3337560" y="373989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LogiPlus</a:t>
            </a:r>
            <a:endParaRPr lang="en-US" sz="600" dirty="0"/>
          </a:p>
        </p:txBody>
      </p:sp>
      <p:sp>
        <p:nvSpPr>
          <p:cNvPr id="55" name="Shape 48"/>
          <p:cNvSpPr/>
          <p:nvPr/>
        </p:nvSpPr>
        <p:spPr>
          <a:xfrm>
            <a:off x="4114800" y="3769157"/>
            <a:ext cx="182880" cy="182880"/>
          </a:xfrm>
          <a:prstGeom prst="ellipse">
            <a:avLst/>
          </a:prstGeom>
          <a:solidFill>
            <a:srgbClr val="EF9F27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3657600" y="3961181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CamionCorp</a:t>
            </a:r>
            <a:endParaRPr lang="en-US" sz="600" dirty="0"/>
          </a:p>
        </p:txBody>
      </p:sp>
      <p:sp>
        <p:nvSpPr>
          <p:cNvPr id="57" name="Shape 50"/>
          <p:cNvSpPr/>
          <p:nvPr/>
        </p:nvSpPr>
        <p:spPr>
          <a:xfrm>
            <a:off x="1746504" y="4507992"/>
            <a:ext cx="164592" cy="164592"/>
          </a:xfrm>
          <a:prstGeom prst="ellipse">
            <a:avLst/>
          </a:prstGeom>
          <a:solidFill>
            <a:srgbClr val="0EA5E9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1280160" y="468172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SénéLogistics</a:t>
            </a:r>
            <a:endParaRPr lang="en-US" sz="600" dirty="0"/>
          </a:p>
        </p:txBody>
      </p:sp>
      <p:sp>
        <p:nvSpPr>
          <p:cNvPr id="59" name="Shape 52"/>
          <p:cNvSpPr/>
          <p:nvPr/>
        </p:nvSpPr>
        <p:spPr>
          <a:xfrm>
            <a:off x="2551176" y="4585716"/>
            <a:ext cx="201168" cy="201168"/>
          </a:xfrm>
          <a:prstGeom prst="ellipse">
            <a:avLst/>
          </a:prstGeom>
          <a:solidFill>
            <a:srgbClr val="0EA5E9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2103120" y="479602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RouteurCI</a:t>
            </a:r>
            <a:endParaRPr lang="en-US" sz="600" dirty="0"/>
          </a:p>
        </p:txBody>
      </p:sp>
      <p:sp>
        <p:nvSpPr>
          <p:cNvPr id="61" name="Shape 54"/>
          <p:cNvSpPr/>
          <p:nvPr/>
        </p:nvSpPr>
        <p:spPr>
          <a:xfrm>
            <a:off x="3657600" y="4537253"/>
            <a:ext cx="182880" cy="182880"/>
          </a:xfrm>
          <a:prstGeom prst="ellipse">
            <a:avLst/>
          </a:prstGeom>
          <a:solidFill>
            <a:srgbClr val="E24B4A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3200400" y="4729277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TransporTogo</a:t>
            </a:r>
            <a:endParaRPr lang="en-US" sz="600" dirty="0"/>
          </a:p>
        </p:txBody>
      </p:sp>
      <p:sp>
        <p:nvSpPr>
          <p:cNvPr id="63" name="Shape 56"/>
          <p:cNvSpPr/>
          <p:nvPr/>
        </p:nvSpPr>
        <p:spPr>
          <a:xfrm>
            <a:off x="4672584" y="4654296"/>
            <a:ext cx="256032" cy="256032"/>
          </a:xfrm>
          <a:prstGeom prst="ellipse">
            <a:avLst/>
          </a:prstGeom>
          <a:solidFill>
            <a:srgbClr val="E24B4A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4251960" y="491947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RoutierSud</a:t>
            </a:r>
            <a:endParaRPr lang="en-US" sz="600" dirty="0"/>
          </a:p>
        </p:txBody>
      </p:sp>
      <p:sp>
        <p:nvSpPr>
          <p:cNvPr id="65" name="Shape 58"/>
          <p:cNvSpPr/>
          <p:nvPr/>
        </p:nvSpPr>
        <p:spPr>
          <a:xfrm>
            <a:off x="4242816" y="4393692"/>
            <a:ext cx="201168" cy="201168"/>
          </a:xfrm>
          <a:prstGeom prst="ellipse">
            <a:avLst/>
          </a:prstGeom>
          <a:solidFill>
            <a:srgbClr val="E24B4A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3794760" y="460400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CargoMali</a:t>
            </a:r>
            <a:endParaRPr lang="en-US" sz="600" dirty="0"/>
          </a:p>
        </p:txBody>
      </p:sp>
      <p:sp>
        <p:nvSpPr>
          <p:cNvPr id="67" name="Shape 60"/>
          <p:cNvSpPr/>
          <p:nvPr/>
        </p:nvSpPr>
        <p:spPr>
          <a:xfrm>
            <a:off x="4489704" y="4277563"/>
            <a:ext cx="164592" cy="164592"/>
          </a:xfrm>
          <a:prstGeom prst="ellipse">
            <a:avLst/>
          </a:prstGeom>
          <a:solidFill>
            <a:srgbClr val="EF9F27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4023360" y="4451299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AfricaLine</a:t>
            </a:r>
            <a:endParaRPr lang="en-US" sz="600" dirty="0"/>
          </a:p>
        </p:txBody>
      </p:sp>
      <p:sp>
        <p:nvSpPr>
          <p:cNvPr id="69" name="Text 62"/>
          <p:cNvSpPr/>
          <p:nvPr/>
        </p:nvSpPr>
        <p:spPr>
          <a:xfrm>
            <a:off x="914400" y="52120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Breach bas (meilleur)    Breach haut →</a:t>
            </a:r>
            <a:endParaRPr lang="en-US" sz="700" dirty="0"/>
          </a:p>
        </p:txBody>
      </p:sp>
      <p:sp>
        <p:nvSpPr>
          <p:cNvPr id="70" name="Shape 63"/>
          <p:cNvSpPr/>
          <p:nvPr/>
        </p:nvSpPr>
        <p:spPr>
          <a:xfrm>
            <a:off x="6080760" y="2606040"/>
            <a:ext cx="5577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1" name="Text 64"/>
          <p:cNvSpPr/>
          <p:nvPr/>
        </p:nvSpPr>
        <p:spPr>
          <a:xfrm>
            <a:off x="621792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Classement des 12 transporteurs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971800"/>
          <a:ext cx="530352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143000"/>
                <a:gridCol w="685800"/>
                <a:gridCol w="640080"/>
                <a:gridCol w="777240"/>
                <a:gridCol w="594360"/>
                <a:gridCol w="502920"/>
              </a:tblGrid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Rang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Transporteur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Nb Liv.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Breach 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CSAT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🟢 #1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FastCargo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892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12.3%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4.61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🟢 #2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ExpressWA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745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14.8%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🟢 #3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TransAfrique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812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18.2%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4.42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🟡 #4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BenTrans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618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22.4%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4.31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🟡 #5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SénéLogistics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Maritime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24.7%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3.85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🟡 #6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LogiPlus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702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31.2%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4.48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🟡 #7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RouteurCI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582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33.8%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3.92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 #8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CamionCorp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38.4%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4.15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 #9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AfricaLine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Aérien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42.1%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4.08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#10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TransporTogo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48.3%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4.22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#11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CargoMali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52.7%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3.78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#12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RoutierSud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58.7%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3.65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T3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3" name="Text 65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LogiTrack  ·  Page 3 — Transporteurs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2377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1752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3484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5216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26948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543800" y="576072"/>
            <a:ext cx="8686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515600" y="201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2024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 de Service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5760" y="11704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satisfaction client est-elle corrélée au taux de breach ?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1554480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564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1691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Moyen global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88720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4.12 / 5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188720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8 450 livraisons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224528" y="1554480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75564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47488" y="1691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Livraisons CSAT ≥ 4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047488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68.4%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5047488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+3.2pp vs Q3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083296" y="1554480"/>
            <a:ext cx="37673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1755648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906256" y="1691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Escalades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906256" y="1874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412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8906256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 du volume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365760" y="2606040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50292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Évolution mensuelle CSAT et Taux Breach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02920" y="29260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baisse quand breach monte — corrélation inverse visible</a:t>
            </a:r>
            <a:endParaRPr lang="en-US" sz="8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457200" y="3154680"/>
          <a:ext cx="484632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36" name="Chart 1" descr=""/>
          <p:cNvGraphicFramePr/>
          <p:nvPr/>
        </p:nvGraphicFramePr>
        <p:xfrm>
          <a:off x="457200" y="4251960"/>
          <a:ext cx="484632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7" name="Shape 28"/>
          <p:cNvSpPr/>
          <p:nvPr/>
        </p:nvSpPr>
        <p:spPr>
          <a:xfrm>
            <a:off x="5532120" y="2606040"/>
            <a:ext cx="32004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566928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des notes CSAT</a:t>
            </a:r>
            <a:endParaRPr lang="en-US" sz="1100" dirty="0"/>
          </a:p>
        </p:txBody>
      </p:sp>
      <p:graphicFrame>
        <p:nvGraphicFramePr>
          <p:cNvPr id="39" name="Chart 2" descr=""/>
          <p:cNvGraphicFramePr/>
          <p:nvPr/>
        </p:nvGraphicFramePr>
        <p:xfrm>
          <a:off x="5623560" y="2971800"/>
          <a:ext cx="3017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0" name="Shape 30"/>
          <p:cNvSpPr/>
          <p:nvPr/>
        </p:nvSpPr>
        <p:spPr>
          <a:xfrm>
            <a:off x="8869680" y="2606040"/>
            <a:ext cx="2926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Text 31"/>
          <p:cNvSpPr/>
          <p:nvPr/>
        </p:nvSpPr>
        <p:spPr>
          <a:xfrm>
            <a:off x="9006840" y="2697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 avec CSAT le plus bas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06840" y="2971800"/>
          <a:ext cx="2697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640080"/>
                <a:gridCol w="50292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Corridor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CSAT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Breach 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Escal.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Mali → CI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3.21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48.3%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 → Sénégal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3.35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52.1%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Cameroun → RCA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3.42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41.7%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Togo → Nigéria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3.68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38.1%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Burkina → Ghana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3.82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44.2%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 → Mali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4.02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34.2%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Sénégal → Mali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4.18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30.4%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Ghana → Burkina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4.32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26.1%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Nigéria → Bénin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4.41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22.5%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Niger → CI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18.2%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Text 32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LogiTrack  ·  Page 4 — CSAT &amp; Qualité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2377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1752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3484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5216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26948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0" y="137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961120" y="576072"/>
            <a:ext cx="86868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0" y="201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2024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22860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 &amp; Prédictions de Retard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5760" y="11704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opérationnelle · Consultée chaque matin par les dispatchers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1508760"/>
            <a:ext cx="11430000" cy="502920"/>
          </a:xfrm>
          <a:prstGeom prst="roundRect">
            <a:avLst>
              <a:gd name="adj" fmla="val 14545"/>
            </a:avLst>
          </a:prstGeom>
          <a:solidFill>
            <a:srgbClr val="E24B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76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 23 livraisons en risque critique — score &gt; 0.75 · Action immédiate requise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65760" y="2148840"/>
            <a:ext cx="3767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3172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22585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Critiques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97280" y="2441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097280" y="2743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&gt; 0.75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224528" y="2148840"/>
            <a:ext cx="3767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233172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56048" y="22585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Élevées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956048" y="2441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4956048" y="2743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0.55-0.75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8083296" y="2148840"/>
            <a:ext cx="3767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2331720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14816" y="22585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Risque Moyen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8814816" y="2441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4A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8814816" y="2743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alertes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365760" y="3108960"/>
            <a:ext cx="73152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502920" y="3200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 Top 10 alertes prioritaires — Tri par score de risque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74720"/>
          <a:ext cx="7040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280160"/>
                <a:gridCol w="777240"/>
                <a:gridCol w="1097280"/>
                <a:gridCol w="731520"/>
                <a:gridCol w="77724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Livraison ID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Origine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Destination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Priorité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 prévue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D3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Niveau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LIV-8245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Mali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Côte d'Ivoire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Haute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28/12/2024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LIV-8198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Cameroun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RCA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Haute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29/12/2024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LIV-8312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Sénégal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Haute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30/12/2024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LIV-8276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Burkina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Ghana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Moy.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28/12/2024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LIV-8354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Togo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Nigéria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Haute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31/12/2024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LIV-8389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Mali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Côte d'Ivoire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Moy.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02/01/2025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LIV-8401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Mali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Haute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02/01/2025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LIV-8425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Sénégal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Mali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Moy.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03/01/2025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LIV-8447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Ghana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Burkina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Basse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04/01/2025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0.58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LIV-8468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Nigéria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Bénin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Moy.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04/01/2025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0.55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🟠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Shape 29"/>
          <p:cNvSpPr/>
          <p:nvPr/>
        </p:nvSpPr>
        <p:spPr>
          <a:xfrm>
            <a:off x="7818120" y="310896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EEEDFE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9" name="Text 30"/>
          <p:cNvSpPr/>
          <p:nvPr/>
        </p:nvSpPr>
        <p:spPr>
          <a:xfrm>
            <a:off x="7955280" y="32004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Répartition niveau d'urgence</a:t>
            </a:r>
            <a:endParaRPr lang="en-US" sz="11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7909560" y="3474720"/>
          <a:ext cx="37947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1" name="Text 31"/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DataProjectLab  ·  LogiTrack  ·  Page 5 — Alertes ML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LogiTrack — Supply Chain Dashboard Mockup</dc:title>
  <dc:subject>PptxGenJS Presentation</dc:subject>
  <dc:creator>DataProjectLab</dc:creator>
  <cp:lastModifiedBy>DataProjectLab</cp:lastModifiedBy>
  <cp:revision>1</cp:revision>
  <dcterms:created xsi:type="dcterms:W3CDTF">2026-04-23T11:43:42Z</dcterms:created>
  <dcterms:modified xsi:type="dcterms:W3CDTF">2026-04-23T11:43:42Z</dcterms:modified>
</cp:coreProperties>
</file>