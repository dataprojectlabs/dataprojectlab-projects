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5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D4030"/>
          </a:solidFill>
          <a:ln w="12700">
            <a:solidFill>
              <a:srgbClr val="0D4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1D9E75">
              <a:alpha val="20000"/>
            </a:srgbClr>
          </a:solidFill>
          <a:ln w="12700">
            <a:solidFill>
              <a:srgbClr val="1D9E7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09560" y="228600"/>
            <a:ext cx="411480" cy="685800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26680" y="411480"/>
            <a:ext cx="777240" cy="320040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02920"/>
            <a:ext cx="2011680" cy="274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02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DataProjectLab · 2024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Projet Sante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15361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D9E75"/>
                </a:solidFill>
              </a:rPr>
              <a:t>HGU Cocody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57200" y="230428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E1CB"/>
                </a:solidFill>
              </a:rPr>
              <a:t>Prevision de la demande en medicaments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FE1CB"/>
                </a:solidFill>
              </a:rPr>
              <a:t>Pharmacie Centrale · Abidjan, Cote d'Ivoire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5029200" cy="0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46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30 mois de donnees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E1CB"/>
                </a:solidFill>
              </a:rPr>
              <a:t>Jan 2022 – Jun 2024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77440" y="3246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22 medicaments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377440" y="3520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E1CB"/>
                </a:solidFill>
              </a:rPr>
              <a:t>Critiques analyses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97680" y="3246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 notebooks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97680" y="3520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E1CB"/>
                </a:solidFill>
              </a:rPr>
              <a:t>SQL · EDA · ML · Power BI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83328"/>
          </a:solidFill>
          <a:ln w="12700">
            <a:solidFill>
              <a:srgbClr val="0833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892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B4A5"/>
                </a:solidFill>
              </a:rPr>
              <a:t>Confidentiel · HGU Cocody · Pharmacie Centrale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503C"/>
          </a:solidFill>
          <a:ln w="12700">
            <a:solidFill>
              <a:srgbClr val="0F50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Contexte &amp; Brief metier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316736" cy="237744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03C"/>
                </a:solidFill>
              </a:rPr>
              <a:t>NB1 · Contexte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8229600" cy="1417320"/>
          </a:xfrm>
          <a:prstGeom prst="rect">
            <a:avLst/>
          </a:prstGeom>
          <a:solidFill>
            <a:srgbClr val="E8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98448"/>
            <a:ext cx="64008" cy="1417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89888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"Depuis le debut de l'annee, nous avons connu </a:t>
            </a:r>
            <a:pPr indent="0" marL="0">
              <a:buNone/>
            </a:pPr>
            <a:r>
              <a:rPr lang="en-US" sz="1100" b="1" dirty="0">
                <a:solidFill>
                  <a:srgbClr val="E24B4A"/>
                </a:solidFill>
              </a:rPr>
              <a:t>7 ruptures de stock critiques.</a:t>
            </a:r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 La derniere rupture d'insuline a contraint notre service de diabetologie a reporter des traitements pendant 4 jours.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En parallele, notre audit revele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85 000 euros de medicaments surtoques</a:t>
            </a:r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</a:rPr>
              <a:t> dont la date de peremption approche."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780"/>
                </a:solidFill>
              </a:rPr>
              <a:t>— Dr. Konan, Pharmacien Chef, HGU Cocody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999232"/>
            <a:ext cx="4023360" cy="1417320"/>
          </a:xfrm>
          <a:prstGeom prst="rect">
            <a:avLst/>
          </a:prstGeom>
          <a:solidFill>
            <a:srgbClr val="FCEBEB"/>
          </a:solidFill>
          <a:ln w="6350">
            <a:solidFill>
              <a:srgbClr val="E24B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999232"/>
            <a:ext cx="4023360" cy="5486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0906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4B4A"/>
                </a:solidFill>
              </a:rPr>
              <a:t>Probleme 1 — Ruptures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3832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7 ruptures critiques dont une rupture d'insuline ayant force le report de traitements pendant 4 jours. Risque vital pour les patients diabetiques de type 1.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999232"/>
            <a:ext cx="4023360" cy="1417320"/>
          </a:xfrm>
          <a:prstGeom prst="rect">
            <a:avLst/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999232"/>
            <a:ext cx="4023360" cy="5486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30906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Probleme 2 — Surstockage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33832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85 000 euros de medicaments surtoques avec peremption imminente. Commandes non calibrees sur la demande reelle et la saisonnalite.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498848"/>
            <a:ext cx="8229600" cy="32918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4988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Solution : systeme de prevision ML + dashboard Power BI pour anticiper les commandes et eliminer les ruptures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503C"/>
          </a:solidFill>
          <a:ln w="12700">
            <a:solidFill>
              <a:srgbClr val="0F50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92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DataProjectLab  ·  Projet Sante HGU Cocody  ·  2024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892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503C"/>
          </a:solidFill>
          <a:ln w="12700">
            <a:solidFill>
              <a:srgbClr val="0F50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Architecture des donnees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627632" cy="237744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03C"/>
                </a:solidFill>
              </a:rPr>
              <a:t>NB1 · Dictionnaire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84632" y="1353312"/>
            <a:ext cx="2651760" cy="987552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265176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35608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</a:rPr>
              <a:t>medicaments.csv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1673352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</a:rPr>
              <a:t>25 lignes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1856232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</a:rPr>
              <a:t>Referentiel · Prix · Stock securite · Critique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19272" y="1353312"/>
            <a:ext cx="2651760" cy="987552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325880"/>
            <a:ext cx="265176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325880"/>
            <a:ext cx="26517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1435608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</a:rPr>
              <a:t>consommations.csv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01568" y="1673352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</a:rPr>
              <a:t>~53 000 lignes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01568" y="1856232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</a:rPr>
              <a:t>Coeur du projet · Cible ML · 30 mois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53912" y="1353312"/>
            <a:ext cx="2651760" cy="987552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325880"/>
            <a:ext cx="265176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325880"/>
            <a:ext cx="26517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1435608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</a:rPr>
              <a:t>commandes_fournisseurs.csv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36208" y="1673352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</a:rPr>
              <a:t>~964 lignes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36208" y="1856232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</a:rPr>
              <a:t>Historique commandes · Retards · Statuts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" y="2468880"/>
            <a:ext cx="2651760" cy="987552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441448"/>
            <a:ext cx="265176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441448"/>
            <a:ext cx="2651760" cy="54864"/>
          </a:xfrm>
          <a:prstGeom prst="rect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2551176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780"/>
                </a:solidFill>
              </a:rPr>
              <a:t>services.csv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" y="2788920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</a:rPr>
              <a:t>10 lignes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" y="297180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</a:rPr>
              <a:t>10 services hospitaliers · Capacite lits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19272" y="2468880"/>
            <a:ext cx="2651760" cy="987552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0" y="2441448"/>
            <a:ext cx="265176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2441448"/>
            <a:ext cx="2651760" cy="54864"/>
          </a:xfrm>
          <a:prstGeom prst="rect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01568" y="2551176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8780"/>
                </a:solidFill>
              </a:rPr>
              <a:t>fournisseurs.csv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01568" y="2788920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</a:rPr>
              <a:t>5 lignes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401568" y="297180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</a:rPr>
              <a:t>5 fournisseurs · Delais · Taux service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53912" y="2468880"/>
            <a:ext cx="2651760" cy="987552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2441448"/>
            <a:ext cx="265176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0" y="2441448"/>
            <a:ext cx="2651760" cy="5486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36208" y="2551176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4B4A"/>
                </a:solidFill>
              </a:rPr>
              <a:t>ruptures_stock.csv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36208" y="2788920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A"/>
                </a:solidFill>
              </a:rPr>
              <a:t>85 lignes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36208" y="297180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</a:rPr>
              <a:t>Evenements rupture · Impact clinique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4480560"/>
            <a:ext cx="8229600" cy="347472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448056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503C"/>
                </a:solidFill>
              </a:rPr>
              <a:t>Periode couverte : Janvier 2022 → Juin 2024  ·  30 mois  ·  22 medicaments avec consommations  ·  3 medicaments sans donnees (exclus du ML)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503C"/>
          </a:solidFill>
          <a:ln w="12700">
            <a:solidFill>
              <a:srgbClr val="0F50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892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DataProjectLab  ·  Projet Sante HGU Cocody  ·  2024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29600" y="4892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503C"/>
          </a:solidFill>
          <a:ln w="12700">
            <a:solidFill>
              <a:srgbClr val="0F50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Analyse SQL &amp; Exploration (EDA)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860804" cy="237744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1860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03C"/>
                </a:solidFill>
              </a:rPr>
              <a:t>NB2 · DuckDB · Python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84632" y="1325880"/>
            <a:ext cx="4160520" cy="1536192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98448"/>
            <a:ext cx="4160520" cy="1536192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98448"/>
            <a:ext cx="416052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2646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</a:rPr>
              <a:t>Tendance +0.85%/mois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773936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</a:rPr>
              <a:t>Consommation croissante sur 30 mois. Pic decembre +25% vs moyenne. Creux juillet -21%. Amplitude pic/creux : +55% soit 5 700 unites.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73752" y="1325880"/>
            <a:ext cx="4160520" cy="1536192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298448"/>
            <a:ext cx="4160520" cy="1536192"/>
          </a:xfrm>
          <a:prstGeom prst="rect">
            <a:avLst/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298448"/>
            <a:ext cx="4160520" cy="6400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42646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A7517"/>
                </a:solidFill>
              </a:rPr>
              <a:t>Effet weekend -22.9%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1773936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</a:rPr>
              <a:t>Reduction uniforme le samedi et dimanche. Semaine : 7.85 u/j. Weekend : 5.76 u/j. Feature est_weekend OBLIGATOIRE pour le modele ML.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" y="3017520"/>
            <a:ext cx="4160520" cy="1536192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90088"/>
            <a:ext cx="4160520" cy="1536192"/>
          </a:xfrm>
          <a:prstGeom prst="rect">
            <a:avLst/>
          </a:prstGeom>
          <a:solidFill>
            <a:srgbClr val="FCEBEB"/>
          </a:solidFill>
          <a:ln w="6350">
            <a:solidFill>
              <a:srgbClr val="E24B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90088"/>
            <a:ext cx="4160520" cy="6400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1181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4B4A"/>
                </a:solidFill>
              </a:rPr>
              <a:t>Fournisseurs : 38-40% ponctualite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465576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</a:rPr>
              <a:t>Aucun fournisseur n'atteint la cible de 90%. Retard moyen 2 jours. Pattern fixe et predictible. EuroPharma : 21 jours de delai contractuel.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73752" y="3017520"/>
            <a:ext cx="4160520" cy="1536192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990088"/>
            <a:ext cx="4160520" cy="1536192"/>
          </a:xfrm>
          <a:prstGeom prst="rect">
            <a:avLst/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2990088"/>
            <a:ext cx="4160520" cy="6400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31181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34AB7"/>
                </a:solidFill>
              </a:rPr>
              <a:t>57.3% budget sur 3 meds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83480" y="3465576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</a:rPr>
              <a:t>Insuline 21.6% (862k€) · Heparine 20.4% (812k€) · Erythropoietine 15.3% (610k€). Concentration du risque financier ET clinique.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503C"/>
          </a:solidFill>
          <a:ln w="12700">
            <a:solidFill>
              <a:srgbClr val="0F50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92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DataProjectLab  ·  Projet Sante HGU Cocody  ·  2024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92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503C"/>
          </a:solidFill>
          <a:ln w="12700">
            <a:solidFill>
              <a:srgbClr val="0F50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Saisonnalite &amp; Patterns temporels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2016252" cy="237744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20162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03C"/>
                </a:solidFill>
              </a:rPr>
              <a:t>NB2 · Heatmap · Prophet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342339"/>
            <a:ext cx="566928" cy="1784909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2004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</a:rPr>
              <a:t>Jan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141171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4B4A"/>
                </a:solidFill>
              </a:rPr>
              <a:t>122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124712" y="1444752"/>
            <a:ext cx="566928" cy="1682496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32004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</a:rPr>
              <a:t>Fev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24712" y="12435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4B4A"/>
                </a:solidFill>
              </a:rPr>
              <a:t>115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37944" y="1693469"/>
            <a:ext cx="566928" cy="1433779"/>
          </a:xfrm>
          <a:prstGeom prst="rect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32004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</a:rPr>
              <a:t>Mar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837944" y="1492301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7C459"/>
                </a:solidFill>
              </a:rPr>
              <a:t>98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551176" y="1751990"/>
            <a:ext cx="566928" cy="1375258"/>
          </a:xfrm>
          <a:prstGeom prst="rect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51176" y="32004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</a:rPr>
              <a:t>Avr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551176" y="155082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7C459"/>
                </a:solidFill>
              </a:rPr>
              <a:t>94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64408" y="1839773"/>
            <a:ext cx="566928" cy="1287475"/>
          </a:xfrm>
          <a:prstGeom prst="rect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32004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</a:rPr>
              <a:t>Mai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64408" y="1638605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7C459"/>
                </a:solidFill>
              </a:rPr>
              <a:t>88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977640" y="1927555"/>
            <a:ext cx="566928" cy="1199693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32004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</a:rPr>
              <a:t>Jun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977640" y="1726387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D9E75"/>
                </a:solidFill>
              </a:rPr>
              <a:t>82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90872" y="1971446"/>
            <a:ext cx="566928" cy="115580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90872" y="32004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</a:rPr>
              <a:t>Jul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90872" y="177027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D9E75"/>
                </a:solidFill>
              </a:rPr>
              <a:t>79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04104" y="1912925"/>
            <a:ext cx="566928" cy="1214323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04104" y="32004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</a:rPr>
              <a:t>Aou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04104" y="1711757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D9E75"/>
                </a:solidFill>
              </a:rPr>
              <a:t>83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17336" y="1781251"/>
            <a:ext cx="566928" cy="1345997"/>
          </a:xfrm>
          <a:prstGeom prst="rect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17336" y="32004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</a:rPr>
              <a:t>Sep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17336" y="1580083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7C459"/>
                </a:solidFill>
              </a:rPr>
              <a:t>92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830568" y="1664208"/>
            <a:ext cx="566928" cy="1463040"/>
          </a:xfrm>
          <a:prstGeom prst="rect">
            <a:avLst/>
          </a:prstGeom>
          <a:solidFill>
            <a:srgbClr val="97C459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30568" y="32004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</a:rPr>
              <a:t>Oct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830568" y="146304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7C459"/>
                </a:solidFill>
              </a:rPr>
              <a:t>100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543800" y="1400861"/>
            <a:ext cx="566928" cy="1726387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43800" y="32004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</a:rPr>
              <a:t>Nov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543800" y="1199693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4B4A"/>
                </a:solidFill>
              </a:rPr>
              <a:t>118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257032" y="1298448"/>
            <a:ext cx="566928" cy="182880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57032" y="32004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780"/>
                </a:solidFill>
              </a:rPr>
              <a:t>Dec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257032" y="109728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4B4A"/>
                </a:solidFill>
              </a:rPr>
              <a:t>125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11480" y="1664208"/>
            <a:ext cx="8595360" cy="0"/>
          </a:xfrm>
          <a:prstGeom prst="line">
            <a:avLst/>
          </a:prstGeom>
          <a:noFill/>
          <a:ln w="12700">
            <a:solidFill>
              <a:srgbClr val="888780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8915400" y="15544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780"/>
                </a:solidFill>
              </a:rPr>
              <a:t>Moy.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" y="3493008"/>
            <a:ext cx="269748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57200" y="3493008"/>
            <a:ext cx="269748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" y="3584448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</a:rPr>
              <a:t>Tendance Prophet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66928" y="385876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A"/>
                </a:solidFill>
              </a:rPr>
              <a:t>+1.8%/mois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66928" y="4224528"/>
            <a:ext cx="2478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</a:rPr>
              <a:t>Insuline: 18.7 → 24.3 u/j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</a:rPr>
              <a:t>sur 30 mois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337560" y="3493008"/>
            <a:ext cx="269748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337560" y="3493008"/>
            <a:ext cx="2697480" cy="5486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47288" y="3584448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A7517"/>
                </a:solidFill>
              </a:rPr>
              <a:t>Saisonnalite hebdo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447288" y="385876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A"/>
                </a:solidFill>
              </a:rPr>
              <a:t>Sam/Dim: -4.2 u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3447288" y="4224528"/>
            <a:ext cx="2478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</a:rPr>
              <a:t>Lun-Ven: +1.5 a +2.0 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</a:rPr>
              <a:t>Effect weekend confirme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17920" y="3493008"/>
            <a:ext cx="269748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217920" y="3493008"/>
            <a:ext cx="2697480" cy="5486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27648" y="3584448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4B4A"/>
                </a:solidFill>
              </a:rPr>
              <a:t>Saisonnalite annuelle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327648" y="385876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A"/>
                </a:solidFill>
              </a:rPr>
              <a:t>Jan+6 / Jul-5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6327648" y="4224528"/>
            <a:ext cx="2478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</a:rPr>
              <a:t>Amplitude de 11 u/j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</a:rPr>
              <a:t>entre pic et creux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503C"/>
          </a:solidFill>
          <a:ln w="12700">
            <a:solidFill>
              <a:srgbClr val="0F503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" y="4892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DataProjectLab  ·  Projet Sante HGU Cocody  ·  2024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229600" y="4892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503C"/>
          </a:solidFill>
          <a:ln w="12700">
            <a:solidFill>
              <a:srgbClr val="0F50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Modelisation Machine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2482596" cy="237744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24825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03C"/>
                </a:solidFill>
              </a:rPr>
              <a:t>NB3 · Random Forest · Prophet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solidFill>
            <a:srgbClr val="0F503C"/>
          </a:solidFill>
          <a:ln w="12700">
            <a:solidFill>
              <a:srgbClr val="0F50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98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Medicament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0" y="1298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MAE (u/j)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06240" y="1298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MAPE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0" y="1298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R²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1298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Impact financier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627632"/>
            <a:ext cx="8229600" cy="365760"/>
          </a:xfrm>
          <a:prstGeom prst="rect">
            <a:avLst/>
          </a:prstGeom>
          <a:solidFill>
            <a:srgbClr val="F5F8F6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6276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4B4A"/>
                </a:solidFill>
              </a:rPr>
              <a:t>Insuline Glargine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16276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2.62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06240" y="16276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11.6%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0" y="16276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0.600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16276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118 €/jour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</a:rPr>
              <a:t>Paracetamol 1g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5.56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0624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6.8%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0.829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4 €/jour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395728"/>
            <a:ext cx="8229600" cy="365760"/>
          </a:xfrm>
          <a:prstGeom prst="rect">
            <a:avLst/>
          </a:prstGeom>
          <a:solidFill>
            <a:srgbClr val="F5F8F6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3957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</a:rPr>
              <a:t>Ceftriaxone 1g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60320" y="23957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2.02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06240" y="23957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8.9%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03520" y="23957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0.742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23957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24 €/jour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2834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03C"/>
                </a:solidFill>
              </a:rPr>
              <a:t>Top features — Random Forest (MED008 Insuline)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31272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</a:rPr>
              <a:t>rolling_mean_7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920240" y="3191256"/>
            <a:ext cx="2926080" cy="12801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1272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</a:rPr>
              <a:t>14%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34015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</a:rPr>
              <a:t>lag_7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920240" y="3465576"/>
            <a:ext cx="2821577" cy="12801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87537" y="34015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</a:rPr>
              <a:t>13.5%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36758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</a:rPr>
              <a:t>rolling_mean_14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920240" y="3739896"/>
            <a:ext cx="2257262" cy="12801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23222" y="36758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</a:rPr>
              <a:t>10.8%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39502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</a:rPr>
              <a:t>lag_14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920240" y="4014216"/>
            <a:ext cx="1713847" cy="128016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79807" y="395020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8ADD"/>
                </a:solidFill>
              </a:rPr>
              <a:t>8.2%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4224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</a:rPr>
              <a:t>est_weekend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920240" y="4288536"/>
            <a:ext cx="856923" cy="128016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22883" y="42245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A7517"/>
                </a:solidFill>
              </a:rPr>
              <a:t>4.1%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44988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</a:rPr>
              <a:t>mois_sin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920240" y="4562856"/>
            <a:ext cx="794222" cy="128016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60182" y="44988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A7517"/>
                </a:solidFill>
              </a:rPr>
              <a:t>3.8%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102352" y="2770632"/>
            <a:ext cx="3977640" cy="2084832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74920" y="2743200"/>
            <a:ext cx="3977640" cy="2084832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074920" y="2743200"/>
            <a:ext cx="54864" cy="20848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12080" y="285292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</a:rPr>
              <a:t>Strategie de validation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212080" y="3154680"/>
            <a:ext cx="3794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</a:rPr>
              <a:t>Validation TEMPORELLE obligatoire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</a:rPr>
              <a:t>Train : jan 2022 → dec 2023 (702 j)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</a:rPr>
              <a:t>Test  : jan → jun 2024 (182 j)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</a:rPr>
              <a:t>Ratio 79/21% — 2 cycles saisonniers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</a:rPr>
              <a:t>Jamais de train_test_split aleatoire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</a:rPr>
              <a:t>sur des series temporelles !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503C"/>
          </a:solidFill>
          <a:ln w="12700">
            <a:solidFill>
              <a:srgbClr val="0F50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4892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DataProjectLab  ·  Projet Sante HGU Cocody  ·  2024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229600" y="4892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503C"/>
          </a:solidFill>
          <a:ln w="12700">
            <a:solidFill>
              <a:srgbClr val="0F50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Stock de securite &amp; Alertes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2327148" cy="237744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23271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03C"/>
                </a:solidFill>
              </a:rPr>
              <a:t>NB3 · Formule Z · ROP · EOQ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8229600" cy="621792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71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</a:rPr>
              <a:t>Formule 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13716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A"/>
                </a:solidFill>
              </a:rPr>
              <a:t>Stock securite = Z × σ_demande × √(delai)    avec Z = 1.65 → niveau service 95%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solidFill>
            <a:srgbClr val="0F503C"/>
          </a:solidFill>
          <a:ln w="12700">
            <a:solidFill>
              <a:srgbClr val="0F50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Medicament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8036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Stock actuel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6052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ROP calcule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5780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Ecart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09360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Statut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8229600" cy="320040"/>
          </a:xfrm>
          <a:prstGeom prst="rect">
            <a:avLst/>
          </a:prstGeom>
          <a:solidFill>
            <a:srgbClr val="F5F8F6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Salbutamol 100µg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8036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10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6052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29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5780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4B4A"/>
                </a:solidFill>
              </a:rPr>
              <a:t>+190%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2386584"/>
            <a:ext cx="1920240" cy="21031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386584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RUPTURE IMMINENTE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670048"/>
            <a:ext cx="8229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670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Insuline Glargine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80360" y="2670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60520" y="2670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19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57800" y="2670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4B4A"/>
                </a:solidFill>
              </a:rPr>
              <a:t>+137%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2724912"/>
            <a:ext cx="1920240" cy="21031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2724912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RUPTURE IMMINENTE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3008376"/>
            <a:ext cx="8229600" cy="320040"/>
          </a:xfrm>
          <a:prstGeom prst="rect">
            <a:avLst/>
          </a:prstGeom>
          <a:solidFill>
            <a:srgbClr val="F5F8F6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0083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Heparine 5000UI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80360" y="30083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60520" y="30083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14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57800" y="30083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4B4A"/>
                </a:solidFill>
              </a:rPr>
              <a:t>+100%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09360" y="3063240"/>
            <a:ext cx="1920240" cy="21031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306324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RUPTURE IMMINENTE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3346704"/>
            <a:ext cx="8229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3467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Morphine 10mg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880360" y="33467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60520" y="33467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9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57800" y="33467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4B4A"/>
                </a:solidFill>
              </a:rPr>
              <a:t>+80%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09360" y="3401568"/>
            <a:ext cx="1920240" cy="21031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3401568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RUPTURE IMMINENTE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7200" y="3685032"/>
            <a:ext cx="8229600" cy="320040"/>
          </a:xfrm>
          <a:prstGeom prst="rect">
            <a:avLst/>
          </a:prstGeom>
          <a:solidFill>
            <a:srgbClr val="F5F8F6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3685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Erythropoietine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880360" y="3685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160520" y="3685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7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257800" y="3685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4B4A"/>
                </a:solidFill>
              </a:rPr>
              <a:t>+75%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09360" y="3739896"/>
            <a:ext cx="1920240" cy="21031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3739896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RUPTURE IMMINENTE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4023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Dexamethasone 4mg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880360" y="4023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8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160520" y="4023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9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257800" y="4023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A7517"/>
                </a:solidFill>
              </a:rPr>
              <a:t>+13%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309360" y="4078224"/>
            <a:ext cx="1920240" cy="21031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4078224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LEGEREMENT BAS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57200" y="4370832"/>
            <a:ext cx="3977640" cy="475488"/>
          </a:xfrm>
          <a:prstGeom prst="rect">
            <a:avLst/>
          </a:prstGeom>
          <a:solidFill>
            <a:srgbClr val="FCEBEB"/>
          </a:solidFill>
          <a:ln w="6350">
            <a:solidFill>
              <a:srgbClr val="E24B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4360" y="437083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4B4A"/>
                </a:solidFill>
              </a:rPr>
              <a:t>9 medicaments avec stock de securite sous-dimensionne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07992" y="4370832"/>
            <a:ext cx="4178808" cy="475488"/>
          </a:xfrm>
          <a:prstGeom prst="rect">
            <a:avLst/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45152" y="437083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</a:rPr>
              <a:t>11 medicaments au niveau de stock satisfaisant (OK)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503C"/>
          </a:solidFill>
          <a:ln w="12700">
            <a:solidFill>
              <a:srgbClr val="0F503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" y="4892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DataProjectLab  ·  Projet Sante HGU Cocody  ·  2024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229600" y="4892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503C"/>
          </a:solidFill>
          <a:ln w="12700">
            <a:solidFill>
              <a:srgbClr val="0F50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Previsions 4 semaines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2016252" cy="237744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20162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03C"/>
                </a:solidFill>
              </a:rPr>
              <a:t>NB3 · Livrable Power BI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8229600" cy="34747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984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previsions_4semaines.csv  ·  80 lignes  ·  20 medicaments × 4 semaines  ·  Intervalles de confiance 80%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solidFill>
            <a:srgbClr val="0F503C"/>
          </a:solidFill>
          <a:ln w="12700">
            <a:solidFill>
              <a:srgbClr val="0F50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37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Medicament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0" y="1737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S+1 (u/sem)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0" y="1737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Borne -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0" y="1737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Borne +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92240" y="1737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Statut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57400"/>
            <a:ext cx="8229600" cy="329184"/>
          </a:xfrm>
          <a:prstGeom prst="rect">
            <a:avLst/>
          </a:prstGeom>
          <a:solidFill>
            <a:srgbClr val="F5F8F6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057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Amoxicilline 500mg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2057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140.5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06240" y="2057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122.9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0" y="20574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159.3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92240" y="2121408"/>
            <a:ext cx="1371600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1214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Stock OK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404872"/>
            <a:ext cx="8229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4048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Paracetamol 1g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0" y="24048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459.7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06240" y="24048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416.6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03520" y="24048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505.5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92240" y="2468880"/>
            <a:ext cx="1371600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4688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Stock OK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2752344"/>
            <a:ext cx="8229600" cy="329184"/>
          </a:xfrm>
          <a:prstGeom prst="rect">
            <a:avLst/>
          </a:prstGeom>
          <a:solidFill>
            <a:srgbClr val="F5F8F6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75234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Insuline Glargine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0" y="275234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73.5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06240" y="275234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62.1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275234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88.4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92240" y="2816352"/>
            <a:ext cx="1371600" cy="20116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28163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RUPTURE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3099816"/>
            <a:ext cx="8229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0998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Heparine 5000UI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0" y="30998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56.7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06240" y="30998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48.2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03520" y="30998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65.8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92240" y="3163824"/>
            <a:ext cx="1371600" cy="20116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31638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RUPTURE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" y="3447288"/>
            <a:ext cx="8229600" cy="329184"/>
          </a:xfrm>
          <a:prstGeom prst="rect">
            <a:avLst/>
          </a:prstGeom>
          <a:solidFill>
            <a:srgbClr val="F5F8F6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34472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Salbutamol 100µg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743200" y="34472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70.0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206240" y="34472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61.5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303520" y="34472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80.2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92240" y="3511296"/>
            <a:ext cx="1371600" cy="20116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0" y="3511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RUPTURE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57200" y="3794760"/>
            <a:ext cx="8229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37947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Metformine 850mg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743200" y="37947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135.1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206240" y="37947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122.3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303520" y="37947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148.6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492240" y="3858768"/>
            <a:ext cx="1371600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92240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Stock OK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57200" y="4206240"/>
            <a:ext cx="8229600" cy="621792"/>
          </a:xfrm>
          <a:prstGeom prst="rect">
            <a:avLst/>
          </a:prstGeom>
          <a:solidFill>
            <a:srgbClr val="FAEEDA"/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4360" y="42519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</a:rPr>
              <a:t>Methode : prediction iterative — chaque prevision devient un lag pour la suivante. S+1 = plus fiable. S+4 = moins precise (21 jours de predictions cumulees).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503C"/>
          </a:solidFill>
          <a:ln w="12700">
            <a:solidFill>
              <a:srgbClr val="0F503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4892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DataProjectLab  ·  Projet Sante HGU Cocody  ·  2024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229600" y="4892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503C"/>
          </a:solidFill>
          <a:ln w="12700">
            <a:solidFill>
              <a:srgbClr val="0F50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Dashboard Power BI — 4 pages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938528" cy="237744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03C"/>
                </a:solidFill>
              </a:rPr>
              <a:t>NB4 · DAX · 14 mesures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84632" y="1325880"/>
            <a:ext cx="4160520" cy="1627632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98448"/>
            <a:ext cx="416052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98448"/>
            <a:ext cx="416052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408176"/>
            <a:ext cx="329184" cy="329184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408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7552" y="14356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</a:rPr>
              <a:t>Page 1 · Vue executive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182880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</a:rPr>
              <a:t>→  4 KPIs : cout total, ruptures, patients, taux livraison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08483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</a:rPr>
              <a:t>→  Courbe evolution mensuelle + tendance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234086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</a:rPr>
              <a:t>→  Top 8 medicaments (rouge=critique, bleu=non critique)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259689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</a:rPr>
              <a:t>→  Repartition categories therapeutiques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73752" y="1325880"/>
            <a:ext cx="4160520" cy="1627632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298448"/>
            <a:ext cx="416052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298448"/>
            <a:ext cx="4160520" cy="6400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56048" y="1408176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1408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76672" y="14356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34AB7"/>
                </a:solidFill>
              </a:rPr>
              <a:t>Page 2 · Consommation services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182880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</a:rPr>
              <a:t>→  Barres empilees evolution mensuelle par service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83480" y="208483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</a:rPr>
              <a:t>→  Treemap poids relatif : Reanimation 30.4%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83480" y="234086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</a:rPr>
              <a:t>→  Heatmap matrice services × medicaments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83480" y="259689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</a:rPr>
              <a:t>→  Tableau detaille filtrable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" y="3108960"/>
            <a:ext cx="4160520" cy="1627632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081528"/>
            <a:ext cx="416052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081528"/>
            <a:ext cx="4160520" cy="6400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3191256"/>
            <a:ext cx="329184" cy="329184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191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7552" y="32186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7517"/>
                </a:solidFill>
              </a:rPr>
              <a:t>Page 3 · Fournisseurs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" y="361188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</a:rPr>
              <a:t>→  Jauge taux livraison : 37-40% (rouge, cible 90%)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94360" y="386791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</a:rPr>
              <a:t>→  Retard moyen : 2 jours pour tous les fournisseurs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94360" y="412394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</a:rPr>
              <a:t>→  Scatter ponctualite vs delai (axe Y force 0-100%)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94360" y="437997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</a:rPr>
              <a:t>→  Timeline commandes livrees mensuelle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73752" y="3108960"/>
            <a:ext cx="4160520" cy="1627632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3081528"/>
            <a:ext cx="416052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3081528"/>
            <a:ext cx="4160520" cy="6400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56048" y="3191256"/>
            <a:ext cx="329184" cy="329184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56048" y="3191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376672" y="32186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</a:rPr>
              <a:t>Page 4 · Previsions &amp; Alertes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83480" y="361188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</a:rPr>
              <a:t>→  Tableau alertes : 3 RUPTURE IMMINENTE en rouge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983480" y="386791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</a:rPr>
              <a:t>→  Historique + previsions RF + IC 80%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983480" y="412394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</a:rPr>
              <a:t>→  Commandes urgentes par fournisseur (EOQ)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983480" y="437997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</a:rPr>
              <a:t>→  3 KPIs : ruptures · a commander · stock OK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503C"/>
          </a:solidFill>
          <a:ln w="12700">
            <a:solidFill>
              <a:srgbClr val="0F503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892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DataProjectLab  ·  Projet Sante HGU Cocody  ·  2024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229600" y="4892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503C"/>
          </a:solidFill>
          <a:ln w="12700">
            <a:solidFill>
              <a:srgbClr val="0F50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Architecture DAX — 14 mesures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783080" cy="237744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503C"/>
                </a:solidFill>
              </a:rPr>
              <a:t>NB4 · Table _Mesures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206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98448"/>
            <a:ext cx="45720" cy="42062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3167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</a:rPr>
              <a:t>[Total Unites Consommees]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362456"/>
            <a:ext cx="1325880" cy="1828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36245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Base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66928" y="151790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</a:rPr>
              <a:t>SUM des quantites · filtre contextuel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28032" y="1298448"/>
            <a:ext cx="4206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28032" y="1298448"/>
            <a:ext cx="45720" cy="42062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3167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</a:rPr>
              <a:t>[Cout Total Consommation]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571232" y="1362456"/>
            <a:ext cx="1325880" cy="1828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71232" y="136245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Base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937760" y="151790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</a:rPr>
              <a:t>SUM du cout · ~3.99 M€ sur 30 mois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1755648"/>
            <a:ext cx="4206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755648"/>
            <a:ext cx="45720" cy="42062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17739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</a:rPr>
              <a:t>[Nb Jours Rupture]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0" y="1819656"/>
            <a:ext cx="1325880" cy="1828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181965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Base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66928" y="197510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</a:rPr>
              <a:t>SUMX ruptures hors impact mineur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28032" y="1755648"/>
            <a:ext cx="4206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28032" y="1755648"/>
            <a:ext cx="45720" cy="42062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7739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</a:rPr>
              <a:t>[Patients Affectes Total]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571232" y="1819656"/>
            <a:ext cx="1325880" cy="1828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71232" y="181965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Base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937760" y="197510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</a:rPr>
              <a:t>SUM patients · KPI clinique prioritaire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2212848"/>
            <a:ext cx="4206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2212848"/>
            <a:ext cx="45720" cy="42062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22311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</a:rPr>
              <a:t>[Taux Livraison a Temps]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0" y="2276856"/>
            <a:ext cx="1325880" cy="1828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0" y="227685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Base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66928" y="243230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</a:rPr>
              <a:t>DIVIDE livrees a temps / total livrees · 38.4%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28032" y="2212848"/>
            <a:ext cx="4206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28032" y="2212848"/>
            <a:ext cx="45720" cy="42062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22311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9E75"/>
                </a:solidFill>
              </a:rPr>
              <a:t>[Retard Moyen Jours]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571232" y="2276856"/>
            <a:ext cx="1325880" cy="1828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71232" y="227685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Base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937760" y="243230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</a:rPr>
              <a:t>AVERAGEX sur retard &gt; 0 uniquement · 2j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57200" y="2670048"/>
            <a:ext cx="4206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2670048"/>
            <a:ext cx="45720" cy="42062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" y="26883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4AB7"/>
                </a:solidFill>
              </a:rPr>
              <a:t>[Consommation Mois Prec.]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0" y="2734056"/>
            <a:ext cx="1325880" cy="1828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0" y="273405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Avancee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66928" y="288950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</a:rPr>
              <a:t>CALCULATE + PREVIOUSMONTH(Calendrier)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828032" y="2670048"/>
            <a:ext cx="4206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28032" y="2670048"/>
            <a:ext cx="45720" cy="42062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0" y="26883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4AB7"/>
                </a:solidFill>
              </a:rPr>
              <a:t>[Variation Mensuelle Pct]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571232" y="2734056"/>
            <a:ext cx="1325880" cy="1828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1232" y="273405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Avancee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937760" y="288950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</a:rPr>
              <a:t>DIVIDE vs mois precedent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57200" y="3127248"/>
            <a:ext cx="4206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" y="3127248"/>
            <a:ext cx="45720" cy="42062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6928" y="31455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4AB7"/>
                </a:solidFill>
              </a:rPr>
              <a:t>[Cout Ruptures Estime]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200400" y="3191256"/>
            <a:ext cx="1325880" cy="1828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0" y="319125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Avancee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566928" y="334670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</a:rPr>
              <a:t>SUMX patients × jours × 50€ · ~250k€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828032" y="3127248"/>
            <a:ext cx="4206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28032" y="3127248"/>
            <a:ext cx="45720" cy="42062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37760" y="31455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4AB7"/>
                </a:solidFill>
              </a:rPr>
              <a:t>[Prevision Semaine 1]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571232" y="3191256"/>
            <a:ext cx="1325880" cy="1828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71232" y="319125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Avancee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4937760" y="334670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</a:rPr>
              <a:t>CALCULATE SUM semaine=1 · la plus fiable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57200" y="3584448"/>
            <a:ext cx="4206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7200" y="3584448"/>
            <a:ext cx="45720" cy="42062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6928" y="36027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8ADD"/>
                </a:solidFill>
              </a:rPr>
              <a:t>[ROP Recommande]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200400" y="3648456"/>
            <a:ext cx="1325880" cy="18288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00400" y="364845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NB3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66928" y="380390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</a:rPr>
              <a:t>MAX(stock_securite_optimise[ROP]) · depuis NB3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828032" y="3584448"/>
            <a:ext cx="4206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828032" y="3584448"/>
            <a:ext cx="45720" cy="42062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37760" y="36027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8ADD"/>
                </a:solidFill>
              </a:rPr>
              <a:t>[EOQ Recommande]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571232" y="3648456"/>
            <a:ext cx="1325880" cy="18288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571232" y="364845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NB3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4937760" y="380390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</a:rPr>
              <a:t>MAX(stock_securite_optimise[EOQ]) · depuis NB3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457200" y="4041648"/>
            <a:ext cx="4206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57200" y="4041648"/>
            <a:ext cx="45720" cy="42062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66928" y="40599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4B4A"/>
                </a:solidFill>
              </a:rPr>
              <a:t>[Nb Meds Alerte Rouge]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200400" y="4105656"/>
            <a:ext cx="1325880" cy="18288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200400" y="410565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Alerte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566928" y="426110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</a:rPr>
              <a:t>CALCULATE FILTER [Statut Stock]=RUPTURE · IF ISBLANK 0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828032" y="4041648"/>
            <a:ext cx="4206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828032" y="4041648"/>
            <a:ext cx="45720" cy="42062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937760" y="40599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4B4A"/>
                </a:solidFill>
              </a:rPr>
              <a:t>[Statut Stock]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7571232" y="4105656"/>
            <a:ext cx="1325880" cy="18288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571232" y="410565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Alerte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4937760" y="426110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780"/>
                </a:solidFill>
              </a:rPr>
              <a:t>VAR ROP → SWITCH TRUE() 4 niveaux d'alerte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503C"/>
          </a:solidFill>
          <a:ln w="12700">
            <a:solidFill>
              <a:srgbClr val="0F503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65760" y="4892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DataProjectLab  ·  Projet Sante HGU Cocody  ·  2024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8229600" y="4892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503C"/>
          </a:solidFill>
          <a:ln w="12700">
            <a:solidFill>
              <a:srgbClr val="0F50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Resultats &amp; Recommandations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84632" y="1033272"/>
            <a:ext cx="1901952" cy="1207008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1901952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1901952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9E75"/>
                </a:solidFill>
              </a:rPr>
              <a:t>11.6%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A"/>
                </a:solidFill>
              </a:rPr>
              <a:t>MAPE max Insuline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810512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780"/>
                </a:solidFill>
              </a:rPr>
              <a:t>Objectif &lt; 20%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8780"/>
                </a:solidFill>
              </a:rPr>
              <a:t>atteint sur tous les meds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69464" y="1033272"/>
            <a:ext cx="1901952" cy="1207008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42032" y="1005840"/>
            <a:ext cx="1901952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42032" y="1005840"/>
            <a:ext cx="1901952" cy="6400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111556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24B4A"/>
                </a:solidFill>
              </a:rPr>
              <a:t>9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42032" y="1572768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A"/>
                </a:solidFill>
              </a:rPr>
              <a:t>Alertes stock detectees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42032" y="1810512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780"/>
                </a:solidFill>
              </a:rPr>
              <a:t>dont 3 RUPTURES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8780"/>
                </a:solidFill>
              </a:rPr>
              <a:t>Imminentes urgentes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54296" y="1033272"/>
            <a:ext cx="1901952" cy="1207008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6864" y="1005840"/>
            <a:ext cx="1901952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26864" y="1005840"/>
            <a:ext cx="1901952" cy="6400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111556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A7517"/>
                </a:solidFill>
              </a:rPr>
              <a:t>~485k€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626864" y="1572768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A"/>
                </a:solidFill>
              </a:rPr>
              <a:t>Commandes urgentes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26864" y="1810512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780"/>
                </a:solidFill>
              </a:rPr>
              <a:t>Calculees via EOQ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8780"/>
                </a:solidFill>
              </a:rPr>
              <a:t>pour 9 medicaments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739128" y="1033272"/>
            <a:ext cx="1901952" cy="1207008"/>
          </a:xfrm>
          <a:prstGeom prst="rect">
            <a:avLst/>
          </a:prstGeom>
          <a:solidFill>
            <a:srgbClr val="C3D7D0"/>
          </a:solidFill>
          <a:ln w="12700">
            <a:solidFill>
              <a:srgbClr val="C3D7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11696" y="1005840"/>
            <a:ext cx="1901952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11696" y="1005840"/>
            <a:ext cx="1901952" cy="6400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11696" y="111556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34AB7"/>
                </a:solidFill>
              </a:rPr>
              <a:t>38.4%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711696" y="1572768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2C2A"/>
                </a:solidFill>
              </a:rPr>
              <a:t>Ponctualite fournisseurs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11696" y="1810512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780"/>
                </a:solidFill>
              </a:rPr>
              <a:t>Cible 90% · Retard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8780"/>
                </a:solidFill>
              </a:rPr>
              <a:t>moyen 2 jours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2359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03C"/>
                </a:solidFill>
              </a:rPr>
              <a:t>3 recommandations prioritaires pour le Dr. Konan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2697480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2825496"/>
            <a:ext cx="329184" cy="329184"/>
          </a:xfrm>
          <a:prstGeom prst="ellipse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2825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0120" y="27523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4B4A"/>
                </a:solidFill>
              </a:rPr>
              <a:t>Commander immediatement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0120" y="299008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</a:rPr>
              <a:t>Insuline (stock 8 → ROP 124) · Heparine (7 → 54) · Salbutamol (10 → 239). Passer commande aujourd'hui, independamment des previsions.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383280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02920" y="3511296"/>
            <a:ext cx="329184" cy="329184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511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60120" y="34381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</a:rPr>
              <a:t>Reviser les stocks de securite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60120" y="367588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</a:rPr>
              <a:t>9 medicaments sous-dimensionnes. Utiliser la formule Z=1.65 × σ × √(delai). Integrer les retards reels des fournisseurs (2j) et non les delais contractuels.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02920" y="4197096"/>
            <a:ext cx="329184" cy="329184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197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60120" y="41239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</a:rPr>
              <a:t>Automatiser les commandes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60120" y="436168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</a:rPr>
              <a:t>Ouvrir le dashboard chaque lundi matin. Consulter la Page 4 Previsions. Passer commande via EOQ des que Statut Stock = COMMANDER ou RUPTURE.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503C"/>
          </a:solidFill>
          <a:ln w="12700">
            <a:solidFill>
              <a:srgbClr val="0F50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892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DataProjectLab  ·  Projet Sante HGU Cocody  ·  2024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29600" y="4892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50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0D4030"/>
          </a:solidFill>
          <a:ln w="12700">
            <a:solidFill>
              <a:srgbClr val="0D4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274320"/>
            <a:ext cx="2743200" cy="2743200"/>
          </a:xfrm>
          <a:prstGeom prst="ellipse">
            <a:avLst/>
          </a:prstGeom>
          <a:solidFill>
            <a:srgbClr val="1D9E75">
              <a:alpha val="20000"/>
            </a:srgbClr>
          </a:solidFill>
          <a:ln w="12700">
            <a:solidFill>
              <a:srgbClr val="1D9E7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0D4030"/>
          </a:solidFill>
          <a:ln w="12700">
            <a:solidFill>
              <a:srgbClr val="0D40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E1CB"/>
                </a:solidFill>
              </a:rPr>
              <a:t>Ce que ce projet change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pour le Dr. Konan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8780"/>
                </a:solidFill>
              </a:rPr>
              <a:t>Avant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6002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9E75"/>
                </a:solidFill>
              </a:rPr>
              <a:t>Apres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657600" cy="512064"/>
          </a:xfrm>
          <a:prstGeom prst="rect">
            <a:avLst/>
          </a:prstGeom>
          <a:solidFill>
            <a:srgbClr val="083828"/>
          </a:solidFill>
          <a:ln w="6350">
            <a:solidFill>
              <a:srgbClr val="0D40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2103120"/>
            <a:ext cx="457200" cy="14630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201168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4B4A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920240"/>
            <a:ext cx="3977640" cy="512064"/>
          </a:xfrm>
          <a:prstGeom prst="rect">
            <a:avLst/>
          </a:prstGeom>
          <a:solidFill>
            <a:srgbClr val="E24B4A">
              <a:alpha val="15000"/>
            </a:srgbClr>
          </a:solidFill>
          <a:ln w="6350">
            <a:solidFill>
              <a:srgbClr val="E24B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92024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E1CB"/>
                </a:solidFill>
              </a:rPr>
              <a:t>7 ruptures critiques sans explication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73168" y="192024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Prevision automatique chaque lundi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42032"/>
            <a:ext cx="3657600" cy="512064"/>
          </a:xfrm>
          <a:prstGeom prst="rect">
            <a:avLst/>
          </a:prstGeom>
          <a:solidFill>
            <a:srgbClr val="083828"/>
          </a:solidFill>
          <a:ln w="6350">
            <a:solidFill>
              <a:srgbClr val="0D40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60520" y="2724912"/>
            <a:ext cx="457200" cy="14630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0520" y="263347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A7517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542032"/>
            <a:ext cx="3977640" cy="512064"/>
          </a:xfrm>
          <a:prstGeom prst="rect">
            <a:avLst/>
          </a:prstGeom>
          <a:solidFill>
            <a:srgbClr val="BA7517">
              <a:alpha val="15000"/>
            </a:srgbClr>
          </a:solidFill>
          <a:ln w="6350">
            <a:solidFill>
              <a:srgbClr val="BA75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542032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E1CB"/>
                </a:solidFill>
              </a:rPr>
              <a:t>85 000 € de medicaments perimes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73168" y="2542032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Commandes calibrees sur demande reelle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163824"/>
            <a:ext cx="3657600" cy="512064"/>
          </a:xfrm>
          <a:prstGeom prst="rect">
            <a:avLst/>
          </a:prstGeom>
          <a:solidFill>
            <a:srgbClr val="083828"/>
          </a:solidFill>
          <a:ln w="6350">
            <a:solidFill>
              <a:srgbClr val="0D40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60520" y="3346704"/>
            <a:ext cx="457200" cy="14630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325526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63440" y="3163824"/>
            <a:ext cx="3977640" cy="512064"/>
          </a:xfrm>
          <a:prstGeom prst="rect">
            <a:avLst/>
          </a:prstGeom>
          <a:solidFill>
            <a:srgbClr val="534AB7">
              <a:alpha val="15000"/>
            </a:srgbClr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163824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E1CB"/>
                </a:solidFill>
              </a:rPr>
              <a:t>38% de livraisons a temps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3168" y="3163824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Delais reels integres dans le stock securite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785616"/>
            <a:ext cx="3657600" cy="512064"/>
          </a:xfrm>
          <a:prstGeom prst="rect">
            <a:avLst/>
          </a:prstGeom>
          <a:solidFill>
            <a:srgbClr val="083828"/>
          </a:solidFill>
          <a:ln w="6350">
            <a:solidFill>
              <a:srgbClr val="0D403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60520" y="3968496"/>
            <a:ext cx="457200" cy="14630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0520" y="387705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9E75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663440" y="3785616"/>
            <a:ext cx="3977640" cy="512064"/>
          </a:xfrm>
          <a:prstGeom prst="rect">
            <a:avLst/>
          </a:prstGeom>
          <a:solidFill>
            <a:srgbClr val="1D9E75">
              <a:alpha val="15000"/>
            </a:srgbClr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78561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E1CB"/>
                </a:solidFill>
              </a:rPr>
              <a:t>Decisions reactives apres rupture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73168" y="378561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Alertes preventives avant rupture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462272"/>
            <a:ext cx="8229600" cy="38404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4622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DataProjectLab · Projet Sante · HGU Cocody · 2024  —  apprendre la data sur des cas concrets, structures et orientes metier.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DataProjectLab - Projet Sante HGU Cocody - Synthese</dc:title>
  <dc:subject>PptxGenJS Presentation</dc:subject>
  <dc:creator>PptxGenJS</dc:creator>
  <cp:lastModifiedBy>PptxGenJS</cp:lastModifiedBy>
  <cp:revision>1</cp:revision>
  <dcterms:created xsi:type="dcterms:W3CDTF">2026-04-12T02:00:03Z</dcterms:created>
  <dcterms:modified xsi:type="dcterms:W3CDTF">2026-04-12T02:00:03Z</dcterms:modified>
</cp:coreProperties>
</file>