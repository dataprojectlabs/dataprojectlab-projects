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4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5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</c:v>
                </c:pt>
              </c:strCache>
            </c:strRef>
          </c:tx>
          <c:spPr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Aou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310</c:v>
                </c:pt>
                <c:pt idx="1">
                  <c:v>295</c:v>
                </c:pt>
                <c:pt idx="2">
                  <c:v>340</c:v>
                </c:pt>
                <c:pt idx="3">
                  <c:v>365</c:v>
                </c:pt>
                <c:pt idx="4">
                  <c:v>320</c:v>
                </c:pt>
                <c:pt idx="5">
                  <c:v>295</c:v>
                </c:pt>
                <c:pt idx="6">
                  <c:v>280</c:v>
                </c:pt>
                <c:pt idx="7">
                  <c:v>310</c:v>
                </c:pt>
                <c:pt idx="8">
                  <c:v>345</c:v>
                </c:pt>
                <c:pt idx="9">
                  <c:v>380</c:v>
                </c:pt>
                <c:pt idx="10">
                  <c:v>410</c:v>
                </c:pt>
                <c:pt idx="11">
                  <c:v>425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6CE-403C-8CB9-2DBBF2B1E4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Categorie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62-43DD-AE3B-EDAE557D9640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62-43DD-AE3B-EDAE557D9640}"/>
              </c:ext>
            </c:extLst>
          </c:dPt>
          <c:dPt>
            <c:idx val="2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62-43DD-AE3B-EDAE557D9640}"/>
              </c:ext>
            </c:extLst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62-43DD-AE3B-EDAE557D9640}"/>
              </c:ext>
            </c:extLst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562-43DD-AE3B-EDAE557D9640}"/>
              </c:ext>
            </c:extLst>
          </c:dPt>
          <c:cat>
            <c:strRef>
              <c:f>Sheet1!$A$2:$A$6</c:f>
              <c:strCache>
                <c:ptCount val="5"/>
                <c:pt idx="0">
                  <c:v>Ordinateurs 28%</c:v>
                </c:pt>
                <c:pt idx="1">
                  <c:v>Smartphones 27%</c:v>
                </c:pt>
                <c:pt idx="2">
                  <c:v>Autres 22%</c:v>
                </c:pt>
                <c:pt idx="3">
                  <c:v>Tablettes 14%</c:v>
                </c:pt>
                <c:pt idx="4">
                  <c:v>Audio 8%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27</c:v>
                </c:pt>
                <c:pt idx="2">
                  <c:v>22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62-43DD-AE3B-EDAE557D9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232836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E8E8E8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Organic</c:v>
                </c:pt>
                <c:pt idx="1">
                  <c:v>Social Media</c:v>
                </c:pt>
                <c:pt idx="2">
                  <c:v>Paid Search</c:v>
                </c:pt>
                <c:pt idx="3">
                  <c:v>Direct</c:v>
                </c:pt>
                <c:pt idx="4">
                  <c:v>Email</c:v>
                </c:pt>
                <c:pt idx="5">
                  <c:v>Affiliate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1023</c:v>
                </c:pt>
                <c:pt idx="1">
                  <c:v>845</c:v>
                </c:pt>
                <c:pt idx="2">
                  <c:v>690</c:v>
                </c:pt>
                <c:pt idx="3">
                  <c:v>580</c:v>
                </c:pt>
                <c:pt idx="4">
                  <c:v>450</c:v>
                </c:pt>
                <c:pt idx="5">
                  <c:v>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3B-48C6-96AB-761D5D2C4E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Paiement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04C-4927-8144-A43875006145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4C-4927-8144-A43875006145}"/>
              </c:ext>
            </c:extLst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4C-4927-8144-A43875006145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4C-4927-8144-A43875006145}"/>
              </c:ext>
            </c:extLst>
          </c:dPt>
          <c:dPt>
            <c:idx val="4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04C-4927-8144-A43875006145}"/>
              </c:ext>
            </c:extLst>
          </c:dPt>
          <c:cat>
            <c:strRef>
              <c:f>Sheet1!$A$2:$A$6</c:f>
              <c:strCache>
                <c:ptCount val="5"/>
                <c:pt idx="0">
                  <c:v>Carte bancaire 35%</c:v>
                </c:pt>
                <c:pt idx="1">
                  <c:v>Mobile Money 28%</c:v>
                </c:pt>
                <c:pt idx="2">
                  <c:v>PayPal 18%</c:v>
                </c:pt>
                <c:pt idx="3">
                  <c:v>Virement 11%</c:v>
                </c:pt>
                <c:pt idx="4">
                  <c:v>Cash on Delivery 9%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11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04C-4927-8144-A43875006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232836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E8E8E8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iPhone 15 Pro</c:v>
                </c:pt>
                <c:pt idx="1">
                  <c:v>MacBook Air M3</c:v>
                </c:pt>
                <c:pt idx="2">
                  <c:v>Samsung S24</c:v>
                </c:pt>
                <c:pt idx="3">
                  <c:v>iPad Air</c:v>
                </c:pt>
                <c:pt idx="4">
                  <c:v>HP Pavilion</c:v>
                </c:pt>
                <c:pt idx="5">
                  <c:v>Dell Inspiron</c:v>
                </c:pt>
                <c:pt idx="6">
                  <c:v>Samsung Tab S9</c:v>
                </c:pt>
                <c:pt idx="7">
                  <c:v>GoPro Hero 12</c:v>
                </c:pt>
                <c:pt idx="8">
                  <c:v>Sony WH-1000XM5</c:v>
                </c:pt>
                <c:pt idx="9">
                  <c:v>Samsung Watch 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616</c:v>
                </c:pt>
                <c:pt idx="1">
                  <c:v>538</c:v>
                </c:pt>
                <c:pt idx="2">
                  <c:v>389</c:v>
                </c:pt>
                <c:pt idx="3">
                  <c:v>314</c:v>
                </c:pt>
                <c:pt idx="4">
                  <c:v>252</c:v>
                </c:pt>
                <c:pt idx="5">
                  <c:v>222</c:v>
                </c:pt>
                <c:pt idx="6">
                  <c:v>198</c:v>
                </c:pt>
                <c:pt idx="7">
                  <c:v>157</c:v>
                </c:pt>
                <c:pt idx="8">
                  <c:v>141</c:v>
                </c:pt>
                <c:pt idx="9">
                  <c:v>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D0-4C93-95E7-3816AB36ED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iPhone 15 Pro</c:v>
                </c:pt>
                <c:pt idx="1">
                  <c:v>MacBook Air M3</c:v>
                </c:pt>
                <c:pt idx="2">
                  <c:v>Samsung S24</c:v>
                </c:pt>
                <c:pt idx="3">
                  <c:v>iPad Air</c:v>
                </c:pt>
                <c:pt idx="4">
                  <c:v>HP Pavilion</c:v>
                </c:pt>
                <c:pt idx="5">
                  <c:v>Dell Inspiron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616</c:v>
                </c:pt>
                <c:pt idx="1">
                  <c:v>538</c:v>
                </c:pt>
                <c:pt idx="2">
                  <c:v>389</c:v>
                </c:pt>
                <c:pt idx="3">
                  <c:v>314</c:v>
                </c:pt>
                <c:pt idx="4">
                  <c:v>252</c:v>
                </c:pt>
                <c:pt idx="5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0-4FBE-BF0B-523DBCC594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iPhone 15 Pro</c:v>
                </c:pt>
                <c:pt idx="1">
                  <c:v>MacBook Air M3</c:v>
                </c:pt>
                <c:pt idx="2">
                  <c:v>Samsung S24</c:v>
                </c:pt>
                <c:pt idx="3">
                  <c:v>iPad Air</c:v>
                </c:pt>
                <c:pt idx="4">
                  <c:v>HP Pavilion</c:v>
                </c:pt>
                <c:pt idx="5">
                  <c:v>Dell Inspiron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271</c:v>
                </c:pt>
                <c:pt idx="1">
                  <c:v>229</c:v>
                </c:pt>
                <c:pt idx="2">
                  <c:v>170</c:v>
                </c:pt>
                <c:pt idx="3">
                  <c:v>141</c:v>
                </c:pt>
                <c:pt idx="4">
                  <c:v>120</c:v>
                </c:pt>
                <c:pt idx="5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20-4FBE-BF0B-523DBCC594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E8E8E8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4E-469A-839E-3C7319F00400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4E-469A-839E-3C7319F00400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4E-469A-839E-3C7319F00400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4E-469A-839E-3C7319F004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Premium</c:v>
                </c:pt>
                <c:pt idx="1">
                  <c:v>Standard</c:v>
                </c:pt>
                <c:pt idx="2">
                  <c:v>Occasionnel</c:v>
                </c:pt>
                <c:pt idx="3">
                  <c:v>Nouveau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702</c:v>
                </c:pt>
                <c:pt idx="1">
                  <c:v>1273</c:v>
                </c:pt>
                <c:pt idx="2">
                  <c:v>1329</c:v>
                </c:pt>
                <c:pt idx="3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4E-469A-839E-3C7319F004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Cmd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128-44BC-8C50-9BE6B1FCCAA1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28-44BC-8C50-9BE6B1FCCAA1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28-44BC-8C50-9BE6B1FCCAA1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128-44BC-8C50-9BE6B1FCCA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Premium</c:v>
                </c:pt>
                <c:pt idx="1">
                  <c:v>Standard</c:v>
                </c:pt>
                <c:pt idx="2">
                  <c:v>Occasionnel</c:v>
                </c:pt>
                <c:pt idx="3">
                  <c:v>Nouveau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538</c:v>
                </c:pt>
                <c:pt idx="1">
                  <c:v>980</c:v>
                </c:pt>
                <c:pt idx="2">
                  <c:v>1024</c:v>
                </c:pt>
                <c:pt idx="3">
                  <c:v>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128-44BC-8C50-9BE6B1FCCA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18A-4889-8CD0-8B9D883B4875}"/>
              </c:ext>
            </c:extLst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8A-4889-8CD0-8B9D883B4875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8A-4889-8CD0-8B9D883B4875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18A-4889-8CD0-8B9D883B4875}"/>
              </c:ext>
            </c:extLst>
          </c:dPt>
          <c:dPt>
            <c:idx val="4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18A-4889-8CD0-8B9D883B4875}"/>
              </c:ext>
            </c:extLst>
          </c:dPt>
          <c:dPt>
            <c:idx val="5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18A-4889-8CD0-8B9D883B4875}"/>
              </c:ext>
            </c:extLst>
          </c:dPt>
          <c:cat>
            <c:strRef>
              <c:f>Sheet1!$A$2:$A$7</c:f>
              <c:strCache>
                <c:ptCount val="6"/>
                <c:pt idx="0">
                  <c:v>Dormants 30%</c:v>
                </c:pt>
                <c:pt idx="1">
                  <c:v>Fidèles 27%</c:v>
                </c:pt>
                <c:pt idx="2">
                  <c:v>Champions 16%</c:v>
                </c:pt>
                <c:pt idx="3">
                  <c:v>À réactiver 13%</c:v>
                </c:pt>
                <c:pt idx="4">
                  <c:v>Nouv. prom. 9%</c:v>
                </c:pt>
                <c:pt idx="5">
                  <c:v>Gros dép. 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27</c:v>
                </c:pt>
                <c:pt idx="2">
                  <c:v>16</c:v>
                </c:pt>
                <c:pt idx="3">
                  <c:v>13</c:v>
                </c:pt>
                <c:pt idx="4">
                  <c:v>9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18A-4889-8CD0-8B9D883B4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232836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
              <a:solidFill>
                <a:srgbClr val="E8E8E8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141-4006-9E10-9D3520C88F20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41-4006-9E10-9D3520C88F20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41-4006-9E10-9D3520C88F20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41-4006-9E10-9D3520C88F20}"/>
              </c:ext>
            </c:extLst>
          </c:dPt>
          <c:dPt>
            <c:idx val="4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141-4006-9E10-9D3520C88F20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141-4006-9E10-9D3520C88F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Champions</c:v>
                </c:pt>
                <c:pt idx="1">
                  <c:v>Fidèles</c:v>
                </c:pt>
                <c:pt idx="2">
                  <c:v>Nouv. prom.</c:v>
                </c:pt>
                <c:pt idx="3">
                  <c:v>Gros dép.</c:v>
                </c:pt>
                <c:pt idx="4">
                  <c:v>Dormants</c:v>
                </c:pt>
                <c:pt idx="5">
                  <c:v>À réactiver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1468</c:v>
                </c:pt>
                <c:pt idx="1">
                  <c:v>1438</c:v>
                </c:pt>
                <c:pt idx="2">
                  <c:v>411</c:v>
                </c:pt>
                <c:pt idx="3">
                  <c:v>265</c:v>
                </c:pt>
                <c:pt idx="4">
                  <c:v>256</c:v>
                </c:pt>
                <c:pt idx="5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141-4006-9E10-9D3520C88F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Facebook</c:v>
                </c:pt>
                <c:pt idx="1">
                  <c:v>TikTok</c:v>
                </c:pt>
                <c:pt idx="2">
                  <c:v>Direct</c:v>
                </c:pt>
                <c:pt idx="3">
                  <c:v>Instagram</c:v>
                </c:pt>
                <c:pt idx="4">
                  <c:v>Email</c:v>
                </c:pt>
                <c:pt idx="5">
                  <c:v>Google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10.3</c:v>
                </c:pt>
                <c:pt idx="2">
                  <c:v>10.199999999999999</c:v>
                </c:pt>
                <c:pt idx="3">
                  <c:v>8.9</c:v>
                </c:pt>
                <c:pt idx="4">
                  <c:v>8.6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F7-4C5E-825C-B2CCC4C00F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32-4B73-B595-74535FDC2009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32-4B73-B595-74535FDC2009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32-4B73-B595-74535FDC20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Mobile</c:v>
                </c:pt>
                <c:pt idx="1">
                  <c:v>Desktop</c:v>
                </c:pt>
                <c:pt idx="2">
                  <c:v>Tablette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10.7</c:v>
                </c:pt>
                <c:pt idx="1">
                  <c:v>8.3000000000000007</c:v>
                </c:pt>
                <c:pt idx="2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932-4B73-B595-74535FDC20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Avis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5 ★</c:v>
                </c:pt>
                <c:pt idx="1">
                  <c:v>4 ★</c:v>
                </c:pt>
                <c:pt idx="2">
                  <c:v>3 ★</c:v>
                </c:pt>
                <c:pt idx="3">
                  <c:v>2 ★</c:v>
                </c:pt>
                <c:pt idx="4">
                  <c:v>1 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201</c:v>
                </c:pt>
                <c:pt idx="1">
                  <c:v>169</c:v>
                </c:pt>
                <c:pt idx="2">
                  <c:v>82</c:v>
                </c:pt>
                <c:pt idx="3">
                  <c:v>56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E5-4022-8949-1AEBCCEDFA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Note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Aou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3.9</c:v>
                </c:pt>
                <c:pt idx="2">
                  <c:v>3.8</c:v>
                </c:pt>
                <c:pt idx="3">
                  <c:v>3.9</c:v>
                </c:pt>
                <c:pt idx="4">
                  <c:v>3.8</c:v>
                </c:pt>
                <c:pt idx="5">
                  <c:v>3.7</c:v>
                </c:pt>
                <c:pt idx="6">
                  <c:v>3.8</c:v>
                </c:pt>
                <c:pt idx="7">
                  <c:v>3.7</c:v>
                </c:pt>
                <c:pt idx="8">
                  <c:v>3.8</c:v>
                </c:pt>
                <c:pt idx="9">
                  <c:v>3.9</c:v>
                </c:pt>
                <c:pt idx="10">
                  <c:v>3.8</c:v>
                </c:pt>
                <c:pt idx="11">
                  <c:v>3.7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AAB-4ACF-908D-174B16CBBC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F9F-49FC-BA35-DD9DC4961E6E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9F-49FC-BA35-DD9DC4961E6E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9F-49FC-BA35-DD9DC4961E6E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9F-49FC-BA35-DD9DC4961E6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Dell Inspiron 15</c:v>
                </c:pt>
                <c:pt idx="1">
                  <c:v>Sony WH-1000XM5</c:v>
                </c:pt>
                <c:pt idx="2">
                  <c:v>iPad Air</c:v>
                </c:pt>
                <c:pt idx="3">
                  <c:v>Samsung Tab S9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9F-49FC-BA35-DD9DC4961E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E8E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2328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8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61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60120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960120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659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9659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globale  ·  janv — déc 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201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9536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9828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0120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195560" y="201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1955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955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527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527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1099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099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5671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5671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65960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1627632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2103120" y="11704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13898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3,9M€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2103120" y="19019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-54,3% vs 2023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66744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66744" y="1051560"/>
            <a:ext cx="1627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3803904" y="11704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totale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03904" y="13898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1,8M€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3803904" y="19019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-54,2%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67528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367528" y="1051560"/>
            <a:ext cx="1627632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7" name="Text 55"/>
          <p:cNvSpPr/>
          <p:nvPr/>
        </p:nvSpPr>
        <p:spPr>
          <a:xfrm>
            <a:off x="5504688" y="11704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504688" y="13898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3 018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504688" y="19019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-52,8%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68312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068312" y="1051560"/>
            <a:ext cx="162763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11704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actifs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205472" y="13898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205472" y="19019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+0,0%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769096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769096" y="1051560"/>
            <a:ext cx="162763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8906256" y="11704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906256" y="13898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1 297€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8906256" y="19019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-3,1%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469880" y="1051560"/>
            <a:ext cx="1627632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0469880" y="1051560"/>
            <a:ext cx="1627632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5" name="Text 73"/>
          <p:cNvSpPr/>
          <p:nvPr/>
        </p:nvSpPr>
        <p:spPr>
          <a:xfrm>
            <a:off x="10607040" y="117043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0607040" y="13898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 ★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10607040" y="19019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-0,1 étoile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965960" y="2331720"/>
            <a:ext cx="6400800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103120" y="242316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CA  ·  2024</a:t>
            </a:r>
            <a:endParaRPr lang="en-US" sz="1000" dirty="0"/>
          </a:p>
        </p:txBody>
      </p:sp>
      <p:graphicFrame>
        <p:nvGraphicFramePr>
          <p:cNvPr id="81" name="Chart 0"/>
          <p:cNvGraphicFramePr/>
          <p:nvPr/>
        </p:nvGraphicFramePr>
        <p:xfrm>
          <a:off x="2103120" y="2697480"/>
          <a:ext cx="6126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2" name="Shape 79"/>
          <p:cNvSpPr/>
          <p:nvPr/>
        </p:nvSpPr>
        <p:spPr>
          <a:xfrm>
            <a:off x="8503920" y="233172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3" name="Text 80"/>
          <p:cNvSpPr/>
          <p:nvPr/>
        </p:nvSpPr>
        <p:spPr>
          <a:xfrm>
            <a:off x="8641080" y="2423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catégorie  ·  2024</a:t>
            </a:r>
            <a:endParaRPr lang="en-US" sz="1000" dirty="0"/>
          </a:p>
        </p:txBody>
      </p:sp>
      <p:graphicFrame>
        <p:nvGraphicFramePr>
          <p:cNvPr id="84" name="Chart 1"/>
          <p:cNvGraphicFramePr/>
          <p:nvPr/>
        </p:nvGraphicFramePr>
        <p:xfrm>
          <a:off x="8595360" y="2651760"/>
          <a:ext cx="35204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5" name="Shape 81"/>
          <p:cNvSpPr/>
          <p:nvPr/>
        </p:nvSpPr>
        <p:spPr>
          <a:xfrm>
            <a:off x="1965960" y="461772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6" name="Text 82"/>
          <p:cNvSpPr/>
          <p:nvPr/>
        </p:nvSpPr>
        <p:spPr>
          <a:xfrm>
            <a:off x="2103120" y="4709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canal de vente</a:t>
            </a:r>
            <a:endParaRPr lang="en-US" sz="1000" dirty="0"/>
          </a:p>
        </p:txBody>
      </p:sp>
      <p:graphicFrame>
        <p:nvGraphicFramePr>
          <p:cNvPr id="87" name="Chart 2"/>
          <p:cNvGraphicFramePr/>
          <p:nvPr/>
        </p:nvGraphicFramePr>
        <p:xfrm>
          <a:off x="2103120" y="4983480"/>
          <a:ext cx="47548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8" name="Shape 83"/>
          <p:cNvSpPr/>
          <p:nvPr/>
        </p:nvSpPr>
        <p:spPr>
          <a:xfrm>
            <a:off x="7178040" y="4617720"/>
            <a:ext cx="498348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9" name="Text 84"/>
          <p:cNvSpPr/>
          <p:nvPr/>
        </p:nvSpPr>
        <p:spPr>
          <a:xfrm>
            <a:off x="7315200" y="470916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de paiement</a:t>
            </a:r>
            <a:endParaRPr lang="en-US" sz="1000" dirty="0"/>
          </a:p>
        </p:txBody>
      </p:sp>
      <p:graphicFrame>
        <p:nvGraphicFramePr>
          <p:cNvPr id="90" name="Chart 3"/>
          <p:cNvGraphicFramePr/>
          <p:nvPr/>
        </p:nvGraphicFramePr>
        <p:xfrm>
          <a:off x="7315200" y="4937760"/>
          <a:ext cx="47091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1444752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444752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659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9659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Rentabilité  ·  janv — déc 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201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9536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9828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0120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195560" y="201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1955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955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527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527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1099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099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5671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5671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65960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2103120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Qté vendue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12 443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2103120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48" name="Text 46"/>
          <p:cNvSpPr/>
          <p:nvPr/>
        </p:nvSpPr>
        <p:spPr>
          <a:xfrm>
            <a:off x="2103120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-53,2%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2856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62856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4700016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produits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0016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4M€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700016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54" name="Text 52"/>
          <p:cNvSpPr/>
          <p:nvPr/>
        </p:nvSpPr>
        <p:spPr>
          <a:xfrm>
            <a:off x="4700016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-54,3%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59752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59752" y="1051560"/>
            <a:ext cx="250545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7296912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produits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96912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2M€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7296912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60" name="Text 58"/>
          <p:cNvSpPr/>
          <p:nvPr/>
        </p:nvSpPr>
        <p:spPr>
          <a:xfrm>
            <a:off x="7296912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-54,2%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756648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756648" y="1051560"/>
            <a:ext cx="250545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9893808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actifs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893808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9893808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2A2A2A"/>
          </a:solidFill>
          <a:ln/>
        </p:spPr>
      </p:sp>
      <p:sp>
        <p:nvSpPr>
          <p:cNvPr id="66" name="Text 64"/>
          <p:cNvSpPr/>
          <p:nvPr/>
        </p:nvSpPr>
        <p:spPr>
          <a:xfrm>
            <a:off x="9893808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+0,0%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965960" y="233172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103120" y="2423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produits  ·  CA en k€</a:t>
            </a:r>
            <a:endParaRPr lang="en-US" sz="1000" dirty="0"/>
          </a:p>
        </p:txBody>
      </p:sp>
      <p:graphicFrame>
        <p:nvGraphicFramePr>
          <p:cNvPr id="69" name="Chart 0"/>
          <p:cNvGraphicFramePr/>
          <p:nvPr/>
        </p:nvGraphicFramePr>
        <p:xfrm>
          <a:off x="2103120" y="2697480"/>
          <a:ext cx="4754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" name="Shape 67"/>
          <p:cNvSpPr/>
          <p:nvPr/>
        </p:nvSpPr>
        <p:spPr>
          <a:xfrm>
            <a:off x="7178040" y="2331720"/>
            <a:ext cx="4983480" cy="2331720"/>
          </a:xfrm>
          <a:prstGeom prst="roundRect">
            <a:avLst>
              <a:gd name="adj" fmla="val 3137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7315200" y="242316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vs Marge par produit (k€)</a:t>
            </a:r>
            <a:endParaRPr lang="en-US" sz="1000" dirty="0"/>
          </a:p>
        </p:txBody>
      </p:sp>
      <p:graphicFrame>
        <p:nvGraphicFramePr>
          <p:cNvPr id="72" name="Chart 1"/>
          <p:cNvGraphicFramePr/>
          <p:nvPr/>
        </p:nvGraphicFramePr>
        <p:xfrm>
          <a:off x="7315200" y="2697480"/>
          <a:ext cx="4709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3" name="Shape 69"/>
          <p:cNvSpPr/>
          <p:nvPr/>
        </p:nvSpPr>
        <p:spPr>
          <a:xfrm>
            <a:off x="7178040" y="475488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Text 70"/>
          <p:cNvSpPr/>
          <p:nvPr/>
        </p:nvSpPr>
        <p:spPr>
          <a:xfrm>
            <a:off x="7315200" y="48463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produits  ·  Top 5</a:t>
            </a:r>
            <a:endParaRPr lang="en-US" sz="10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5120640"/>
          <a:ext cx="470916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15 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616k€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MacBook Air M3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Ordinateurs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538k€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S24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389k€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iPad 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314k€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Pavilion 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Ordinateurs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252k€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1929384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929384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659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9659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Valeur  ·  janv — déc 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201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9536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9828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0120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195560" y="201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1955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955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527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527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1099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099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5671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5671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65960" y="10515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33375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2103120" y="1170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actifs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13898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2103120" y="1901952"/>
            <a:ext cx="3063240" cy="201168"/>
          </a:xfrm>
          <a:prstGeom prst="roundRect">
            <a:avLst>
              <a:gd name="adj" fmla="val 36364"/>
            </a:avLst>
          </a:prstGeom>
          <a:solidFill>
            <a:srgbClr val="2A2A2A"/>
          </a:solidFill>
          <a:ln/>
        </p:spPr>
      </p:sp>
      <p:sp>
        <p:nvSpPr>
          <p:cNvPr id="48" name="Text 46"/>
          <p:cNvSpPr/>
          <p:nvPr/>
        </p:nvSpPr>
        <p:spPr>
          <a:xfrm>
            <a:off x="2103120" y="19019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+0,0%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22392" y="10515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22392" y="1051560"/>
            <a:ext cx="33375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5559552" y="1170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moy / client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59552" y="13898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1 305€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5559552" y="1901952"/>
            <a:ext cx="3063240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54" name="Text 52"/>
          <p:cNvSpPr/>
          <p:nvPr/>
        </p:nvSpPr>
        <p:spPr>
          <a:xfrm>
            <a:off x="5559552" y="19019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-54,3%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878824" y="10515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878824" y="1051560"/>
            <a:ext cx="33375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9015984" y="1170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moy / client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015984" y="13898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9015984" y="1901952"/>
            <a:ext cx="3063240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60" name="Text 58"/>
          <p:cNvSpPr/>
          <p:nvPr/>
        </p:nvSpPr>
        <p:spPr>
          <a:xfrm>
            <a:off x="9015984" y="19019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-52,8%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965960" y="23317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10312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segment client (K€)</a:t>
            </a:r>
            <a:endParaRPr lang="en-US" sz="1000" dirty="0"/>
          </a:p>
        </p:txBody>
      </p:sp>
      <p:graphicFrame>
        <p:nvGraphicFramePr>
          <p:cNvPr id="63" name="Chart 0"/>
          <p:cNvGraphicFramePr/>
          <p:nvPr/>
        </p:nvGraphicFramePr>
        <p:xfrm>
          <a:off x="2057400" y="2697480"/>
          <a:ext cx="31089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4" name="Shape 61"/>
          <p:cNvSpPr/>
          <p:nvPr/>
        </p:nvSpPr>
        <p:spPr>
          <a:xfrm>
            <a:off x="5349240" y="23317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548640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par segment</a:t>
            </a:r>
            <a:endParaRPr lang="en-US" sz="100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440680" y="2697480"/>
          <a:ext cx="31089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7" name="Shape 63"/>
          <p:cNvSpPr/>
          <p:nvPr/>
        </p:nvSpPr>
        <p:spPr>
          <a:xfrm>
            <a:off x="8732520" y="233172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Text 64"/>
          <p:cNvSpPr/>
          <p:nvPr/>
        </p:nvSpPr>
        <p:spPr>
          <a:xfrm>
            <a:off x="8869680" y="24231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Clients RFM</a:t>
            </a:r>
            <a:endParaRPr lang="en-US" sz="1000" dirty="0"/>
          </a:p>
        </p:txBody>
      </p:sp>
      <p:graphicFrame>
        <p:nvGraphicFramePr>
          <p:cNvPr id="69" name="Chart 2"/>
          <p:cNvGraphicFramePr/>
          <p:nvPr/>
        </p:nvGraphicFramePr>
        <p:xfrm>
          <a:off x="8823960" y="2651760"/>
          <a:ext cx="32918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0" name="Shape 65"/>
          <p:cNvSpPr/>
          <p:nvPr/>
        </p:nvSpPr>
        <p:spPr>
          <a:xfrm>
            <a:off x="1965960" y="461772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1" name="Text 66"/>
          <p:cNvSpPr/>
          <p:nvPr/>
        </p:nvSpPr>
        <p:spPr>
          <a:xfrm>
            <a:off x="2103120" y="4709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segment RFM (K€)</a:t>
            </a:r>
            <a:endParaRPr lang="en-US" sz="1000" dirty="0"/>
          </a:p>
        </p:txBody>
      </p:sp>
      <p:graphicFrame>
        <p:nvGraphicFramePr>
          <p:cNvPr id="72" name="Chart 3"/>
          <p:cNvGraphicFramePr/>
          <p:nvPr/>
        </p:nvGraphicFramePr>
        <p:xfrm>
          <a:off x="2103120" y="4983480"/>
          <a:ext cx="47548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3" name="Shape 67"/>
          <p:cNvSpPr/>
          <p:nvPr/>
        </p:nvSpPr>
        <p:spPr>
          <a:xfrm>
            <a:off x="7178040" y="4617720"/>
            <a:ext cx="498348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Text 68"/>
          <p:cNvSpPr/>
          <p:nvPr/>
        </p:nvSpPr>
        <p:spPr>
          <a:xfrm>
            <a:off x="7315200" y="470916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clients</a:t>
            </a:r>
            <a:endParaRPr lang="en-US" sz="10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5074920"/>
          <a:ext cx="4709160" cy="148132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Client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Cmd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CUS01242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6 460€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CUS02509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5 691€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CUS00043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4 935€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CUS02307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4 499€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CUS01876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3 980€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2414016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14016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659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9659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tunnel d'achat  ·  janv — déc 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201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9536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9828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0120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195560" y="201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1955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955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527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527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1099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099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5671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5671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65960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2103120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totales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1,1k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2103120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48" name="Text 46"/>
          <p:cNvSpPr/>
          <p:nvPr/>
        </p:nvSpPr>
        <p:spPr>
          <a:xfrm>
            <a:off x="2103120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-52,0%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2856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62856" y="1051560"/>
            <a:ext cx="250545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700016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Ajouts panier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0016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700016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54" name="Text 52"/>
          <p:cNvSpPr/>
          <p:nvPr/>
        </p:nvSpPr>
        <p:spPr>
          <a:xfrm>
            <a:off x="4700016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-46,7%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59752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59752" y="1051560"/>
            <a:ext cx="250545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7296912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96912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7296912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60" name="Text 58"/>
          <p:cNvSpPr/>
          <p:nvPr/>
        </p:nvSpPr>
        <p:spPr>
          <a:xfrm>
            <a:off x="7296912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-41,2%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756648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756648" y="1051560"/>
            <a:ext cx="2505456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9893808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893808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9,4%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9893808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0F3D2D"/>
          </a:solidFill>
          <a:ln/>
        </p:spPr>
      </p:sp>
      <p:sp>
        <p:nvSpPr>
          <p:cNvPr id="66" name="Text 64"/>
          <p:cNvSpPr/>
          <p:nvPr/>
        </p:nvSpPr>
        <p:spPr>
          <a:xfrm>
            <a:off x="9893808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+1,7pp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965960" y="233172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103120" y="2423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d'achat  ·  View → Cart → Purchase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103120" y="2743200"/>
            <a:ext cx="4663440" cy="45720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/>
        </p:spPr>
      </p:sp>
      <p:sp>
        <p:nvSpPr>
          <p:cNvPr id="70" name="Text 68"/>
          <p:cNvSpPr/>
          <p:nvPr/>
        </p:nvSpPr>
        <p:spPr>
          <a:xfrm>
            <a:off x="224028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103120" y="2743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1 059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606040" y="333756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panier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606040" y="3337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 ·  30,2%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063240" y="393192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76" name="Text 74"/>
          <p:cNvSpPr/>
          <p:nvPr/>
        </p:nvSpPr>
        <p:spPr>
          <a:xfrm>
            <a:off x="320040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306324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 ·  46,6%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337560" y="452628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79" name="Text 77"/>
          <p:cNvSpPr/>
          <p:nvPr/>
        </p:nvSpPr>
        <p:spPr>
          <a:xfrm>
            <a:off x="3474720" y="4526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confirmé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337560" y="4526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 ·  67,1%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103120" y="5303520"/>
            <a:ext cx="4754880" cy="1280160"/>
          </a:xfrm>
          <a:prstGeom prst="roundRect">
            <a:avLst>
              <a:gd name="adj" fmla="val 4286"/>
            </a:avLst>
          </a:prstGeom>
          <a:solidFill>
            <a:srgbClr val="3D1F2A"/>
          </a:solidFill>
          <a:ln/>
        </p:spPr>
      </p:sp>
      <p:sp>
        <p:nvSpPr>
          <p:cNvPr id="82" name="Shape 80"/>
          <p:cNvSpPr/>
          <p:nvPr/>
        </p:nvSpPr>
        <p:spPr>
          <a:xfrm>
            <a:off x="2103120" y="530352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3" name="Text 81"/>
          <p:cNvSpPr/>
          <p:nvPr/>
        </p:nvSpPr>
        <p:spPr>
          <a:xfrm>
            <a:off x="2286000" y="5413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Point de friction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2286000" y="57150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majeure entre Vues et Panier — 69,8% d'abandons. Priorité sur l'expérience fiche produit / call-to-action panier.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178040" y="2331720"/>
            <a:ext cx="498348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7315200" y="242316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par source</a:t>
            </a:r>
            <a:endParaRPr lang="en-US" sz="1000" dirty="0"/>
          </a:p>
        </p:txBody>
      </p:sp>
      <p:graphicFrame>
        <p:nvGraphicFramePr>
          <p:cNvPr id="87" name="Chart 0"/>
          <p:cNvGraphicFramePr/>
          <p:nvPr/>
        </p:nvGraphicFramePr>
        <p:xfrm>
          <a:off x="7315200" y="2697480"/>
          <a:ext cx="47091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8" name="Shape 85"/>
          <p:cNvSpPr/>
          <p:nvPr/>
        </p:nvSpPr>
        <p:spPr>
          <a:xfrm>
            <a:off x="7178040" y="457200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9" name="Text 86"/>
          <p:cNvSpPr/>
          <p:nvPr/>
        </p:nvSpPr>
        <p:spPr>
          <a:xfrm>
            <a:off x="7315200" y="466344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par device</a:t>
            </a:r>
            <a:endParaRPr lang="en-US" sz="1000" dirty="0"/>
          </a:p>
        </p:txBody>
      </p:sp>
      <p:graphicFrame>
        <p:nvGraphicFramePr>
          <p:cNvPr id="90" name="Chart 1"/>
          <p:cNvGraphicFramePr/>
          <p:nvPr/>
        </p:nvGraphicFramePr>
        <p:xfrm>
          <a:off x="7315200" y="4937760"/>
          <a:ext cx="47091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228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480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960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960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14447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19293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414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414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digital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2898648"/>
            <a:ext cx="1783080" cy="411480"/>
          </a:xfrm>
          <a:prstGeom prst="rect">
            <a:avLst/>
          </a:prstGeom>
          <a:solidFill>
            <a:srgbClr val="23283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898648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2898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6263640"/>
            <a:ext cx="1417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355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6596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client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9659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&amp; notes produits  ·  janv — déc 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201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9536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9828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01200" y="4114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195560" y="201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1955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955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527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527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1099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099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567160" y="411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567160" y="411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65960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965960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2103120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 ★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2103120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48" name="Text 46"/>
          <p:cNvSpPr/>
          <p:nvPr/>
        </p:nvSpPr>
        <p:spPr>
          <a:xfrm>
            <a:off x="2103120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-54%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2856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62856" y="1051560"/>
            <a:ext cx="250545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4700016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d'avis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0016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700016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54" name="Text 52"/>
          <p:cNvSpPr/>
          <p:nvPr/>
        </p:nvSpPr>
        <p:spPr>
          <a:xfrm>
            <a:off x="4700016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-54%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59752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59752" y="1051560"/>
            <a:ext cx="2505456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7296912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note &lt;3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96912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7296912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2A2A2A"/>
          </a:solidFill>
          <a:ln/>
        </p:spPr>
      </p:sp>
      <p:sp>
        <p:nvSpPr>
          <p:cNvPr id="60" name="Text 58"/>
          <p:cNvSpPr/>
          <p:nvPr/>
        </p:nvSpPr>
        <p:spPr>
          <a:xfrm>
            <a:off x="7296912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+0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756648" y="1051560"/>
            <a:ext cx="2505456" cy="1143000"/>
          </a:xfrm>
          <a:prstGeom prst="roundRect">
            <a:avLst>
              <a:gd name="adj" fmla="val 6400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756648" y="1051560"/>
            <a:ext cx="250545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9893808" y="1170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Avis positifs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893808" y="138988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9893808" y="1901952"/>
            <a:ext cx="2231136" cy="201168"/>
          </a:xfrm>
          <a:prstGeom prst="roundRect">
            <a:avLst>
              <a:gd name="adj" fmla="val 36364"/>
            </a:avLst>
          </a:prstGeom>
          <a:solidFill>
            <a:srgbClr val="3A1818"/>
          </a:solidFill>
          <a:ln/>
        </p:spPr>
      </p:sp>
      <p:sp>
        <p:nvSpPr>
          <p:cNvPr id="66" name="Text 64"/>
          <p:cNvSpPr/>
          <p:nvPr/>
        </p:nvSpPr>
        <p:spPr>
          <a:xfrm>
            <a:off x="9893808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-4pp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965960" y="233172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103120" y="2423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notes</a:t>
            </a:r>
            <a:endParaRPr lang="en-US" sz="1000" dirty="0"/>
          </a:p>
        </p:txBody>
      </p:sp>
      <p:graphicFrame>
        <p:nvGraphicFramePr>
          <p:cNvPr id="69" name="Chart 0"/>
          <p:cNvGraphicFramePr/>
          <p:nvPr/>
        </p:nvGraphicFramePr>
        <p:xfrm>
          <a:off x="2103120" y="2697480"/>
          <a:ext cx="47548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" name="Shape 67"/>
          <p:cNvSpPr/>
          <p:nvPr/>
        </p:nvSpPr>
        <p:spPr>
          <a:xfrm>
            <a:off x="1965960" y="45720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2103120" y="4663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mensuelle de la note</a:t>
            </a:r>
            <a:endParaRPr lang="en-US" sz="1000" dirty="0"/>
          </a:p>
        </p:txBody>
      </p:sp>
      <p:graphicFrame>
        <p:nvGraphicFramePr>
          <p:cNvPr id="72" name="Chart 1"/>
          <p:cNvGraphicFramePr/>
          <p:nvPr/>
        </p:nvGraphicFramePr>
        <p:xfrm>
          <a:off x="2103120" y="4937760"/>
          <a:ext cx="47548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3" name="Shape 69"/>
          <p:cNvSpPr/>
          <p:nvPr/>
        </p:nvSpPr>
        <p:spPr>
          <a:xfrm>
            <a:off x="7178040" y="2331720"/>
            <a:ext cx="4983480" cy="2103120"/>
          </a:xfrm>
          <a:prstGeom prst="roundRect">
            <a:avLst>
              <a:gd name="adj" fmla="val 3478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Text 70"/>
          <p:cNvSpPr/>
          <p:nvPr/>
        </p:nvSpPr>
        <p:spPr>
          <a:xfrm>
            <a:off x="7315200" y="242316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avec notes les plus faibles</a:t>
            </a:r>
            <a:endParaRPr lang="en-US" sz="1000" dirty="0"/>
          </a:p>
        </p:txBody>
      </p:sp>
      <p:graphicFrame>
        <p:nvGraphicFramePr>
          <p:cNvPr id="75" name="Chart 2"/>
          <p:cNvGraphicFramePr/>
          <p:nvPr/>
        </p:nvGraphicFramePr>
        <p:xfrm>
          <a:off x="7315200" y="2697480"/>
          <a:ext cx="47091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6" name="Shape 71"/>
          <p:cNvSpPr/>
          <p:nvPr/>
        </p:nvSpPr>
        <p:spPr>
          <a:xfrm>
            <a:off x="7178040" y="457200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232836"/>
          </a:solidFill>
          <a:ln/>
          <a:effectLst>
            <a:outerShdw blurRad="1270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7" name="Text 72"/>
          <p:cNvSpPr/>
          <p:nvPr/>
        </p:nvSpPr>
        <p:spPr>
          <a:xfrm>
            <a:off x="7315200" y="466344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satisfaction par produit</a:t>
            </a:r>
            <a:endParaRPr lang="en-US" sz="10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5029200"/>
          <a:ext cx="4709160" cy="1371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Coque iPhone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Accessoires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4,1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Parfum Hugo Boss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4,2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+0,3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Sony WH-1000XM5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-0,2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Inspiron 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Ordinateurs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3,4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608</Words>
  <Application>Microsoft Office PowerPoint</Application>
  <PresentationFormat>Grand écran</PresentationFormat>
  <Paragraphs>301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 E-Commerce Analytics 360 - Power BI</dc:title>
  <dc:subject>PptxGenJS Presentation</dc:subject>
  <dc:creator>DataProjectLab</dc:creator>
  <cp:lastModifiedBy>soum youss</cp:lastModifiedBy>
  <cp:revision>2</cp:revision>
  <dcterms:created xsi:type="dcterms:W3CDTF">2026-05-01T15:49:50Z</dcterms:created>
  <dcterms:modified xsi:type="dcterms:W3CDTF">2026-05-01T17:36:06Z</dcterms:modified>
</cp:coreProperties>
</file>